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4b406cf1be473b" /><Relationship Type="http://schemas.openxmlformats.org/officeDocument/2006/relationships/extended-properties" Target="/docProps/app.xml" Id="Racaaaa8f702a42ab" /><Relationship Type="http://schemas.openxmlformats.org/officeDocument/2006/relationships/officeDocument" Target="/ppt/presentation.xml" Id="R0a2f809ad103449d" /></Relationships>
</file>

<file path=ppt/presentation.xml><?xml version="1.0" encoding="utf-8"?>
<p:presentation xmlns:p="http://schemas.openxmlformats.org/presentationml/2006/main">
  <p:sldMasterIdLst>
    <p:sldMasterId xmlns:r="http://schemas.openxmlformats.org/officeDocument/2006/relationships" id="2147483648" r:id="Rf857cf74c5d74b4b"/>
  </p:sldMasterIdLst>
  <p:notesMasterIdLst>
    <p:notesMasterId xmlns:r="http://schemas.openxmlformats.org/officeDocument/2006/relationships" r:id="R93e260e531474dea"/>
  </p:notesMasterIdLst>
  <p:sldIdLst>
    <p:sldId xmlns:r="http://schemas.openxmlformats.org/officeDocument/2006/relationships" id="256" r:id="Rd22236b4f7754b17"/>
    <p:sldId xmlns:r="http://schemas.openxmlformats.org/officeDocument/2006/relationships" id="257" r:id="Ref893c12bd0c4f02"/>
    <p:sldId xmlns:r="http://schemas.openxmlformats.org/officeDocument/2006/relationships" id="258" r:id="R2ec7b6603a224364"/>
    <p:sldId xmlns:r="http://schemas.openxmlformats.org/officeDocument/2006/relationships" id="259" r:id="R38d4939f68944eda"/>
    <p:sldId xmlns:r="http://schemas.openxmlformats.org/officeDocument/2006/relationships" id="260" r:id="Rb1731b5f1e0f4fce"/>
    <p:sldId xmlns:r="http://schemas.openxmlformats.org/officeDocument/2006/relationships" id="261" r:id="R0ad7b092c7204171"/>
    <p:sldId xmlns:r="http://schemas.openxmlformats.org/officeDocument/2006/relationships" id="262" r:id="Rdf0e1ecc9a9d4ac9"/>
    <p:sldId xmlns:r="http://schemas.openxmlformats.org/officeDocument/2006/relationships" id="263" r:id="Re36629355c25444b"/>
    <p:sldId xmlns:r="http://schemas.openxmlformats.org/officeDocument/2006/relationships" id="264" r:id="R1da771dee9de4a89"/>
    <p:sldId xmlns:r="http://schemas.openxmlformats.org/officeDocument/2006/relationships" id="265" r:id="R9fdac2d462b749c6"/>
    <p:sldId xmlns:r="http://schemas.openxmlformats.org/officeDocument/2006/relationships" id="266" r:id="R4ff055910c4d43e3"/>
    <p:sldId xmlns:r="http://schemas.openxmlformats.org/officeDocument/2006/relationships" id="267" r:id="R96af3079dae64101"/>
    <p:sldId xmlns:r="http://schemas.openxmlformats.org/officeDocument/2006/relationships" id="268" r:id="R96772192f43046b4"/>
    <p:sldId xmlns:r="http://schemas.openxmlformats.org/officeDocument/2006/relationships" id="269" r:id="R17c5b0e6660941ed"/>
    <p:sldId xmlns:r="http://schemas.openxmlformats.org/officeDocument/2006/relationships" id="270" r:id="R0cad5019be1946eb"/>
    <p:sldId xmlns:r="http://schemas.openxmlformats.org/officeDocument/2006/relationships" id="271" r:id="R669b5065dddd48ee"/>
    <p:sldId xmlns:r="http://schemas.openxmlformats.org/officeDocument/2006/relationships" id="272" r:id="R1a4066344add495a"/>
    <p:sldId xmlns:r="http://schemas.openxmlformats.org/officeDocument/2006/relationships" id="273" r:id="Rcfad2b68a5784611"/>
    <p:sldId xmlns:r="http://schemas.openxmlformats.org/officeDocument/2006/relationships" id="274" r:id="Re97bf30e96bc45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2af15a03e64f0f" /><Relationship Type="http://schemas.openxmlformats.org/officeDocument/2006/relationships/slideMaster" Target="/ppt/slideMasters/slideMaster1.xml" Id="Rf857cf74c5d74b4b" /><Relationship Type="http://schemas.openxmlformats.org/officeDocument/2006/relationships/notesMaster" Target="/ppt/notesMasters/notesMaster1.xml" Id="R93e260e531474dea" /><Relationship Type="http://schemas.openxmlformats.org/officeDocument/2006/relationships/presProps" Target="/ppt/presProps.xml" Id="R67c9d7254d984b47" /><Relationship Type="http://schemas.openxmlformats.org/officeDocument/2006/relationships/tableStyles" Target="/ppt/tableStyles.xml" Id="R1b7959f662174678" /><Relationship Type="http://schemas.openxmlformats.org/officeDocument/2006/relationships/slide" Target="/ppt/slides/slide1.xml" Id="Rd22236b4f7754b17" /><Relationship Type="http://schemas.openxmlformats.org/officeDocument/2006/relationships/slide" Target="/ppt/slides/slide2.xml" Id="Ref893c12bd0c4f02" /><Relationship Type="http://schemas.openxmlformats.org/officeDocument/2006/relationships/slide" Target="/ppt/slides/slide3.xml" Id="R2ec7b6603a224364" /><Relationship Type="http://schemas.openxmlformats.org/officeDocument/2006/relationships/slide" Target="/ppt/slides/slide4.xml" Id="R38d4939f68944eda" /><Relationship Type="http://schemas.openxmlformats.org/officeDocument/2006/relationships/slide" Target="/ppt/slides/slide5.xml" Id="Rb1731b5f1e0f4fce" /><Relationship Type="http://schemas.openxmlformats.org/officeDocument/2006/relationships/slide" Target="/ppt/slides/slide6.xml" Id="R0ad7b092c7204171" /><Relationship Type="http://schemas.openxmlformats.org/officeDocument/2006/relationships/slide" Target="/ppt/slides/slide7.xml" Id="Rdf0e1ecc9a9d4ac9" /><Relationship Type="http://schemas.openxmlformats.org/officeDocument/2006/relationships/slide" Target="/ppt/slides/slide8.xml" Id="Re36629355c25444b" /><Relationship Type="http://schemas.openxmlformats.org/officeDocument/2006/relationships/slide" Target="/ppt/slides/slide9.xml" Id="R1da771dee9de4a89" /><Relationship Type="http://schemas.openxmlformats.org/officeDocument/2006/relationships/slide" Target="/ppt/slides/slide10.xml" Id="R9fdac2d462b749c6" /><Relationship Type="http://schemas.openxmlformats.org/officeDocument/2006/relationships/slide" Target="/ppt/slides/slide11.xml" Id="R4ff055910c4d43e3" /><Relationship Type="http://schemas.openxmlformats.org/officeDocument/2006/relationships/slide" Target="/ppt/slides/slide12.xml" Id="R96af3079dae64101" /><Relationship Type="http://schemas.openxmlformats.org/officeDocument/2006/relationships/slide" Target="/ppt/slides/slide13.xml" Id="R96772192f43046b4" /><Relationship Type="http://schemas.openxmlformats.org/officeDocument/2006/relationships/slide" Target="/ppt/slides/slide14.xml" Id="R17c5b0e6660941ed" /><Relationship Type="http://schemas.openxmlformats.org/officeDocument/2006/relationships/slide" Target="/ppt/slides/slide15.xml" Id="R0cad5019be1946eb" /><Relationship Type="http://schemas.openxmlformats.org/officeDocument/2006/relationships/slide" Target="/ppt/slides/slide16.xml" Id="R669b5065dddd48ee" /><Relationship Type="http://schemas.openxmlformats.org/officeDocument/2006/relationships/slide" Target="/ppt/slides/slide17.xml" Id="R1a4066344add495a" /><Relationship Type="http://schemas.openxmlformats.org/officeDocument/2006/relationships/slide" Target="/ppt/slides/slide18.xml" Id="Rcfad2b68a5784611" /><Relationship Type="http://schemas.openxmlformats.org/officeDocument/2006/relationships/slide" Target="/ppt/slides/slide19.xml" Id="Re97bf30e96bc45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0deb7e9c9c4a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fe147d6e28424d" /><Relationship Type="http://schemas.openxmlformats.org/officeDocument/2006/relationships/notesMaster" Target="/ppt/notesMasters/notesMaster1.xml" Id="Rb409c9bbc8284f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01cea4b8a34aa1" /><Relationship Type="http://schemas.openxmlformats.org/officeDocument/2006/relationships/notesMaster" Target="/ppt/notesMasters/notesMaster1.xml" Id="R31733611011448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f78786f9fe43f6" /><Relationship Type="http://schemas.openxmlformats.org/officeDocument/2006/relationships/notesMaster" Target="/ppt/notesMasters/notesMaster1.xml" Id="R93356597393a40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60ce9678af4318" /><Relationship Type="http://schemas.openxmlformats.org/officeDocument/2006/relationships/notesMaster" Target="/ppt/notesMasters/notesMaster1.xml" Id="Rdd3de7c802504a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7b7d02be574233" /><Relationship Type="http://schemas.openxmlformats.org/officeDocument/2006/relationships/notesMaster" Target="/ppt/notesMasters/notesMaster1.xml" Id="Rfe14d6c696c44e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03644c94074c02" /><Relationship Type="http://schemas.openxmlformats.org/officeDocument/2006/relationships/notesMaster" Target="/ppt/notesMasters/notesMaster1.xml" Id="R6cd0739fc32543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403673f43549cd" /><Relationship Type="http://schemas.openxmlformats.org/officeDocument/2006/relationships/notesMaster" Target="/ppt/notesMasters/notesMaster1.xml" Id="R1543e1f625c442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23ac66a9f94ec8" /><Relationship Type="http://schemas.openxmlformats.org/officeDocument/2006/relationships/notesMaster" Target="/ppt/notesMasters/notesMaster1.xml" Id="Red3f6297bf4544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4e78476d57482b" /><Relationship Type="http://schemas.openxmlformats.org/officeDocument/2006/relationships/notesMaster" Target="/ppt/notesMasters/notesMaster1.xml" Id="Rbaa563c5a65843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13ab4c18e348a8" /><Relationship Type="http://schemas.openxmlformats.org/officeDocument/2006/relationships/notesMaster" Target="/ppt/notesMasters/notesMaster1.xml" Id="Rb3353e0bc9f244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f38a4338fd42e1" /><Relationship Type="http://schemas.openxmlformats.org/officeDocument/2006/relationships/notesMaster" Target="/ppt/notesMasters/notesMaster1.xml" Id="Rd3b2bb54b32e42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52f596b5834f8e" /><Relationship Type="http://schemas.openxmlformats.org/officeDocument/2006/relationships/notesMaster" Target="/ppt/notesMasters/notesMaster1.xml" Id="R6535d851ba0b45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ded87dc8104c26" /><Relationship Type="http://schemas.openxmlformats.org/officeDocument/2006/relationships/notesMaster" Target="/ppt/notesMasters/notesMaster1.xml" Id="Re1b1bbeb71a643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63f7c1a7f94358" /><Relationship Type="http://schemas.openxmlformats.org/officeDocument/2006/relationships/notesMaster" Target="/ppt/notesMasters/notesMaster1.xml" Id="R37a44477a1df4a1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c6eedd91eb4e9b" /><Relationship Type="http://schemas.openxmlformats.org/officeDocument/2006/relationships/notesMaster" Target="/ppt/notesMasters/notesMaster1.xml" Id="Rbdb4f9488bdb4a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631f6f8c584e56" /><Relationship Type="http://schemas.openxmlformats.org/officeDocument/2006/relationships/notesMaster" Target="/ppt/notesMasters/notesMaster1.xml" Id="Rcae167ffb5cb45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6d6de7c5444ace" /><Relationship Type="http://schemas.openxmlformats.org/officeDocument/2006/relationships/notesMaster" Target="/ppt/notesMasters/notesMaster1.xml" Id="R62222149d7064e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105da99317248f1" /><Relationship Type="http://schemas.openxmlformats.org/officeDocument/2006/relationships/notesMaster" Target="/ppt/notesMasters/notesMaster1.xml" Id="R837865b14f5d40d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3c8c9bd46b476f" /><Relationship Type="http://schemas.openxmlformats.org/officeDocument/2006/relationships/notesMaster" Target="/ppt/notesMasters/notesMaster1.xml" Id="Rc035c2b597f74b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0:40. Начало: 0:00.</a:t>
            </a:r>
          </a:p>
          <a:p xmlns:a="http://schemas.openxmlformats.org/drawingml/2006/main">
            <a:r>
              <a:t/>
            </a:r>
          </a:p>
          <a:p xmlns:a="http://schemas.openxmlformats.org/drawingml/2006/main">
            <a:r>
              <a:t>Елена Валерьевна, мы хотим обсудить экспериментальное исследование решений внутри языкового агента. Нас интересует, когда отдельное решение можно поручить компактной модели и что это меняет для всей системы. Мы предлагаем согласовать исследовательский вопрос, математическую постановку и небольшой первый эксперимент. Сейчас у нас подготовлена документация и обзор источников. Работающего агента и собственных измерений ещё нет. Дальше я покажу предмет работы, отличие от соседнего ресторанного проекта, математическое содержание и границы результата, который мы сможем предъявить к защите.</a:t>
            </a:r>
          </a:p>
          <a:p xmlns:a="http://schemas.openxmlformats.org/drawingml/2006/main">
            <a:r>
              <a:t/>
            </a:r>
          </a:p>
          <a:p xmlns:a="http://schemas.openxmlformats.org/drawingml/2006/main">
            <a:r>
              <a:t>Источники:</a:t>
            </a:r>
          </a:p>
          <a:p xmlns:a="http://schemas.openxmlformats.org/drawingml/2006/main">
            <a:r>
              <a:t>/Users/nikitapasinin/.codex/worktrees/0ad2/diplom/docs/README.md</a:t>
            </a:r>
          </a:p>
          <a:p xmlns:a="http://schemas.openxmlformats.org/drawingml/2006/main">
            <a:r>
              <a:t>/Users/nikitapasinin/.codex/worktrees/0ad2/diplom/docs/research.md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1:00. Начало: 0:40.</a:t>
            </a:r>
          </a:p>
          <a:p xmlns:a="http://schemas.openxmlformats.org/drawingml/2006/main">
            <a:r>
              <a:t/>
            </a:r>
          </a:p>
          <a:p xmlns:a="http://schemas.openxmlformats.org/drawingml/2006/main">
            <a:r>
              <a:t>Обязательный результат мы ограничиваем формальной постановкой, агентом, системой измерений и контролируемым сравнением. Эти границы согласованы внутри проекта с инициатором, но я не представляю их как уже утверждённое Вами задание. Выбранное прикладное направление касается сервисных обращений по базе знаний с выполнением операций. Конкретный домен, заменяемый узел и окончательный протокол ещё открыты. Мы предлагаем сначала построить небольшой исходный агент и понять, какой узел действительно влияет на ошибки и расходы. Новая архитектура, дообучение и статьи могут появиться по результатам, но мы не делаем их обязательными условиями завершения ВКР. Это позволяет заранее отделить проверяемый минимум от расширений и не зависеть от обещания, что определённая модель обязательно окажется лучше.</a:t>
            </a:r>
          </a:p>
          <a:p xmlns:a="http://schemas.openxmlformats.org/drawingml/2006/main">
            <a:r>
              <a:t/>
            </a:r>
          </a:p>
          <a:p xmlns:a="http://schemas.openxmlformats.org/drawingml/2006/main">
            <a:r>
              <a:t>Источники:</a:t>
            </a:r>
          </a:p>
          <a:p xmlns:a="http://schemas.openxmlformats.org/drawingml/2006/main">
            <a:r>
              <a:t>/Users/nikitapasinin/.codex/worktrees/0ad2/diplom/docs/research-overview.md</a:t>
            </a:r>
          </a:p>
          <a:p xmlns:a="http://schemas.openxmlformats.org/drawingml/2006/main">
            <a:r>
              <a:t>/Users/nikitapasinin/.codex/worktrees/0ad2/diplom/docs/research.md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1:10. Начало: 1:40.</a:t>
            </a:r>
          </a:p>
          <a:p xmlns:a="http://schemas.openxmlformats.org/drawingml/2006/main">
            <a:r>
              <a:t/>
            </a:r>
          </a:p>
          <a:p xmlns:a="http://schemas.openxmlformats.org/drawingml/2006/main">
            <a:r>
              <a:t>Здесь учебный пример, а не задача, которую мы уже запустили. Пользователь сообщает о двух похожих списаниях. Агенту недостаточно написать правдоподобный ответ: он должен выяснить обстоятельства, найти регламент, проверить допустимость действия и выполнить операцию через инструмент. Конкретное действие зависит от правил выбранного стенда. В таком процессе возникают узкие решения: какой документ релевантен, каких данных не хватает, какой инструмент нужен, когда следует передать обращение. Мы не собираемся сразу заменять весь диалог компактной моделью. Полноценная языковая модель может продолжать общаться и формировать ответы. Предмет исследования заключается в том, каким способом принимать одно из промежуточных решений. Это даёт наблюдаемый результат: правильное или неправильное изменение состояния, дополнительные шаги, расходы и время. При этом локально правильный выбор ещё не гарантирует успешного завершения всего обращения.</a:t>
            </a:r>
          </a:p>
          <a:p xmlns:a="http://schemas.openxmlformats.org/drawingml/2006/main">
            <a:r>
              <a:t/>
            </a:r>
          </a:p>
          <a:p xmlns:a="http://schemas.openxmlformats.org/drawingml/2006/main">
            <a:r>
              <a:t>Источники:</a:t>
            </a:r>
          </a:p>
          <a:p xmlns:a="http://schemas.openxmlformats.org/drawingml/2006/main">
            <a:r>
              <a:t>/Users/nikitapasinin/.codex/worktrees/0ad2/diplom/docs/research.md</a:t>
            </a:r>
          </a:p>
          <a:p xmlns:a="http://schemas.openxmlformats.org/drawingml/2006/main">
            <a:r>
              <a:t>/Users/nikitapasinin/.codex/worktrees/0ad2/diplom/docs/tau-bench-review.md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1:20. Начало: 2:50.</a:t>
            </a:r>
          </a:p>
          <a:p xmlns:a="http://schemas.openxmlformats.org/drawingml/2006/main">
            <a:r>
              <a:t/>
            </a:r>
          </a:p>
          <a:p xmlns:a="http://schemas.openxmlformats.org/drawingml/2006/main">
            <a:r>
              <a:t>Первый зафиксированный вопрос касается пересечения с ресторанной рекомендательной системой. По имеющемуся описанию тот проект подбирает блюда через диалог, учитывая предпочтения, ограничения и бюджет посетителя. Наш предмет находится на другом уровне: мы исследуем вычислительное решение внутри фиксированного процесса агента. Например, сравниваем способы отбора документов при одинаковом поиске и одинаковой модели, которая отвечает пользователю. Прикладная область помогает проверить гипотезу, но сама по себе не служит научным результатом. Результатом должно стать описание условий, при которых конкретный способ решения улучшает или ухудшает качество и расходы. Вместе с тем мы не утверждаем, что любое пересечение исключено. У нас нет полной постановки соседней работы, её алгоритмов и протокола. Поэтому предлагаем сопоставить две темы вместе с Вами и закрепить различие в заданиях. Другой домен сам по себе ещё не доказывает самостоятельность научной задачи.</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/Users/nikitapasinin/.codex/worktrees/0ad2/diplom/docs/research.md#отличие-от-ресторанного-проекта</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4:10.</a:t>
            </a:r>
          </a:p>
          <a:p xmlns:a="http://schemas.openxmlformats.org/drawingml/2006/main">
            <a:r>
              <a:t/>
            </a:r>
          </a:p>
          <a:p xmlns:a="http://schemas.openxmlformats.org/drawingml/2006/main">
            <a:r>
              <a:t>Под моделями типизированных вероятностных решений мы понимаем модели, которые получают описание состояния и вопрос с заранее определённым пространством ответов. Программа получает выбранный вариант и вероятности, которые можно использовать в политике принятия решений. Это рабочее операциональное определение System One из документации TypeSafe. Мы не предполагаем одинаковую архитектуру у всех кандидатов. В качестве моделей рассматриваются открытые KEV и Laya, а Jev доступен через API. При этом обычная LLM со структурированным выходом также может быть полноценным участником сравнения. Нам важно проверить полезность метода, а не доказать преимущество названия семейства. Типизированный ответ упрощает интеграцию, но не обеспечивает правильность содержания. Аналогично высокая вероятность не равна проверенной точности на нашей задаче. Поэтому отдельно рассматриваем качество решения, калибровку и то, как программа использует этот выход в полном агенте.</a:t>
            </a:r>
          </a:p>
          <a:p xmlns:a="http://schemas.openxmlformats.org/drawingml/2006/main">
            <a:r>
              <a:t/>
            </a:r>
          </a:p>
          <a:p xmlns:a="http://schemas.openxmlformats.org/drawingml/2006/main">
            <a:r>
              <a:t>Источники:</a:t>
            </a:r>
          </a:p>
          <a:p xmlns:a="http://schemas.openxmlformats.org/drawingml/2006/main">
            <a:r>
              <a:t>/Users/nikitapasinin/.codex/worktrees/0ad2/diplom/docs/research.md#термины-и-кандидаты-моделей</a:t>
            </a:r>
          </a:p>
          <a:p xmlns:a="http://schemas.openxmlformats.org/drawingml/2006/main">
            <a:r>
              <a:t>https://docs.typesafe.ai/concepts/system-one</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5:15.</a:t>
            </a:r>
          </a:p>
          <a:p xmlns:a="http://schemas.openxmlformats.org/drawingml/2006/main">
            <a:r>
              <a:t/>
            </a:r>
          </a:p>
          <a:p xmlns:a="http://schemas.openxmlformats.org/drawingml/2006/main">
            <a:r>
              <a:t>Чтобы получить интерпретируемый эксперимент, мы сначала фиксируем окружение агента и заменяем один узел. Если одновременно изменить модель диалога, поиск, правила маршрутизации и промпты, будет сложно определить причину разницы. Кандидатами на первый узел являются маршрутизация и отбор контекста для генерации с поиском, то есть RAG. Выбор сделаем после небольшого пилота исходного агента: посмотрим, где накапливаются ошибки, вызовы и задержка. Во всех вариантах узла сохраняем одинаковый доступ к наблюдаемому состоянию и сопоставимый бюджет настройки. Если исследуем ранжирование документов, исходный набор найденных кандидатов и объём передаваемого контекста также фиксируем. Сначала оценим решения отдельно, чтобы отсеять неподходящие варианты, затем проверим итог на полном выполнении обращений. Улучшение ранжирования или классификации полезно лишь в той мере, в какой оно меняет результат всей системы.</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/Users/nikitapasinin/.codex/worktrees/0ad2/diplom/docs/research.md#основа-протокола-оценки</a:t>
            </a:r>
          </a:p>
          <a:p xmlns:a="http://schemas.openxmlformats.org/drawingml/2006/main">
            <a:r>
              <a:t>/Users/nikitapasinin/.codex/worktrees/0ad2/diplom/docs/tau-bench-review.md#рекомендация-и-следующий-этап</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1:40. Начало: 6:20.</a:t>
            </a:r>
          </a:p>
          <a:p xmlns:a="http://schemas.openxmlformats.org/drawingml/2006/main">
            <a:r>
              <a:t/>
            </a:r>
          </a:p>
          <a:p xmlns:a="http://schemas.openxmlformats.org/drawingml/2006/main">
            <a:r>
              <a:t>Второй зафиксированный вопрос касается математического содержания. Предлагаемый объект исследования — политика выбора способа решения. Для задачи x политика определяет, когда использовать дешёвый метод, а когда языковую модель или передачу решения. C обозначает полную стоимость выполнения задачи, L — потерю качества, а π₀ — исходную политику агента. Мы предлагаем минимизировать ожидаемую стоимость при ограничении на ухудшение качества относительно исходного варианта. ε задаёт допустимое ухудшение, но сейчас его значение не установлено. Для бинарного успеха можно предложить потерю как единицу минус индикатор успешного завершения, если такая проверка подходит выбранному домену. Это каркас для согласования, а не доказанная теорема и не готовый экспериментальный протокол. Содержательная работа заключается в определении пространства решений, цены ошибок, пороговой политики и способа статистически проверить ограничение. Задержку оцениваем отдельно. Ограничение по задержке добавим, если оно необходимо для прикладной задачи. Выполнение ограничения будем обсуждать с учётом доверительных интервалов и объёма данных.</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/Users/nikitapasinin/.codex/worktrees/0ad2/diplom/docs/research.md#математическое-содержание--предложение</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1:15. Начало: 8:00.</a:t>
            </a:r>
          </a:p>
          <a:p xmlns:a="http://schemas.openxmlformats.org/drawingml/2006/main">
            <a:r>
              <a:t/>
            </a:r>
          </a:p>
          <a:p xmlns:a="http://schemas.openxmlformats.org/drawingml/2006/main">
            <a:r>
              <a:t>Простой пример математического объекта — пороговая политика передачи решения. Модель выдаёт вероятности вариантов. После необходимой калибровки программа может применить ответ, если оценка проходит порог, и передать решение в LLM в остальных случаях. Конкретная оценка и правило зависят от интерфейса модели и цены ошибки. Сначала надо проверить, что уверенность вообще помогает отделять более надёжные ответы от менее надёжных. Рост порога может уменьшить охват дешёвого метода, но повысить расходы на передачу. Поэтому исследуем кривую риск–охват и стоимость политики целиком. Порог выбираем вне итогового теста. Если для действия особенно важна одна категория ошибок, можно использовать отдельное ограничение на неё, заранее закрепив его в протоколе. Калибровка характеризует группы предсказаний и не гарантирует правильность отдельного ответа. Даже хорошие локальные показатели проверяем в полном процессе, где ошибка может изменить последующие состояния и вызвать повторы.</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/Users/nikitapasinin/.codex/worktrees/0ad2/diplom/docs/research.md#математическое-содержание--предложение</a:t>
            </a:r>
          </a:p>
          <a:p xmlns:a="http://schemas.openxmlformats.org/drawingml/2006/main">
            <a:r>
              <a:t>/Users/nikitapasinin/.codex/worktrees/0ad2/diplom/docs/research.md#метрики</a:t>
            </a:r>
          </a:p>
          <a:p xmlns:a="http://schemas.openxmlformats.org/drawingml/2006/main">
            <a:r>
              <a:t>https://docs.typesafe.ai/concepts/system-one</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9:15.</a:t>
            </a:r>
          </a:p>
          <a:p xmlns:a="http://schemas.openxmlformats.org/drawingml/2006/main">
            <a:r>
              <a:t/>
            </a:r>
          </a:p>
          <a:p xmlns:a="http://schemas.openxmlformats.org/drawingml/2006/main">
            <a:r>
              <a:t>Предлагаем рассмотреть banking_knowledge из семейства τ-bench как основной текстовый стенд. Он связывает поиск по базе знаний с выполнением операций, что соответствует выбранному направлению. Статья τ-knowledge описывает такой тип задач, а проектный обзор проверяет конкретную версию репозитория. Мы можем переиспользовать среду, симулятор пользователя и штатное оценивание вместо разработки собственного мира. Но у стенда есть ограничения. Банковские данные синтетические, поэтому результат не будет автоматически распространяться на реальную клиентскую поддержку. Также нельзя считать каждое промежуточное действие готовым размеченным примером. Эталоны относятся к задаче, а достигнутые агентом состояния могут отличаться. Разбиение для настройки и теста потребует явного списка задач и группировки похожих процессов. Более простой retail предлагается для отладки, а при достаточных ресурсах — проверки переноса. Конкретный домен окончательно выбираем после пилота и оценки его пригодности для выбранного узла.</a:t>
            </a:r>
          </a:p>
          <a:p xmlns:a="http://schemas.openxmlformats.org/drawingml/2006/main">
            <a:r>
              <a:t/>
            </a:r>
          </a:p>
          <a:p xmlns:a="http://schemas.openxmlformats.org/drawingml/2006/main">
            <a:r>
              <a:t>Источники:</a:t>
            </a:r>
          </a:p>
          <a:p xmlns:a="http://schemas.openxmlformats.org/drawingml/2006/main">
            <a:r>
              <a:t>/Users/nikitapasinin/.codex/worktrees/0ad2/diplom/docs/tau-bench-review.md</a:t>
            </a:r>
          </a:p>
          <a:p xmlns:a="http://schemas.openxmlformats.org/drawingml/2006/main">
            <a:r>
              <a:t>https://arxiv.org/abs/2603.04370v1</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1:00. Начало: 10:20.</a:t>
            </a:r>
          </a:p>
          <a:p xmlns:a="http://schemas.openxmlformats.org/drawingml/2006/main">
            <a:r>
              <a:t/>
            </a:r>
          </a:p>
          <a:p xmlns:a="http://schemas.openxmlformats.org/drawingml/2006/main">
            <a:r>
              <a:t>В сравнении обязательно сохраняем исходного агента. Второй обязательный участник — содержательная дешёвая альтернатива. Для маршрутизации это могут быть правила или простой обучаемый классификатор, а для отбора контекста — специализированный ранжировщик. Выбор зависит от узла. Затем добавляем одного перспективного кандидата KEV или Laya. Мы не предлагаем сразу полный перебор всех размеров во всех доменах. Если проводим калибровку или дообучение, выделяем их в отдельные условия. Иначе можно ошибочно назвать эффект дополнительной настройки преимуществом архитектуры. В протоколе фиксируем доступ к данным, настройку и ограничения входа для каждого метода. Хороший итог может показать, что специализированный дешёвый контроль уже решает задачу достаточно хорошо. Это не провал проекта: тогда мы получим границу применимости более универсального типизированного интерфейса. Важно, чтобы сравнение отвечало выбранному вопросу и не использовало заведомо слабую альтернативу лишь ради красивого преимущества.</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/Users/nikitapasinin/.codex/worktrees/0ad2/diplom/docs/research.md#основа-протокола-оценки</a:t>
            </a:r>
          </a:p>
          <a:p xmlns:a="http://schemas.openxmlformats.org/drawingml/2006/main">
            <a:r>
              <a:t>/Users/nikitapasinin/.codex/worktrees/0ad2/diplom/docs/model-research.md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1:15. Начало: 11:20.</a:t>
            </a:r>
          </a:p>
          <a:p xmlns:a="http://schemas.openxmlformats.org/drawingml/2006/main">
            <a:r>
              <a:t/>
            </a:r>
          </a:p>
          <a:p xmlns:a="http://schemas.openxmlformats.org/drawingml/2006/main">
            <a:r>
              <a:t>Главная опасность в данных — утечка между частями выборки. Один диалог может дать много промежуточных решений, но это не делает их независимыми задачами. Поэтому сначала делим исходные задачи и похожие семейства процессов, а уже потом извлекаем шаги для обучения и анализа. Повторы одного обращения сохраняем в той же части. На итоговом тесте не выбираем ни модель, ни порог, ни гиперпараметры. Сравниваем варианты на одинаковых задачах, сохраняем случайность и повторы, затем показываем неопределённость результата. Размер серии определяем по пилоту и требуемой точности, а не назначаем сейчас произвольное число. В адаптере исключаем доступ агента к скрытым целям, эталонным документам и референсным действиям. Для каждого прогона сохраняем версии кода, весов, данных, промптов, конфигурацию, оборудование и журнал вызовов. Это нужно, чтобы любой вывод можно было связать с конкретным воспроизводимым опытом и обнаруженные ошибки исправлять новым прогоном.</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/Users/nikitapasinin/.codex/worktrees/0ad2/diplom/docs/research.md#основа-протокола-оценки</a:t>
            </a:r>
          </a:p>
          <a:p xmlns:a="http://schemas.openxmlformats.org/drawingml/2006/main">
            <a:r>
              <a:t>/Users/nikitapasinin/.codex/worktrees/0ad2/diplom/docs/research.md#запись-эксперимента</a:t>
            </a:r>
          </a:p>
          <a:p xmlns:a="http://schemas.openxmlformats.org/drawingml/2006/main">
            <a:r>
              <a:t>/Users/nikitapasinin/.codex/worktrees/0ad2/diplom/docs/tau-bench-review.md#практические-ограничения</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12:35.</a:t>
            </a:r>
          </a:p>
          <a:p xmlns:a="http://schemas.openxmlformats.org/drawingml/2006/main">
            <a:r>
              <a:t/>
            </a:r>
          </a:p>
          <a:p xmlns:a="http://schemas.openxmlformats.org/drawingml/2006/main">
            <a:r>
              <a:t>Метрики разделяем по уровням. Для агента главный показатель — выполнение задачи по заранее определённой проверке и характер ошибок. Для узла выбираем подходящие метрики классификации или ранжирования и отдельно анализируем вероятности и долю передачи в LLM. Стоимость считаем полностью: неудачные и повторные вызовы, внутренние модели и fallback также входят в расходы. Для бинарного успеха стоимость одного успеха в серии равна всем затратам серии, разделённым на число успешных задач. Если успехов нет, показатель не определён: показываем ноль успехов и все расходы. Разовые затраты на разметку, настройку и обучение учитываем отдельно от исполнения, затем оцениваем возможную окупаемость. Локальную модель не называем бесплатной только из-за отсутствия API-счёта. Денежные расходы и оценку вычислительных затрат показываем раздельно. Задержку агента с инструментами отделяем от времени симулятора пользователя, фиксируем параллелизм и отличаем загрузку модели от прогретого режима.</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/Users/nikitapasinin/.codex/worktrees/0ad2/diplom/docs/research.md#метрики</a:t>
            </a:r>
          </a:p>
          <a:p xmlns:a="http://schemas.openxmlformats.org/drawingml/2006/main">
            <a:r>
              <a:t>/Users/nikitapasinin/.codex/worktrees/0ad2/diplom/docs/tau-bench-review.md#практические-ограничения</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13:40.</a:t>
            </a:r>
          </a:p>
          <a:p xmlns:a="http://schemas.openxmlformats.org/drawingml/2006/main">
            <a:r>
              <a:t/>
            </a:r>
          </a:p>
          <a:p xmlns:a="http://schemas.openxmlformats.org/drawingml/2006/main">
            <a:r>
              <a:t>Планируем общую платформу для трёх самостоятельных ВКР. Это предложение команды, а не утверждённое распределение по авторам. Общими могут быть исходный агент, данные и код измерений. Самостоятельность обеспечивают разные исследовательские вопросы, гипотезы, протоколы и выводы. Первое направление — политика маршрутизации вычислений. Второе — выбор контекста при ограничении на его объём. Третье пока рассматривает связи и пути в GraphRAG, но оно зависит от доступности графа, эталонов и результата пилота. Если такое направление окажется невыполнимым или слишком пересекающимся, его надо пересмотреть до назначения темы. Разделение на человека, который пишет код, человека, который запускает опыты, и человека, который пишет текст, не создаёт три самостоятельных исследования. Личный вклад фиксируем по постановке, данным, реализации, экспериментам и анализу. Участники и их руководители пока не закреплены, поэтому не предполагаем, что Вы будете руководить всеми тремя работами.</a:t>
            </a:r>
          </a:p>
          <a:p xmlns:a="http://schemas.openxmlformats.org/drawingml/2006/main">
            <a:r>
              <a:t/>
            </a:r>
          </a:p>
          <a:p xmlns:a="http://schemas.openxmlformats.org/drawingml/2006/main">
            <a:r>
              <a:t>Источники:</a:t>
            </a:r>
          </a:p>
          <a:p xmlns:a="http://schemas.openxmlformats.org/drawingml/2006/main">
            <a:r>
              <a:t>/Users/nikitapasinin/.codex/worktrees/0ad2/diplom/docs/team.md</a:t>
            </a:r>
          </a:p>
          <a:p xmlns:a="http://schemas.openxmlformats.org/drawingml/2006/main">
            <a:r>
              <a:t>/Users/nikitapasinin/.codex/worktrees/0ad2/diplom/docs/research.md#кандидаты-на-три-самостоятельных-исследования</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1:10. Начало: 14:45.</a:t>
            </a:r>
          </a:p>
          <a:p xmlns:a="http://schemas.openxmlformats.org/drawingml/2006/main">
            <a:r>
              <a:t/>
            </a:r>
          </a:p>
          <a:p xmlns:a="http://schemas.openxmlformats.org/drawingml/2006/main">
            <a:r>
              <a:t>Доступны MacBook M4 Pro с 24 гигабайтами общей памяти и до тридцати тысяч рублей на аренду GPU под конкретные прогоны. Платные API допустимы, но их лимит ещё не установлен. Эти ресурсы позволяют планировать пилот, однако работоспособность конкретных моделей на нашем оборудовании пока не проверена. Предлагаем последовательность с проверяемыми выходами: сначала исходный агент с журналом измерений, затем малый пилот для выбора узла, затем одно контролируемое сравнение. После этого принимаем решение о расширении. Проверяем не только размер весов, но и пиковую память, доступную длину входа, точность вычислений и время исполнения. Не будем заранее обещать длинный контекст или возможность обучения по одной карточке модели. Перед платной серией оценим длительность, расходы, лимит и условие остановки. Даты контрольных точек привяжем к календарю защиты после его уточнения. Защита намечена на 2027 год, но месяц и кафедральные сроки пока неизвестны.</a:t>
            </a:r>
          </a:p>
          <a:p xmlns:a="http://schemas.openxmlformats.org/drawingml/2006/main">
            <a:r>
              <a:t/>
            </a:r>
          </a:p>
          <a:p xmlns:a="http://schemas.openxmlformats.org/drawingml/2006/main">
            <a:r>
              <a:t>Источники:</a:t>
            </a:r>
          </a:p>
          <a:p xmlns:a="http://schemas.openxmlformats.org/drawingml/2006/main">
            <a:r>
              <a:t>/Users/nikitapasinin/.codex/worktrees/0ad2/diplom/docs/README.md</a:t>
            </a:r>
          </a:p>
          <a:p xmlns:a="http://schemas.openxmlformats.org/drawingml/2006/main">
            <a:r>
              <a:t>/Users/nikitapasinin/.codex/worktrees/0ad2/diplom/docs/model-research.md</a:t>
            </a:r>
          </a:p>
          <a:p xmlns:a="http://schemas.openxmlformats.org/drawingml/2006/main">
            <a:r>
              <a:t>/Users/nikitapasinin/.codex/worktrees/0ad2/diplom/docs/research.md</a:t>
            </a:r>
          </a:p>
          <a:p xmlns:a="http://schemas.openxmlformats.org/drawingml/2006/main">
            <a:r>
              <a:t>/Users/nikitapasinin/.codex/worktrees/0ad2/diplom/docs/vkr.md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1:10. Начало: 15:55.</a:t>
            </a:r>
          </a:p>
          <a:p xmlns:a="http://schemas.openxmlformats.org/drawingml/2006/main">
            <a:r>
              <a:t/>
            </a:r>
          </a:p>
          <a:p xmlns:a="http://schemas.openxmlformats.org/drawingml/2006/main">
            <a:r>
              <a:t>Мы заранее допускаем отсутствие преимущества KEV или Laya. Содержательный результат может заключаться в том, что дешёвый контроль выигрывает, передача в LLM съедает экономию или локальное улучшение узла не меняет успех агента. Для этого надо сохранить корректное сравнение и объяснить, где именно возникает ограничение. Внешние работы уже изучают точность, калибровку и выборочную автоматизацию System One. Например, в реестре есть препринт Liu о решениях безопасности. Поэтому сам факт применения этих моделей или метрик не объявляем новизной. Предлагаем уточнять вклад через конкретную сервисную задачу, заменяемый узел и последствия для полного агента при учёте затрат. Новизну и достаточность для ВКР нужно обсуждать по обзору и полученным результатам. Мы также отделяем результаты на синтетическом стенде от заявлений о реальной эксплуатации. Три статьи и дальнейшая научная работа остаются желательным заделом. Их наличие и сроки не становятся обещанным результатом бакалаврского проекта.</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/Users/nikitapasinin/.codex/worktrees/0ad2/diplom/docs/research.md#исходные-источники</a:t>
            </a:r>
          </a:p>
          <a:p xmlns:a="http://schemas.openxmlformats.org/drawingml/2006/main">
            <a:r>
              <a:t>/Users/nikitapasinin/.codex/worktrees/0ad2/diplom/docs/research-overview.md</a:t>
            </a:r>
          </a:p>
          <a:p xmlns:a="http://schemas.openxmlformats.org/drawingml/2006/main">
            <a:r>
              <a:t>https://arxiv.org/abs/2609.33401v1</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0:55. Начало: 17:05.</a:t>
            </a:r>
          </a:p>
          <a:p xmlns:a="http://schemas.openxmlformats.org/drawingml/2006/main">
            <a:r>
              <a:t/>
            </a:r>
          </a:p>
          <a:p xmlns:a="http://schemas.openxmlformats.org/drawingml/2006/main">
            <a:r>
              <a:t>На этой встрече предлагаем согласовать четыре вещи. Во-первых, исследовательский вопрос и границу с соседним ресторанным проектом. Во-вторых, подходит ли предложенная политика выбора метода как математический объект и какие элементы постановки нужно усилить. В-третьих, границы моей ВКР и личного вклада при использовании общей платформы. В-четвёртых, состав первого пилота и контрольные точки по кафедральному календарю. До итоговой серии вместе зафиксируем допустимое ухудшение качества, критерий сравнения и правила анализа. На ближайшем этапе я предлагаю предъявить работающий исходный агент, журнал измерений и протокол одного сравнения. После этого можно оценить выполнимость, уточнить тему и решить, какое расширение действительно оправдано. В резервных слайдах есть источники, ответы на дополнительные вопросы и ограничения моделей.</a:t>
            </a:r>
          </a:p>
          <a:p xmlns:a="http://schemas.openxmlformats.org/drawingml/2006/main">
            <a:r>
              <a:t/>
            </a:r>
          </a:p>
          <a:p xmlns:a="http://schemas.openxmlformats.org/drawingml/2006/main">
            <a:r>
              <a:t>Источники:</a:t>
            </a:r>
          </a:p>
          <a:p xmlns:a="http://schemas.openxmlformats.org/drawingml/2006/main">
            <a:r>
              <a:t>/Users/nikitapasinin/.codex/worktrees/0ad2/diplom/docs/README.md#ближайшие-задачи</a:t>
            </a:r>
          </a:p>
          <a:p xmlns:a="http://schemas.openxmlformats.org/drawingml/2006/main">
            <a:r>
              <a:t>/Users/nikitapasinin/.codex/worktrees/0ad2/diplom/docs/research.md</a:t>
            </a:r>
          </a:p>
          <a:p xmlns:a="http://schemas.openxmlformats.org/drawingml/2006/main">
            <a:r>
              <a:t>/Users/nikitapasinin/.codex/worktrees/0ad2/diplom/docs/team.md</a:t>
            </a:r>
          </a:p>
          <a:p xmlns:a="http://schemas.openxmlformats.org/drawingml/2006/main">
            <a:r>
              <a:t>/Users/nikitapasinin/.codex/worktrees/0ad2/diplom/docs/vkr.md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Этот слайд используется по вопросам. Ссылки в названиях источников активны. Версии препринтов указаны явно: мы используем те версии, на которые опирался реестр проекта, и не переносим их результаты на собственный агент. Документация поставщика описывает интерфейс, но не заменяет независимого сравнения. Дополнительно в docs/sources.md перечислены τ²-bench, HAL и SABER. Внешние первичные страницы этой презентации сверены 02.10.2026. У Liu появилась v2 от 29.09.2026, но здесь ссылка на v1 из реестра. Утверждения о числах задач, составе корпуса и runtime в других резервных слайдах относятся к ревизиям проектного обзора.</a:t>
            </a:r>
          </a:p>
          <a:p xmlns:a="http://schemas.openxmlformats.org/drawingml/2006/main">
            <a:r>
              <a:t/>
            </a:r>
          </a:p>
          <a:p xmlns:a="http://schemas.openxmlformats.org/drawingml/2006/main">
            <a:r>
              <a:t>Источники:</a:t>
            </a:r>
          </a:p>
          <a:p xmlns:a="http://schemas.openxmlformats.org/drawingml/2006/main">
            <a:r>
              <a:t>/Users/nikitapasinin/.codex/worktrees/0ad2/diplom/docs/sources.md</a:t>
            </a:r>
          </a:p>
          <a:p xmlns:a="http://schemas.openxmlformats.org/drawingml/2006/main">
            <a:r>
              <a:t>/Users/nikitapasinin/.codex/worktrees/0ad2/diplom/docs/README.md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Не следует приписывать все возможные вопросы Елене Валерьевне. В контексте документированы только вопросы о пересечении тем и математическом содержании. Этот резервный слайд помогает обсудить другие риски, которые сам проект должен закрыть. Требования к ВКР пока представлены реестром с разграничением общевузовских и кафедральных материалов. Есть методичка ТПИ 2021 года для 02.03.03, но её редакцию и комплект защиты 2027 надо подтвердить. Совместная система допускает выделение личного модуля по найденной методичке, однако это не автоматическое согласование конкретных тем и вкладов.</a:t>
            </a:r>
          </a:p>
          <a:p xmlns:a="http://schemas.openxmlformats.org/drawingml/2006/main">
            <a:r>
              <a:t/>
            </a:r>
          </a:p>
          <a:p xmlns:a="http://schemas.openxmlformats.org/drawingml/2006/main">
            <a:r>
              <a:t>Источники:</a:t>
            </a:r>
          </a:p>
          <a:p xmlns:a="http://schemas.openxmlformats.org/drawingml/2006/main">
            <a:r>
              <a:t>/Users/nikitapasinin/.codex/worktrees/0ad2/diplom/docs/agents/workflow.md</a:t>
            </a:r>
          </a:p>
          <a:p xmlns:a="http://schemas.openxmlformats.org/drawingml/2006/main">
            <a:r>
              <a:t>/Users/nikitapasinin/.codex/worktrees/0ad2/diplom/docs/team.md</a:t>
            </a:r>
          </a:p>
          <a:p xmlns:a="http://schemas.openxmlformats.org/drawingml/2006/main">
            <a:r>
              <a:t>/Users/nikitapasinin/.codex/worktrees/0ad2/diplom/docs/vkr.md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Слайд относится к статическому обзору проекта от 29–30 сентября 2026 года, а не к собственным замерам. Для banking_knowledge проверено 97 задач в commit 5bfa7e37b36656b37dc6d022156be6563c1007f3, пакет 1.0.1. Нельзя назвать тысячи извлечённых шагов тысячами независимых задач. В том же обзоре найдено, что штатный подсчёт стоимости траектории не автоматически покрывает внутренние router, reranker, embeddings и отброшенные вызовы. У KEV различаются поколения основы, лимиты runtime и опубликованные длины обучения. У Laya лимит зависит от checkpoint, и состояние не может занимать весь полный вход. Первый пилот проверит конкретную модель, ревизию, dtype, вход и batch на нашем Mac. Веса не скачивались, работающий runtime не подтверждён.</a:t>
            </a:r>
          </a:p>
          <a:p xmlns:a="http://schemas.openxmlformats.org/drawingml/2006/main">
            <a:r>
              <a:t/>
            </a:r>
          </a:p>
          <a:p xmlns:a="http://schemas.openxmlformats.org/drawingml/2006/main">
            <a:r>
              <a:t>Источники:</a:t>
            </a:r>
          </a:p>
          <a:p xmlns:a="http://schemas.openxmlformats.org/drawingml/2006/main">
            <a:r>
              <a:t>/Users/nikitapasinin/.codex/worktrees/0ad2/diplom/docs/model-research.md</a:t>
            </a:r>
          </a:p>
          <a:p xmlns:a="http://schemas.openxmlformats.org/drawingml/2006/main">
            <a:r>
              <a:t>/Users/nikitapasinin/.codex/worktrees/0ad2/diplom/docs/tau-bench-review.md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3f860299b94f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327f65c75d4ebe" /><Relationship Type="http://schemas.openxmlformats.org/officeDocument/2006/relationships/slideLayout" Target="/ppt/slideLayouts/slideLayout1.xml" Id="R570b4dde6e614d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0b4dde6e614d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99acde5d554de8" /><Relationship Type="http://schemas.openxmlformats.org/officeDocument/2006/relationships/image" Target="/ppt/media/image.png" Id="Rc7f4e5724e2d41f5" /><Relationship Type="http://schemas.openxmlformats.org/officeDocument/2006/relationships/notesSlide" Target="/ppt/notesSlides/notesSlide1.xml" Id="R16fc9115f6a54a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ecc03a35d9489c" /><Relationship Type="http://schemas.openxmlformats.org/officeDocument/2006/relationships/notesSlide" Target="/ppt/notesSlides/notesSlide2.xml" Id="Rbdabf702586441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65ef172a2b4e1b" /><Relationship Type="http://schemas.openxmlformats.org/officeDocument/2006/relationships/notesSlide" Target="/ppt/notesSlides/notesSlide3.xml" Id="Ra4f4f5a1b30a40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c9670562dd425b" /><Relationship Type="http://schemas.openxmlformats.org/officeDocument/2006/relationships/notesSlide" Target="/ppt/notesSlides/notesSlide4.xml" Id="R8507b20e494948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101b4219d44e4c" /><Relationship Type="http://schemas.openxmlformats.org/officeDocument/2006/relationships/notesSlide" Target="/ppt/notesSlides/notesSlide5.xml" Id="Rf586c04ca8a746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2d8d886bcc48bb" /><Relationship Type="http://schemas.openxmlformats.org/officeDocument/2006/relationships/notesSlide" Target="/ppt/notesSlides/notesSlide6.xml" Id="Rb4b69c6a87ef4b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11c13f202945ae" /><Relationship Type="http://schemas.openxmlformats.org/officeDocument/2006/relationships/notesSlide" Target="/ppt/notesSlides/notesSlide7.xml" Id="R887e9064718143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bf911479fd433c" /><Relationship Type="http://schemas.openxmlformats.org/officeDocument/2006/relationships/notesSlide" Target="/ppt/notesSlides/notesSlide8.xml" Id="Rb4e97e133b1f43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960fd0b3184de2" /><Relationship Type="http://schemas.openxmlformats.org/officeDocument/2006/relationships/notesSlide" Target="/ppt/notesSlides/notesSlide9.xml" Id="R97bc977fed1141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d67be7e9884eb6" /><Relationship Type="http://schemas.openxmlformats.org/officeDocument/2006/relationships/notesSlide" Target="/ppt/notesSlides/notesSlide10.xml" Id="R7bea8df06d1940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9f84c7514064103" /><Relationship Type="http://schemas.openxmlformats.org/officeDocument/2006/relationships/notesSlide" Target="/ppt/notesSlides/notesSlide11.xml" Id="R35ac526096f642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d9773b4e99f4a9a" /><Relationship Type="http://schemas.openxmlformats.org/officeDocument/2006/relationships/notesSlide" Target="/ppt/notesSlides/notesSlide12.xml" Id="R896ec47cf3ff4f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d69f8eedabc4e8f" /><Relationship Type="http://schemas.openxmlformats.org/officeDocument/2006/relationships/notesSlide" Target="/ppt/notesSlides/notesSlide13.xml" Id="R797322200c4b4f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b0ce25ea514485e" /><Relationship Type="http://schemas.openxmlformats.org/officeDocument/2006/relationships/notesSlide" Target="/ppt/notesSlides/notesSlide14.xml" Id="R57ff36c3223f40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4612bad3a314792" /><Relationship Type="http://schemas.openxmlformats.org/officeDocument/2006/relationships/notesSlide" Target="/ppt/notesSlides/notesSlide15.xml" Id="R39f4cfa912c749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4479e5328794af7" /><Relationship Type="http://schemas.openxmlformats.org/officeDocument/2006/relationships/notesSlide" Target="/ppt/notesSlides/notesSlide16.xml" Id="R71b6c05699a540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202bbb5f9db45b8" /><Relationship Type="http://schemas.openxmlformats.org/officeDocument/2006/relationships/hyperlink" Target="https://proceedings.iclr.cc/paper_files/paper/2025/hash/1b126cc38b8638e07bef37e7b2bb72bf-Abstract-Conference.html" TargetMode="External" Id="Ra711138c9ec447b1" /><Relationship Type="http://schemas.openxmlformats.org/officeDocument/2006/relationships/hyperlink" Target="https://arxiv.org/abs/2603.04370v1" TargetMode="External" Id="Rc89ed671d1d74e82" /><Relationship Type="http://schemas.openxmlformats.org/officeDocument/2006/relationships/hyperlink" Target="https://docs.typesafe.ai/concepts/system-one" TargetMode="External" Id="Rac84ef6b02724a45" /><Relationship Type="http://schemas.openxmlformats.org/officeDocument/2006/relationships/hyperlink" Target="https://arxiv.org/abs/2609.33401v1" TargetMode="External" Id="R24a600628d694eb6" /><Relationship Type="http://schemas.openxmlformats.org/officeDocument/2006/relationships/notesSlide" Target="/ppt/notesSlides/notesSlide17.xml" Id="R8e99530fc28640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dbccc5429c64cfc" /><Relationship Type="http://schemas.openxmlformats.org/officeDocument/2006/relationships/notesSlide" Target="/ppt/notesSlides/notesSlide18.xml" Id="R8a14fa42fb0f43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75ca878687743ed" /><Relationship Type="http://schemas.openxmlformats.org/officeDocument/2006/relationships/notesSlide" Target="/ppt/notesSlides/notesSlide19.xml" Id="R9f2e50689f9a497d"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7f4e5724e2d41f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3B171A-67D1-442F-8774-CEE2E171915A}"/>
              </a:ext>
            </a:extLst>
          </p:cNvPr>
          <p:cNvSpPr>
            <a:spLocks xmlns:a="http://schemas.openxmlformats.org/drawingml/2006/main" noGrp="1"/>
          </p:cNvSpPr>
          <p:nvPr/>
        </p:nvSpPr>
        <p:spPr>
          <a:xfrm xmlns:a="http://schemas.openxmlformats.org/drawingml/2006/main">
            <a:off x="685800" y="1333500"/>
            <a:ext cx="7334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75" b="1">
                <a:solidFill>
                  <a:srgbClr val="182B3B"/>
                </a:solidFill>
                <a:latin typeface="Helvetica Neue"/>
                <a:ea typeface="Helvetica Neue"/>
                <a:cs typeface="Helvetica Neue"/>
              </a:defRPr>
            </a:pPr>
            <a:r>
              <a:rPr sz="4575" b="1">
                <a:solidFill>
                  <a:srgbClr val="182B3B"/>
                </a:solidFill>
                <a:latin typeface="Helvetica Neue"/>
                <a:ea typeface="Helvetica Neue"/>
                <a:cs typeface="Helvetica Neue"/>
              </a:rPr>
              <a:t>Типизированные решения</a:t>
            </a:r>
          </a:p>
          <a:p xmlns:a="http://schemas.openxmlformats.org/drawingml/2006/main">
            <a:pPr>
              <a:defRPr sz="4575" b="1">
                <a:solidFill>
                  <a:srgbClr val="182B3B"/>
                </a:solidFill>
                <a:latin typeface="Helvetica Neue"/>
                <a:ea typeface="Helvetica Neue"/>
                <a:cs typeface="Helvetica Neue"/>
              </a:defRPr>
            </a:pPr>
            <a:r>
              <a:rPr sz="4575" b="1">
                <a:solidFill>
                  <a:srgbClr val="182B3B"/>
                </a:solidFill>
                <a:latin typeface="Helvetica Neue"/>
                <a:ea typeface="Helvetica Neue"/>
                <a:cs typeface="Helvetica Neue"/>
              </a:rPr>
              <a:t>в языковом агенте</a:t>
            </a:r>
          </a:p>
        </p:txBody>
      </p:sp>
      <p:sp>
        <p:nvSpPr>
          <p:cNvPr id="3" name="">
            <a:extLst xmlns:a="http://schemas.openxmlformats.org/drawingml/2006/main">
              <a:ext uri="{FF2B5EF4-FFF2-40B4-BE49-F238E27FC236}">
                <a16:creationId xmlns:a16="http://schemas.microsoft.com/office/drawing/2014/main" id="{398471B9-79DA-4319-B6D4-53B477298FB7}"/>
              </a:ext>
            </a:extLst>
          </p:cNvPr>
          <p:cNvSpPr>
            <a:spLocks xmlns:a="http://schemas.openxmlformats.org/drawingml/2006/main" noGrp="1"/>
          </p:cNvSpPr>
          <p:nvPr/>
        </p:nvSpPr>
        <p:spPr>
          <a:xfrm xmlns:a="http://schemas.openxmlformats.org/drawingml/2006/main">
            <a:off x="685800" y="3990975"/>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36F6A"/>
                </a:solidFill>
                <a:latin typeface="Helvetica Neue"/>
                <a:ea typeface="Helvetica Neue"/>
                <a:cs typeface="Helvetica Neue"/>
              </a:defRPr>
            </a:pPr>
            <a:r>
              <a:rPr sz="2250" b="0">
                <a:solidFill>
                  <a:srgbClr val="236F6A"/>
                </a:solidFill>
                <a:latin typeface="Helvetica Neue"/>
                <a:ea typeface="Helvetica Neue"/>
                <a:cs typeface="Helvetica Neue"/>
              </a:rPr>
              <a:t>Предложение исследования для ВКР</a:t>
            </a:r>
          </a:p>
        </p:txBody>
      </p:sp>
      <p:sp>
        <p:nvSpPr>
          <p:cNvPr id="4" name="">
            <a:extLst xmlns:a="http://schemas.openxmlformats.org/drawingml/2006/main">
              <a:ext uri="{FF2B5EF4-FFF2-40B4-BE49-F238E27FC236}">
                <a16:creationId xmlns:a16="http://schemas.microsoft.com/office/drawing/2014/main" id="{10FD20D6-E514-4E17-A0AC-27BA8836BF19}"/>
              </a:ext>
            </a:extLst>
          </p:cNvPr>
          <p:cNvSpPr>
            <a:spLocks xmlns:a="http://schemas.openxmlformats.org/drawingml/2006/main" noGrp="1"/>
          </p:cNvSpPr>
          <p:nvPr/>
        </p:nvSpPr>
        <p:spPr>
          <a:xfrm xmlns:a="http://schemas.openxmlformats.org/drawingml/2006/main">
            <a:off x="685800" y="49530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86E"/>
                </a:solidFill>
                <a:latin typeface="Helvetica Neue"/>
                <a:ea typeface="Helvetica Neue"/>
                <a:cs typeface="Helvetica Neue"/>
              </a:defRPr>
            </a:pPr>
            <a:r>
              <a:rPr sz="1800" b="0">
                <a:solidFill>
                  <a:srgbClr val="5D686E"/>
                </a:solidFill>
                <a:latin typeface="Helvetica Neue"/>
                <a:ea typeface="Helvetica Neue"/>
                <a:cs typeface="Helvetica Neue"/>
              </a:rPr>
              <a:t>Обсуждение с Исаевой Еленой Валерьевной</a:t>
            </a:r>
          </a:p>
          <a:p xmlns:a="http://schemas.openxmlformats.org/drawingml/2006/main">
            <a:pPr>
              <a:defRPr sz="1800" b="0">
                <a:solidFill>
                  <a:srgbClr val="5D686E"/>
                </a:solidFill>
                <a:latin typeface="Helvetica Neue"/>
                <a:ea typeface="Helvetica Neue"/>
                <a:cs typeface="Helvetica Neue"/>
              </a:defRPr>
            </a:pPr>
            <a:r>
              <a:rPr sz="1800" b="0">
                <a:solidFill>
                  <a:srgbClr val="5D686E"/>
                </a:solidFill>
                <a:latin typeface="Helvetica Neue"/>
                <a:ea typeface="Helvetica Neue"/>
                <a:cs typeface="Helvetica Neue"/>
              </a:rPr>
              <a:t>НГТУ, ФПМИ, ТПИ. Защита в 2027 году</a:t>
            </a:r>
          </a:p>
        </p:txBody>
      </p:sp>
      <p:sp>
        <p:nvSpPr>
          <p:cNvPr id="5" name="">
            <a:extLst xmlns:a="http://schemas.openxmlformats.org/drawingml/2006/main">
              <a:ext uri="{FF2B5EF4-FFF2-40B4-BE49-F238E27FC236}">
                <a16:creationId xmlns:a16="http://schemas.microsoft.com/office/drawing/2014/main" id="{D6492268-7E23-49DE-8CC3-CE8DC682744E}"/>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01</a:t>
            </a:r>
          </a:p>
        </p:txBody>
      </p:sp>
    </p:spTree>
    <p:extLst>
      <p:ext uri="{BB962C8B-B14F-4D97-AF65-F5344CB8AC3E}">
        <p14:creationId xmlns:p14="http://schemas.microsoft.com/office/powerpoint/2010/main" val="787632082"/>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65729D-840A-48DC-8395-A9436646B847}"/>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Предложение и текущее состояние</a:t>
            </a:r>
          </a:p>
        </p:txBody>
      </p:sp>
      <p:sp>
        <p:nvSpPr>
          <p:cNvPr id="2" name="">
            <a:extLst xmlns:a="http://schemas.openxmlformats.org/drawingml/2006/main">
              <a:ext uri="{FF2B5EF4-FFF2-40B4-BE49-F238E27FC236}">
                <a16:creationId xmlns:a16="http://schemas.microsoft.com/office/drawing/2014/main" id="{9C02CDE4-67A5-4AB0-B67F-AAC851B702AE}"/>
              </a:ext>
            </a:extLst>
          </p:cNvPr>
          <p:cNvSpPr>
            <a:spLocks xmlns:a="http://schemas.openxmlformats.org/drawingml/2006/main" noGrp="1"/>
          </p:cNvSpPr>
          <p:nvPr/>
        </p:nvSpPr>
        <p:spPr>
          <a:xfrm xmlns:a="http://schemas.openxmlformats.org/drawingml/2006/main">
            <a:off x="685800" y="18097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36F6A"/>
                </a:solidFill>
                <a:latin typeface="Helvetica Neue"/>
                <a:ea typeface="Helvetica Neue"/>
                <a:cs typeface="Helvetica Neue"/>
              </a:defRPr>
            </a:pPr>
            <a:r>
              <a:rPr sz="2250" b="1">
                <a:solidFill>
                  <a:srgbClr val="236F6A"/>
                </a:solidFill>
                <a:latin typeface="Helvetica Neue"/>
                <a:ea typeface="Helvetica Neue"/>
                <a:cs typeface="Helvetica Neue"/>
              </a:rPr>
              <a:t>Предлагаемый результат</a:t>
            </a:r>
          </a:p>
        </p:txBody>
      </p:sp>
      <p:sp>
        <p:nvSpPr>
          <p:cNvPr id="3" name="">
            <a:extLst xmlns:a="http://schemas.openxmlformats.org/drawingml/2006/main">
              <a:ext uri="{FF2B5EF4-FFF2-40B4-BE49-F238E27FC236}">
                <a16:creationId xmlns:a16="http://schemas.microsoft.com/office/drawing/2014/main" id="{91A986E8-13C8-4933-998D-6F9DFD8064CE}"/>
              </a:ext>
            </a:extLst>
          </p:cNvPr>
          <p:cNvSpPr>
            <a:spLocks xmlns:a="http://schemas.openxmlformats.org/drawingml/2006/main" noGrp="1"/>
          </p:cNvSpPr>
          <p:nvPr/>
        </p:nvSpPr>
        <p:spPr>
          <a:xfrm xmlns:a="http://schemas.openxmlformats.org/drawingml/2006/main">
            <a:off x="6381750" y="1809750"/>
            <a:ext cx="512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36F6A"/>
                </a:solidFill>
                <a:latin typeface="Helvetica Neue"/>
                <a:ea typeface="Helvetica Neue"/>
                <a:cs typeface="Helvetica Neue"/>
              </a:defRPr>
            </a:pPr>
            <a:r>
              <a:rPr sz="2250" b="1">
                <a:solidFill>
                  <a:srgbClr val="236F6A"/>
                </a:solidFill>
                <a:latin typeface="Helvetica Neue"/>
                <a:ea typeface="Helvetica Neue"/>
                <a:cs typeface="Helvetica Neue"/>
              </a:rPr>
              <a:t>Что уже известно</a:t>
            </a:r>
          </a:p>
        </p:txBody>
      </p:sp>
      <p:sp>
        <p:nvSpPr>
          <p:cNvPr id="4" name="">
            <a:extLst xmlns:a="http://schemas.openxmlformats.org/drawingml/2006/main">
              <a:ext uri="{FF2B5EF4-FFF2-40B4-BE49-F238E27FC236}">
                <a16:creationId xmlns:a16="http://schemas.microsoft.com/office/drawing/2014/main" id="{C9A650B1-97A9-42FF-9F89-8B28CA2B36AA}"/>
              </a:ext>
            </a:extLst>
          </p:cNvPr>
          <p:cNvSpPr>
            <a:spLocks xmlns:a="http://schemas.openxmlformats.org/drawingml/2006/main" noGrp="1"/>
          </p:cNvSpPr>
          <p:nvPr/>
        </p:nvSpPr>
        <p:spPr>
          <a:xfrm xmlns:a="http://schemas.openxmlformats.org/drawingml/2006/main">
            <a:off x="685800" y="247650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Формальная задача выбора метода решения</a:t>
            </a:r>
          </a:p>
        </p:txBody>
      </p:sp>
      <p:sp>
        <p:nvSpPr>
          <p:cNvPr id="5" name="">
            <a:extLst xmlns:a="http://schemas.openxmlformats.org/drawingml/2006/main">
              <a:ext uri="{FF2B5EF4-FFF2-40B4-BE49-F238E27FC236}">
                <a16:creationId xmlns:a16="http://schemas.microsoft.com/office/drawing/2014/main" id="{71214468-12BE-4CA7-8032-FC0B65CD54EE}"/>
              </a:ext>
            </a:extLst>
          </p:cNvPr>
          <p:cNvSpPr>
            <a:spLocks xmlns:a="http://schemas.openxmlformats.org/drawingml/2006/main" noGrp="1"/>
          </p:cNvSpPr>
          <p:nvPr/>
        </p:nvSpPr>
        <p:spPr>
          <a:xfrm xmlns:a="http://schemas.openxmlformats.org/drawingml/2006/main">
            <a:off x="685800" y="3419475"/>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Воспроизводимый сервисный агент</a:t>
            </a:r>
          </a:p>
        </p:txBody>
      </p:sp>
      <p:sp>
        <p:nvSpPr>
          <p:cNvPr id="6" name="">
            <a:extLst xmlns:a="http://schemas.openxmlformats.org/drawingml/2006/main">
              <a:ext uri="{FF2B5EF4-FFF2-40B4-BE49-F238E27FC236}">
                <a16:creationId xmlns:a16="http://schemas.microsoft.com/office/drawing/2014/main" id="{E0A6B01F-B8D0-417E-A7B9-AB749CF0BF26}"/>
              </a:ext>
            </a:extLst>
          </p:cNvPr>
          <p:cNvSpPr>
            <a:spLocks xmlns:a="http://schemas.openxmlformats.org/drawingml/2006/main" noGrp="1"/>
          </p:cNvSpPr>
          <p:nvPr/>
        </p:nvSpPr>
        <p:spPr>
          <a:xfrm xmlns:a="http://schemas.openxmlformats.org/drawingml/2006/main">
            <a:off x="685800" y="436245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Сравнение качества, затрат и задержки</a:t>
            </a:r>
          </a:p>
        </p:txBody>
      </p:sp>
      <p:sp>
        <p:nvSpPr>
          <p:cNvPr id="7" name="">
            <a:extLst xmlns:a="http://schemas.openxmlformats.org/drawingml/2006/main">
              <a:ext uri="{FF2B5EF4-FFF2-40B4-BE49-F238E27FC236}">
                <a16:creationId xmlns:a16="http://schemas.microsoft.com/office/drawing/2014/main" id="{813333C9-4DD7-4250-A605-47E4FE7D0A64}"/>
              </a:ext>
            </a:extLst>
          </p:cNvPr>
          <p:cNvSpPr>
            <a:spLocks xmlns:a="http://schemas.openxmlformats.org/drawingml/2006/main" noGrp="1"/>
          </p:cNvSpPr>
          <p:nvPr/>
        </p:nvSpPr>
        <p:spPr>
          <a:xfrm xmlns:a="http://schemas.openxmlformats.org/drawingml/2006/main">
            <a:off x="6381750" y="24765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Направление выбрал инициатор проекта</a:t>
            </a:r>
          </a:p>
        </p:txBody>
      </p:sp>
      <p:sp>
        <p:nvSpPr>
          <p:cNvPr id="8" name="">
            <a:extLst xmlns:a="http://schemas.openxmlformats.org/drawingml/2006/main">
              <a:ext uri="{FF2B5EF4-FFF2-40B4-BE49-F238E27FC236}">
                <a16:creationId xmlns:a16="http://schemas.microsoft.com/office/drawing/2014/main" id="{F357DEE9-51EC-4D61-A525-7F38DEB48A9B}"/>
              </a:ext>
            </a:extLst>
          </p:cNvPr>
          <p:cNvSpPr>
            <a:spLocks xmlns:a="http://schemas.openxmlformats.org/drawingml/2006/main" noGrp="1"/>
          </p:cNvSpPr>
          <p:nvPr/>
        </p:nvSpPr>
        <p:spPr>
          <a:xfrm xmlns:a="http://schemas.openxmlformats.org/drawingml/2006/main">
            <a:off x="6381750" y="3419475"/>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Тема с руководителем ещё не согласована</a:t>
            </a:r>
          </a:p>
        </p:txBody>
      </p:sp>
      <p:sp>
        <p:nvSpPr>
          <p:cNvPr id="9" name="">
            <a:extLst xmlns:a="http://schemas.openxmlformats.org/drawingml/2006/main">
              <a:ext uri="{FF2B5EF4-FFF2-40B4-BE49-F238E27FC236}">
                <a16:creationId xmlns:a16="http://schemas.microsoft.com/office/drawing/2014/main" id="{CBFC6C9D-FE80-4C3E-B1B3-7E1D2A98E53F}"/>
              </a:ext>
            </a:extLst>
          </p:cNvPr>
          <p:cNvSpPr>
            <a:spLocks xmlns:a="http://schemas.openxmlformats.org/drawingml/2006/main" noGrp="1"/>
          </p:cNvSpPr>
          <p:nvPr/>
        </p:nvSpPr>
        <p:spPr>
          <a:xfrm xmlns:a="http://schemas.openxmlformats.org/drawingml/2006/main">
            <a:off x="6381750" y="43624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Агент и экспериментальные результаты пока отсутствуют</a:t>
            </a:r>
          </a:p>
        </p:txBody>
      </p:sp>
      <p:sp>
        <p:nvSpPr>
          <p:cNvPr id="10" name="">
            <a:extLst xmlns:a="http://schemas.openxmlformats.org/drawingml/2006/main">
              <a:ext uri="{FF2B5EF4-FFF2-40B4-BE49-F238E27FC236}">
                <a16:creationId xmlns:a16="http://schemas.microsoft.com/office/drawing/2014/main" id="{93A19462-40C2-4EF0-8DAF-3B613F980433}"/>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Вопрос: когда замена узла меняет качество, полную стоимость и задержку?</a:t>
            </a:r>
          </a:p>
        </p:txBody>
      </p:sp>
      <p:sp>
        <p:nvSpPr>
          <p:cNvPr id="11" name="">
            <a:extLst xmlns:a="http://schemas.openxmlformats.org/drawingml/2006/main">
              <a:ext uri="{FF2B5EF4-FFF2-40B4-BE49-F238E27FC236}">
                <a16:creationId xmlns:a16="http://schemas.microsoft.com/office/drawing/2014/main" id="{21E584EC-844F-4181-8FA7-8B57A10419CA}"/>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02</a:t>
            </a:r>
          </a:p>
        </p:txBody>
      </p:sp>
    </p:spTree>
    <p:extLst>
      <p:ext uri="{BB962C8B-B14F-4D97-AF65-F5344CB8AC3E}">
        <p14:creationId xmlns:p14="http://schemas.microsoft.com/office/powerpoint/2010/main" val="2056182754"/>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E5A8A5C-940F-40F1-81A3-C2679E657A07}"/>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Задача сервисного агента</a:t>
            </a:r>
          </a:p>
        </p:txBody>
      </p:sp>
      <p:sp>
        <p:nvSpPr>
          <p:cNvPr id="2" name="">
            <a:extLst xmlns:a="http://schemas.openxmlformats.org/drawingml/2006/main">
              <a:ext uri="{FF2B5EF4-FFF2-40B4-BE49-F238E27FC236}">
                <a16:creationId xmlns:a16="http://schemas.microsoft.com/office/drawing/2014/main" id="{E8557C4A-7D65-47DF-A8D1-653A99DED8DB}"/>
              </a:ext>
            </a:extLst>
          </p:cNvPr>
          <p:cNvSpPr>
            <a:spLocks xmlns:a="http://schemas.openxmlformats.org/drawingml/2006/main" noGrp="1"/>
          </p:cNvSpPr>
          <p:nvPr/>
        </p:nvSpPr>
        <p:spPr>
          <a:xfrm xmlns:a="http://schemas.openxmlformats.org/drawingml/2006/main">
            <a:off x="685800" y="1714500"/>
            <a:ext cx="1028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«В выписке два одинаковых списания. Помогите разобраться»</a:t>
            </a:r>
          </a:p>
        </p:txBody>
      </p:sp>
      <p:sp>
        <p:nvSpPr>
          <p:cNvPr id="3" name="">
            <a:extLst xmlns:a="http://schemas.openxmlformats.org/drawingml/2006/main">
              <a:ext uri="{FF2B5EF4-FFF2-40B4-BE49-F238E27FC236}">
                <a16:creationId xmlns:a16="http://schemas.microsoft.com/office/drawing/2014/main" id="{10AC01C8-CEB5-481B-B053-75E42673B142}"/>
              </a:ext>
            </a:extLst>
          </p:cNvPr>
          <p:cNvSpPr>
            <a:spLocks xmlns:a="http://schemas.openxmlformats.org/drawingml/2006/main" noGrp="1"/>
          </p:cNvSpPr>
          <p:nvPr/>
        </p:nvSpPr>
        <p:spPr>
          <a:xfrm xmlns:a="http://schemas.openxmlformats.org/drawingml/2006/main">
            <a:off x="685800" y="30861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236F6A"/>
                </a:solidFill>
                <a:latin typeface="Helvetica Neue"/>
                <a:ea typeface="Helvetica Neue"/>
                <a:cs typeface="Helvetica Neue"/>
              </a:defRPr>
            </a:pPr>
            <a:r>
              <a:rPr sz="3225" b="0">
                <a:solidFill>
                  <a:srgbClr val="236F6A"/>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742694CE-AFC7-45EF-ABBB-7B9867BF539F}"/>
              </a:ext>
            </a:extLst>
          </p:cNvPr>
          <p:cNvSpPr>
            <a:spLocks xmlns:a="http://schemas.openxmlformats.org/drawingml/2006/main" noGrp="1"/>
          </p:cNvSpPr>
          <p:nvPr/>
        </p:nvSpPr>
        <p:spPr>
          <a:xfrm xmlns:a="http://schemas.openxmlformats.org/drawingml/2006/main">
            <a:off x="685800" y="372427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82B3B"/>
                </a:solidFill>
                <a:latin typeface="Helvetica Neue"/>
                <a:ea typeface="Helvetica Neue"/>
                <a:cs typeface="Helvetica Neue"/>
              </a:defRPr>
            </a:pPr>
            <a:r>
              <a:rPr sz="2100" b="1">
                <a:solidFill>
                  <a:srgbClr val="182B3B"/>
                </a:solidFill>
                <a:latin typeface="Helvetica Neue"/>
                <a:ea typeface="Helvetica Neue"/>
                <a:cs typeface="Helvetica Neue"/>
              </a:rPr>
              <a:t>Уточнение</a:t>
            </a:r>
          </a:p>
        </p:txBody>
      </p:sp>
      <p:sp>
        <p:nvSpPr>
          <p:cNvPr id="5" name="">
            <a:extLst xmlns:a="http://schemas.openxmlformats.org/drawingml/2006/main">
              <a:ext uri="{FF2B5EF4-FFF2-40B4-BE49-F238E27FC236}">
                <a16:creationId xmlns:a16="http://schemas.microsoft.com/office/drawing/2014/main" id="{A9BC0CC0-D69E-4E38-9ECF-7C03DB5995B0}"/>
              </a:ext>
            </a:extLst>
          </p:cNvPr>
          <p:cNvSpPr>
            <a:spLocks xmlns:a="http://schemas.openxmlformats.org/drawingml/2006/main" noGrp="1"/>
          </p:cNvSpPr>
          <p:nvPr/>
        </p:nvSpPr>
        <p:spPr>
          <a:xfrm xmlns:a="http://schemas.openxmlformats.org/drawingml/2006/main">
            <a:off x="685800" y="431482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Получить данные о спорной операции</a:t>
            </a:r>
          </a:p>
        </p:txBody>
      </p:sp>
      <p:sp>
        <p:nvSpPr>
          <p:cNvPr id="6" name="">
            <a:extLst xmlns:a="http://schemas.openxmlformats.org/drawingml/2006/main">
              <a:ext uri="{FF2B5EF4-FFF2-40B4-BE49-F238E27FC236}">
                <a16:creationId xmlns:a16="http://schemas.microsoft.com/office/drawing/2014/main" id="{7F93A5D8-BD52-4C7A-9A7C-29391523352D}"/>
              </a:ext>
            </a:extLst>
          </p:cNvPr>
          <p:cNvSpPr>
            <a:spLocks xmlns:a="http://schemas.openxmlformats.org/drawingml/2006/main" noGrp="1"/>
          </p:cNvSpPr>
          <p:nvPr/>
        </p:nvSpPr>
        <p:spPr>
          <a:xfrm xmlns:a="http://schemas.openxmlformats.org/drawingml/2006/main">
            <a:off x="3429000" y="30861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236F6A"/>
                </a:solidFill>
                <a:latin typeface="Helvetica Neue"/>
                <a:ea typeface="Helvetica Neue"/>
                <a:cs typeface="Helvetica Neue"/>
              </a:defRPr>
            </a:pPr>
            <a:r>
              <a:rPr sz="3225" b="0">
                <a:solidFill>
                  <a:srgbClr val="236F6A"/>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8EFEBDE5-566F-4E7E-A264-030FDCAAF273}"/>
              </a:ext>
            </a:extLst>
          </p:cNvPr>
          <p:cNvSpPr>
            <a:spLocks xmlns:a="http://schemas.openxmlformats.org/drawingml/2006/main" noGrp="1"/>
          </p:cNvSpPr>
          <p:nvPr/>
        </p:nvSpPr>
        <p:spPr>
          <a:xfrm xmlns:a="http://schemas.openxmlformats.org/drawingml/2006/main">
            <a:off x="3429000" y="372427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82B3B"/>
                </a:solidFill>
                <a:latin typeface="Helvetica Neue"/>
                <a:ea typeface="Helvetica Neue"/>
                <a:cs typeface="Helvetica Neue"/>
              </a:defRPr>
            </a:pPr>
            <a:r>
              <a:rPr sz="2100" b="1">
                <a:solidFill>
                  <a:srgbClr val="182B3B"/>
                </a:solidFill>
                <a:latin typeface="Helvetica Neue"/>
                <a:ea typeface="Helvetica Neue"/>
                <a:cs typeface="Helvetica Neue"/>
              </a:rPr>
              <a:t>Поиск</a:t>
            </a:r>
          </a:p>
        </p:txBody>
      </p:sp>
      <p:sp>
        <p:nvSpPr>
          <p:cNvPr id="8" name="">
            <a:extLst xmlns:a="http://schemas.openxmlformats.org/drawingml/2006/main">
              <a:ext uri="{FF2B5EF4-FFF2-40B4-BE49-F238E27FC236}">
                <a16:creationId xmlns:a16="http://schemas.microsoft.com/office/drawing/2014/main" id="{CC2961F5-44DE-43FC-8567-563CA5BC7533}"/>
              </a:ext>
            </a:extLst>
          </p:cNvPr>
          <p:cNvSpPr>
            <a:spLocks xmlns:a="http://schemas.openxmlformats.org/drawingml/2006/main" noGrp="1"/>
          </p:cNvSpPr>
          <p:nvPr/>
        </p:nvSpPr>
        <p:spPr>
          <a:xfrm xmlns:a="http://schemas.openxmlformats.org/drawingml/2006/main">
            <a:off x="3429000" y="431482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Найти применимые правила в базе знаний</a:t>
            </a:r>
          </a:p>
        </p:txBody>
      </p:sp>
      <p:sp>
        <p:nvSpPr>
          <p:cNvPr id="9" name="">
            <a:extLst xmlns:a="http://schemas.openxmlformats.org/drawingml/2006/main">
              <a:ext uri="{FF2B5EF4-FFF2-40B4-BE49-F238E27FC236}">
                <a16:creationId xmlns:a16="http://schemas.microsoft.com/office/drawing/2014/main" id="{B40FEF96-F9D8-4A8D-AD28-8E16973C9E3F}"/>
              </a:ext>
            </a:extLst>
          </p:cNvPr>
          <p:cNvSpPr>
            <a:spLocks xmlns:a="http://schemas.openxmlformats.org/drawingml/2006/main" noGrp="1"/>
          </p:cNvSpPr>
          <p:nvPr/>
        </p:nvSpPr>
        <p:spPr>
          <a:xfrm xmlns:a="http://schemas.openxmlformats.org/drawingml/2006/main">
            <a:off x="6172200" y="30861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236F6A"/>
                </a:solidFill>
                <a:latin typeface="Helvetica Neue"/>
                <a:ea typeface="Helvetica Neue"/>
                <a:cs typeface="Helvetica Neue"/>
              </a:defRPr>
            </a:pPr>
            <a:r>
              <a:rPr sz="3225" b="0">
                <a:solidFill>
                  <a:srgbClr val="236F6A"/>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5B01C564-DA77-476E-BE5F-CFED7877955F}"/>
              </a:ext>
            </a:extLst>
          </p:cNvPr>
          <p:cNvSpPr>
            <a:spLocks xmlns:a="http://schemas.openxmlformats.org/drawingml/2006/main" noGrp="1"/>
          </p:cNvSpPr>
          <p:nvPr/>
        </p:nvSpPr>
        <p:spPr>
          <a:xfrm xmlns:a="http://schemas.openxmlformats.org/drawingml/2006/main">
            <a:off x="6172200" y="372427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82B3B"/>
                </a:solidFill>
                <a:latin typeface="Helvetica Neue"/>
                <a:ea typeface="Helvetica Neue"/>
                <a:cs typeface="Helvetica Neue"/>
              </a:defRPr>
            </a:pPr>
            <a:r>
              <a:rPr sz="2100" b="1">
                <a:solidFill>
                  <a:srgbClr val="182B3B"/>
                </a:solidFill>
                <a:latin typeface="Helvetica Neue"/>
                <a:ea typeface="Helvetica Neue"/>
                <a:cs typeface="Helvetica Neue"/>
              </a:rPr>
              <a:t>Решение</a:t>
            </a:r>
          </a:p>
        </p:txBody>
      </p:sp>
      <p:sp>
        <p:nvSpPr>
          <p:cNvPr id="11" name="">
            <a:extLst xmlns:a="http://schemas.openxmlformats.org/drawingml/2006/main">
              <a:ext uri="{FF2B5EF4-FFF2-40B4-BE49-F238E27FC236}">
                <a16:creationId xmlns:a16="http://schemas.microsoft.com/office/drawing/2014/main" id="{1979B690-DDD5-41A3-BAB0-10332AB08809}"/>
              </a:ext>
            </a:extLst>
          </p:cNvPr>
          <p:cNvSpPr>
            <a:spLocks xmlns:a="http://schemas.openxmlformats.org/drawingml/2006/main" noGrp="1"/>
          </p:cNvSpPr>
          <p:nvPr/>
        </p:nvSpPr>
        <p:spPr>
          <a:xfrm xmlns:a="http://schemas.openxmlformats.org/drawingml/2006/main">
            <a:off x="6172200" y="431482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Выбрать допустимое действие</a:t>
            </a:r>
          </a:p>
        </p:txBody>
      </p:sp>
      <p:sp>
        <p:nvSpPr>
          <p:cNvPr id="12" name="">
            <a:extLst xmlns:a="http://schemas.openxmlformats.org/drawingml/2006/main">
              <a:ext uri="{FF2B5EF4-FFF2-40B4-BE49-F238E27FC236}">
                <a16:creationId xmlns:a16="http://schemas.microsoft.com/office/drawing/2014/main" id="{2324944C-3F06-4210-B30B-16894EE4FA07}"/>
              </a:ext>
            </a:extLst>
          </p:cNvPr>
          <p:cNvSpPr>
            <a:spLocks xmlns:a="http://schemas.openxmlformats.org/drawingml/2006/main" noGrp="1"/>
          </p:cNvSpPr>
          <p:nvPr/>
        </p:nvSpPr>
        <p:spPr>
          <a:xfrm xmlns:a="http://schemas.openxmlformats.org/drawingml/2006/main">
            <a:off x="8915400" y="30861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236F6A"/>
                </a:solidFill>
                <a:latin typeface="Helvetica Neue"/>
                <a:ea typeface="Helvetica Neue"/>
                <a:cs typeface="Helvetica Neue"/>
              </a:defRPr>
            </a:pPr>
            <a:r>
              <a:rPr sz="3225" b="0">
                <a:solidFill>
                  <a:srgbClr val="236F6A"/>
                </a:solidFill>
                <a:latin typeface="Helvetica Neue"/>
                <a:ea typeface="Helvetica Neue"/>
                <a:cs typeface="Helvetica Neue"/>
              </a:rPr>
              <a:t>04</a:t>
            </a:r>
          </a:p>
        </p:txBody>
      </p:sp>
      <p:sp>
        <p:nvSpPr>
          <p:cNvPr id="13" name="">
            <a:extLst xmlns:a="http://schemas.openxmlformats.org/drawingml/2006/main">
              <a:ext uri="{FF2B5EF4-FFF2-40B4-BE49-F238E27FC236}">
                <a16:creationId xmlns:a16="http://schemas.microsoft.com/office/drawing/2014/main" id="{D6A39D36-12F2-42AF-8E74-0A63FA29F18A}"/>
              </a:ext>
            </a:extLst>
          </p:cNvPr>
          <p:cNvSpPr>
            <a:spLocks xmlns:a="http://schemas.openxmlformats.org/drawingml/2006/main" noGrp="1"/>
          </p:cNvSpPr>
          <p:nvPr/>
        </p:nvSpPr>
        <p:spPr>
          <a:xfrm xmlns:a="http://schemas.openxmlformats.org/drawingml/2006/main">
            <a:off x="8915400" y="372427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82B3B"/>
                </a:solidFill>
                <a:latin typeface="Helvetica Neue"/>
                <a:ea typeface="Helvetica Neue"/>
                <a:cs typeface="Helvetica Neue"/>
              </a:defRPr>
            </a:pPr>
            <a:r>
              <a:rPr sz="2100" b="1">
                <a:solidFill>
                  <a:srgbClr val="182B3B"/>
                </a:solidFill>
                <a:latin typeface="Helvetica Neue"/>
                <a:ea typeface="Helvetica Neue"/>
                <a:cs typeface="Helvetica Neue"/>
              </a:rPr>
              <a:t>Проверка</a:t>
            </a:r>
          </a:p>
        </p:txBody>
      </p:sp>
      <p:sp>
        <p:nvSpPr>
          <p:cNvPr id="14" name="">
            <a:extLst xmlns:a="http://schemas.openxmlformats.org/drawingml/2006/main">
              <a:ext uri="{FF2B5EF4-FFF2-40B4-BE49-F238E27FC236}">
                <a16:creationId xmlns:a16="http://schemas.microsoft.com/office/drawing/2014/main" id="{7B98F256-D32B-4C9B-8AFE-3F7310DC9DB4}"/>
              </a:ext>
            </a:extLst>
          </p:cNvPr>
          <p:cNvSpPr>
            <a:spLocks xmlns:a="http://schemas.openxmlformats.org/drawingml/2006/main" noGrp="1"/>
          </p:cNvSpPr>
          <p:nvPr/>
        </p:nvSpPr>
        <p:spPr>
          <a:xfrm xmlns:a="http://schemas.openxmlformats.org/drawingml/2006/main">
            <a:off x="8915400" y="431482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Выполнить операцию и проверить результат</a:t>
            </a:r>
          </a:p>
        </p:txBody>
      </p:sp>
      <p:sp>
        <p:nvSpPr>
          <p:cNvPr id="15" name="">
            <a:extLst xmlns:a="http://schemas.openxmlformats.org/drawingml/2006/main">
              <a:ext uri="{FF2B5EF4-FFF2-40B4-BE49-F238E27FC236}">
                <a16:creationId xmlns:a16="http://schemas.microsoft.com/office/drawing/2014/main" id="{DCE7BB33-4428-4E86-B486-93BA7166423D}"/>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Исследуем метод принятия одного решения внутри этого процесса</a:t>
            </a:r>
          </a:p>
        </p:txBody>
      </p:sp>
      <p:sp>
        <p:nvSpPr>
          <p:cNvPr id="16" name="">
            <a:extLst xmlns:a="http://schemas.openxmlformats.org/drawingml/2006/main">
              <a:ext uri="{FF2B5EF4-FFF2-40B4-BE49-F238E27FC236}">
                <a16:creationId xmlns:a16="http://schemas.microsoft.com/office/drawing/2014/main" id="{16259F2B-F248-4852-B430-806B5EFE695B}"/>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03</a:t>
            </a:r>
          </a:p>
        </p:txBody>
      </p:sp>
    </p:spTree>
    <p:extLst>
      <p:ext uri="{BB962C8B-B14F-4D97-AF65-F5344CB8AC3E}">
        <p14:creationId xmlns:p14="http://schemas.microsoft.com/office/powerpoint/2010/main" val="2066612573"/>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2C38FE-BC02-4AE1-BD54-DE8FAF55F195}"/>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Отличие от ресторанного проекта</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286000"/>
                <a:gridCol w="4048125"/>
                <a:gridCol w="4486275"/>
              </a:tblGrid>
              <a:tr h="552450">
                <a:tc>
                  <a:txBody>
                    <a:bodyPr>
                      <a:noAutofit/>
                    </a:bodyPr>
                    <a:lstStyle/>
                    <a:p>
                      <a:r>
                        <a:rPr sz="1800" b="1">
                          <a:solidFill>
                            <a:srgbClr val="FFFFFF"/>
                          </a:solidFill>
                          <a:latin typeface="Helvetica Neue"/>
                          <a:ea typeface="Helvetica Neue"/>
                          <a:cs typeface="Helvetica Neue"/>
                        </a:rPr>
                        <a:t>Основание</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Ресторанный проект</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Наше предложение</a:t>
                      </a:r>
                    </a:p>
                  </a:txBody>
                  <a:tcPr marL="133350" marR="133350" marT="95250" marB="95250" anchor="ctr">
                    <a:solidFill>
                      <a:srgbClr val="182B3B"/>
                    </a:solidFill>
                  </a:tcPr>
                </a:tc>
              </a:tr>
              <a:tr h="1054100">
                <a:tc>
                  <a:txBody>
                    <a:bodyPr>
                      <a:noAutofit/>
                    </a:bodyPr>
                    <a:lstStyle/>
                    <a:p>
                      <a:r>
                        <a:rPr sz="1725" b="1">
                          <a:solidFill>
                            <a:srgbClr val="182B3B"/>
                          </a:solidFill>
                          <a:latin typeface="Helvetica Neue"/>
                          <a:ea typeface="Helvetica Neue"/>
                          <a:cs typeface="Helvetica Neue"/>
                        </a:rPr>
                        <a:t>Предмет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Подбор блюд по предпочтениям</a:t>
                      </a:r>
                    </a:p>
                    <a:p>
                      <a:r>
                        <a:rPr sz="1725" b="0">
                          <a:solidFill>
                            <a:srgbClr val="182B3B"/>
                          </a:solidFill>
                          <a:latin typeface="Helvetica Neue"/>
                          <a:ea typeface="Helvetica Neue"/>
                          <a:cs typeface="Helvetica Neue"/>
                        </a:rPr>
                        <a:t>и ограничениям пользователя</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Выбор метода решения</a:t>
                      </a:r>
                    </a:p>
                    <a:p>
                      <a:r>
                        <a:rPr sz="1725" b="0">
                          <a:solidFill>
                            <a:srgbClr val="182B3B"/>
                          </a:solidFill>
                          <a:latin typeface="Helvetica Neue"/>
                          <a:ea typeface="Helvetica Neue"/>
                          <a:cs typeface="Helvetica Neue"/>
                        </a:rPr>
                        <a:t>в фиксированном узле агента</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Результат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Прикладная рекомендательная</a:t>
                      </a:r>
                    </a:p>
                    <a:p>
                      <a:r>
                        <a:rPr sz="1725" b="0">
                          <a:solidFill>
                            <a:srgbClr val="182B3B"/>
                          </a:solidFill>
                          <a:latin typeface="Helvetica Neue"/>
                          <a:ea typeface="Helvetica Neue"/>
                          <a:cs typeface="Helvetica Neue"/>
                        </a:rPr>
                        <a:t>система по доступному описанию</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Вывод об условиях применимости</a:t>
                      </a:r>
                    </a:p>
                    <a:p>
                      <a:r>
                        <a:rPr sz="1725" b="0">
                          <a:solidFill>
                            <a:srgbClr val="182B3B"/>
                          </a:solidFill>
                          <a:latin typeface="Helvetica Neue"/>
                          <a:ea typeface="Helvetica Neue"/>
                          <a:cs typeface="Helvetica Neue"/>
                        </a:rPr>
                        <a:t>сравниваемых методов</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Эксперимент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Полная постановка и методы</a:t>
                      </a:r>
                    </a:p>
                    <a:p>
                      <a:r>
                        <a:rPr sz="1725" b="0">
                          <a:solidFill>
                            <a:srgbClr val="182B3B"/>
                          </a:solidFill>
                          <a:latin typeface="Helvetica Neue"/>
                          <a:ea typeface="Helvetica Neue"/>
                          <a:cs typeface="Helvetica Neue"/>
                        </a:rPr>
                        <a:t>нам пока неизвестны</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Меняем один узел и измеряем</a:t>
                      </a:r>
                    </a:p>
                    <a:p>
                      <a:r>
                        <a:rPr sz="1725" b="0">
                          <a:solidFill>
                            <a:srgbClr val="182B3B"/>
                          </a:solidFill>
                          <a:latin typeface="Helvetica Neue"/>
                          <a:ea typeface="Helvetica Neue"/>
                          <a:cs typeface="Helvetica Neue"/>
                        </a:rPr>
                        <a:t>последствия для всей системы</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9D185F25-C503-46F8-9009-8E5A9E9F54B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Пересечение алгоритмов и данных уточним по полным постановкам обеих работ</a:t>
            </a:r>
          </a:p>
        </p:txBody>
      </p:sp>
      <p:sp>
        <p:nvSpPr>
          <p:cNvPr id="4" name="">
            <a:extLst xmlns:a="http://schemas.openxmlformats.org/drawingml/2006/main">
              <a:ext uri="{FF2B5EF4-FFF2-40B4-BE49-F238E27FC236}">
                <a16:creationId xmlns:a16="http://schemas.microsoft.com/office/drawing/2014/main" id="{773AA4D7-468A-439F-9785-ADDC9C1E66EC}"/>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04</a:t>
            </a:r>
          </a:p>
        </p:txBody>
      </p:sp>
    </p:spTree>
    <p:extLst>
      <p:ext uri="{BB962C8B-B14F-4D97-AF65-F5344CB8AC3E}">
        <p14:creationId xmlns:p14="http://schemas.microsoft.com/office/powerpoint/2010/main" val="214977050"/>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FDD751-48FD-4F3C-885A-37C277DBEF2B}"/>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Интерфейс типизированного решения</a:t>
            </a:r>
          </a:p>
        </p:txBody>
      </p:sp>
      <p:sp>
        <p:nvSpPr>
          <p:cNvPr id="2" name="">
            <a:extLst xmlns:a="http://schemas.openxmlformats.org/drawingml/2006/main">
              <a:ext uri="{FF2B5EF4-FFF2-40B4-BE49-F238E27FC236}">
                <a16:creationId xmlns:a16="http://schemas.microsoft.com/office/drawing/2014/main" id="{BDF1723D-60C6-44B5-98AB-8A41C225F84C}"/>
              </a:ext>
            </a:extLst>
          </p:cNvPr>
          <p:cNvSpPr>
            <a:spLocks xmlns:a="http://schemas.openxmlformats.org/drawingml/2006/main" noGrp="1"/>
          </p:cNvSpPr>
          <p:nvPr/>
        </p:nvSpPr>
        <p:spPr>
          <a:xfrm xmlns:a="http://schemas.openxmlformats.org/drawingml/2006/main">
            <a:off x="685800" y="18097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36F6A"/>
                </a:solidFill>
                <a:latin typeface="Helvetica Neue"/>
                <a:ea typeface="Helvetica Neue"/>
                <a:cs typeface="Helvetica Neue"/>
              </a:defRPr>
            </a:pPr>
            <a:r>
              <a:rPr sz="2250" b="1">
                <a:solidFill>
                  <a:srgbClr val="236F6A"/>
                </a:solidFill>
                <a:latin typeface="Helvetica Neue"/>
                <a:ea typeface="Helvetica Neue"/>
                <a:cs typeface="Helvetica Neue"/>
              </a:rPr>
              <a:t>Что получает модель</a:t>
            </a:r>
          </a:p>
        </p:txBody>
      </p:sp>
      <p:sp>
        <p:nvSpPr>
          <p:cNvPr id="3" name="">
            <a:extLst xmlns:a="http://schemas.openxmlformats.org/drawingml/2006/main">
              <a:ext uri="{FF2B5EF4-FFF2-40B4-BE49-F238E27FC236}">
                <a16:creationId xmlns:a16="http://schemas.microsoft.com/office/drawing/2014/main" id="{AFF4F1F4-822B-4AAE-B980-4A939DC2F75F}"/>
              </a:ext>
            </a:extLst>
          </p:cNvPr>
          <p:cNvSpPr>
            <a:spLocks xmlns:a="http://schemas.openxmlformats.org/drawingml/2006/main" noGrp="1"/>
          </p:cNvSpPr>
          <p:nvPr/>
        </p:nvSpPr>
        <p:spPr>
          <a:xfrm xmlns:a="http://schemas.openxmlformats.org/drawingml/2006/main">
            <a:off x="6381750" y="1809750"/>
            <a:ext cx="512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36F6A"/>
                </a:solidFill>
                <a:latin typeface="Helvetica Neue"/>
                <a:ea typeface="Helvetica Neue"/>
                <a:cs typeface="Helvetica Neue"/>
              </a:defRPr>
            </a:pPr>
            <a:r>
              <a:rPr sz="2250" b="1">
                <a:solidFill>
                  <a:srgbClr val="236F6A"/>
                </a:solidFill>
                <a:latin typeface="Helvetica Neue"/>
                <a:ea typeface="Helvetica Neue"/>
                <a:cs typeface="Helvetica Neue"/>
              </a:rPr>
              <a:t>Что получает программа</a:t>
            </a:r>
          </a:p>
        </p:txBody>
      </p:sp>
      <p:sp>
        <p:nvSpPr>
          <p:cNvPr id="4" name="">
            <a:extLst xmlns:a="http://schemas.openxmlformats.org/drawingml/2006/main">
              <a:ext uri="{FF2B5EF4-FFF2-40B4-BE49-F238E27FC236}">
                <a16:creationId xmlns:a16="http://schemas.microsoft.com/office/drawing/2014/main" id="{0FE87FD6-86E0-436F-94DA-2EDD652BF413}"/>
              </a:ext>
            </a:extLst>
          </p:cNvPr>
          <p:cNvSpPr>
            <a:spLocks xmlns:a="http://schemas.openxmlformats.org/drawingml/2006/main" noGrp="1"/>
          </p:cNvSpPr>
          <p:nvPr/>
        </p:nvSpPr>
        <p:spPr>
          <a:xfrm xmlns:a="http://schemas.openxmlformats.org/drawingml/2006/main">
            <a:off x="685800" y="247650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Состояние до принятия решения</a:t>
            </a:r>
          </a:p>
        </p:txBody>
      </p:sp>
      <p:sp>
        <p:nvSpPr>
          <p:cNvPr id="5" name="">
            <a:extLst xmlns:a="http://schemas.openxmlformats.org/drawingml/2006/main">
              <a:ext uri="{FF2B5EF4-FFF2-40B4-BE49-F238E27FC236}">
                <a16:creationId xmlns:a16="http://schemas.microsoft.com/office/drawing/2014/main" id="{CCFFB17E-AA5A-4F22-9198-77C577D08413}"/>
              </a:ext>
            </a:extLst>
          </p:cNvPr>
          <p:cNvSpPr>
            <a:spLocks xmlns:a="http://schemas.openxmlformats.org/drawingml/2006/main" noGrp="1"/>
          </p:cNvSpPr>
          <p:nvPr/>
        </p:nvSpPr>
        <p:spPr>
          <a:xfrm xmlns:a="http://schemas.openxmlformats.org/drawingml/2006/main">
            <a:off x="685800" y="3419475"/>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Конкретный вопрос</a:t>
            </a:r>
          </a:p>
        </p:txBody>
      </p:sp>
      <p:sp>
        <p:nvSpPr>
          <p:cNvPr id="6" name="">
            <a:extLst xmlns:a="http://schemas.openxmlformats.org/drawingml/2006/main">
              <a:ext uri="{FF2B5EF4-FFF2-40B4-BE49-F238E27FC236}">
                <a16:creationId xmlns:a16="http://schemas.microsoft.com/office/drawing/2014/main" id="{55BE36DB-A3C5-4BBA-9855-CA19B5B653DF}"/>
              </a:ext>
            </a:extLst>
          </p:cNvPr>
          <p:cNvSpPr>
            <a:spLocks xmlns:a="http://schemas.openxmlformats.org/drawingml/2006/main" noGrp="1"/>
          </p:cNvSpPr>
          <p:nvPr/>
        </p:nvSpPr>
        <p:spPr>
          <a:xfrm xmlns:a="http://schemas.openxmlformats.org/drawingml/2006/main">
            <a:off x="685800" y="436245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Заранее заданные варианты ответа</a:t>
            </a:r>
          </a:p>
        </p:txBody>
      </p:sp>
      <p:sp>
        <p:nvSpPr>
          <p:cNvPr id="7" name="">
            <a:extLst xmlns:a="http://schemas.openxmlformats.org/drawingml/2006/main">
              <a:ext uri="{FF2B5EF4-FFF2-40B4-BE49-F238E27FC236}">
                <a16:creationId xmlns:a16="http://schemas.microsoft.com/office/drawing/2014/main" id="{FBC9C9C3-1B31-4515-BBAD-6CCB04378208}"/>
              </a:ext>
            </a:extLst>
          </p:cNvPr>
          <p:cNvSpPr>
            <a:spLocks xmlns:a="http://schemas.openxmlformats.org/drawingml/2006/main" noGrp="1"/>
          </p:cNvSpPr>
          <p:nvPr/>
        </p:nvSpPr>
        <p:spPr>
          <a:xfrm xmlns:a="http://schemas.openxmlformats.org/drawingml/2006/main">
            <a:off x="6381750" y="24765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Ответ из допустимого множества</a:t>
            </a:r>
          </a:p>
        </p:txBody>
      </p:sp>
      <p:sp>
        <p:nvSpPr>
          <p:cNvPr id="8" name="">
            <a:extLst xmlns:a="http://schemas.openxmlformats.org/drawingml/2006/main">
              <a:ext uri="{FF2B5EF4-FFF2-40B4-BE49-F238E27FC236}">
                <a16:creationId xmlns:a16="http://schemas.microsoft.com/office/drawing/2014/main" id="{39CF07CB-F671-4A0A-8506-AD6A25A0FF4A}"/>
              </a:ext>
            </a:extLst>
          </p:cNvPr>
          <p:cNvSpPr>
            <a:spLocks xmlns:a="http://schemas.openxmlformats.org/drawingml/2006/main" noGrp="1"/>
          </p:cNvSpPr>
          <p:nvPr/>
        </p:nvSpPr>
        <p:spPr>
          <a:xfrm xmlns:a="http://schemas.openxmlformats.org/drawingml/2006/main">
            <a:off x="6381750" y="3419475"/>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Вероятности вариантов</a:t>
            </a:r>
          </a:p>
        </p:txBody>
      </p:sp>
      <p:sp>
        <p:nvSpPr>
          <p:cNvPr id="9" name="">
            <a:extLst xmlns:a="http://schemas.openxmlformats.org/drawingml/2006/main">
              <a:ext uri="{FF2B5EF4-FFF2-40B4-BE49-F238E27FC236}">
                <a16:creationId xmlns:a16="http://schemas.microsoft.com/office/drawing/2014/main" id="{DD77D8E9-0BC5-4C54-BAF4-BD59B7D1FEFD}"/>
              </a:ext>
            </a:extLst>
          </p:cNvPr>
          <p:cNvSpPr>
            <a:spLocks xmlns:a="http://schemas.openxmlformats.org/drawingml/2006/main" noGrp="1"/>
          </p:cNvSpPr>
          <p:nvPr/>
        </p:nvSpPr>
        <p:spPr>
          <a:xfrm xmlns:a="http://schemas.openxmlformats.org/drawingml/2006/main">
            <a:off x="6381750" y="43624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Основание для применения правила передачи в LLM</a:t>
            </a:r>
          </a:p>
        </p:txBody>
      </p:sp>
      <p:sp>
        <p:nvSpPr>
          <p:cNvPr id="10" name="">
            <a:extLst xmlns:a="http://schemas.openxmlformats.org/drawingml/2006/main">
              <a:ext uri="{FF2B5EF4-FFF2-40B4-BE49-F238E27FC236}">
                <a16:creationId xmlns:a16="http://schemas.microsoft.com/office/drawing/2014/main" id="{104DB16D-D5E9-4D79-80C6-5B7654015B8F}"/>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System One: рабочее название интерфейса. Вероятность требует проверки калибровки</a:t>
            </a:r>
          </a:p>
        </p:txBody>
      </p:sp>
      <p:sp>
        <p:nvSpPr>
          <p:cNvPr id="11" name="">
            <a:extLst xmlns:a="http://schemas.openxmlformats.org/drawingml/2006/main">
              <a:ext uri="{FF2B5EF4-FFF2-40B4-BE49-F238E27FC236}">
                <a16:creationId xmlns:a16="http://schemas.microsoft.com/office/drawing/2014/main" id="{3115089F-7A2D-4C16-A27D-F8C13A20D310}"/>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05</a:t>
            </a:r>
          </a:p>
        </p:txBody>
      </p:sp>
    </p:spTree>
    <p:extLst>
      <p:ext uri="{BB962C8B-B14F-4D97-AF65-F5344CB8AC3E}">
        <p14:creationId xmlns:p14="http://schemas.microsoft.com/office/powerpoint/2010/main" val="279722190"/>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193CCC-AE14-403B-AFD4-233632D220C6}"/>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Контролируемая замена одного узла</a:t>
            </a:r>
          </a:p>
        </p:txBody>
      </p:sp>
      <p:sp>
        <p:nvSpPr>
          <p:cNvPr id="2" name="">
            <a:extLst xmlns:a="http://schemas.openxmlformats.org/drawingml/2006/main">
              <a:ext uri="{FF2B5EF4-FFF2-40B4-BE49-F238E27FC236}">
                <a16:creationId xmlns:a16="http://schemas.microsoft.com/office/drawing/2014/main" id="{B550E945-EF0C-4DAD-88D1-0D7E1470E516}"/>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Постоянные условия</a:t>
            </a:r>
          </a:p>
        </p:txBody>
      </p:sp>
      <p:sp>
        <p:nvSpPr>
          <p:cNvPr id="3" name="">
            <a:extLst xmlns:a="http://schemas.openxmlformats.org/drawingml/2006/main">
              <a:ext uri="{FF2B5EF4-FFF2-40B4-BE49-F238E27FC236}">
                <a16:creationId xmlns:a16="http://schemas.microsoft.com/office/drawing/2014/main" id="{C0CCB19F-77D7-4B74-8586-874D7A80801C}"/>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Те же задачи, среда, инструменты и модель диалога</a:t>
            </a:r>
          </a:p>
        </p:txBody>
      </p:sp>
      <p:sp>
        <p:nvSpPr>
          <p:cNvPr id="4" name="">
            <a:extLst xmlns:a="http://schemas.openxmlformats.org/drawingml/2006/main">
              <a:ext uri="{FF2B5EF4-FFF2-40B4-BE49-F238E27FC236}">
                <a16:creationId xmlns:a16="http://schemas.microsoft.com/office/drawing/2014/main" id="{6A2AEDEF-BC98-40BF-AEAF-DFBF5C14222C}"/>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Изменяемый фактор</a:t>
            </a:r>
          </a:p>
        </p:txBody>
      </p:sp>
      <p:sp>
        <p:nvSpPr>
          <p:cNvPr id="5" name="">
            <a:extLst xmlns:a="http://schemas.openxmlformats.org/drawingml/2006/main">
              <a:ext uri="{FF2B5EF4-FFF2-40B4-BE49-F238E27FC236}">
                <a16:creationId xmlns:a16="http://schemas.microsoft.com/office/drawing/2014/main" id="{29C9640C-1BAC-4CC5-A9AE-669114EE3B6C}"/>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Метод выбранного решения: LLM, дешёвый контроль, KEV или Laya</a:t>
            </a:r>
          </a:p>
        </p:txBody>
      </p:sp>
      <p:sp>
        <p:nvSpPr>
          <p:cNvPr id="6" name="">
            <a:extLst xmlns:a="http://schemas.openxmlformats.org/drawingml/2006/main">
              <a:ext uri="{FF2B5EF4-FFF2-40B4-BE49-F238E27FC236}">
                <a16:creationId xmlns:a16="http://schemas.microsoft.com/office/drawing/2014/main" id="{CC3E8207-9ED5-4341-965E-C8944FE93EBD}"/>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Первый узел</a:t>
            </a:r>
          </a:p>
        </p:txBody>
      </p:sp>
      <p:sp>
        <p:nvSpPr>
          <p:cNvPr id="7" name="">
            <a:extLst xmlns:a="http://schemas.openxmlformats.org/drawingml/2006/main">
              <a:ext uri="{FF2B5EF4-FFF2-40B4-BE49-F238E27FC236}">
                <a16:creationId xmlns:a16="http://schemas.microsoft.com/office/drawing/2014/main" id="{CBF93590-BF10-4292-BF5E-E17119163440}"/>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Маршрутизация обращения либо отбор RAG-контекста после пилота</a:t>
            </a:r>
          </a:p>
        </p:txBody>
      </p:sp>
      <p:sp>
        <p:nvSpPr>
          <p:cNvPr id="8" name="">
            <a:extLst xmlns:a="http://schemas.openxmlformats.org/drawingml/2006/main">
              <a:ext uri="{FF2B5EF4-FFF2-40B4-BE49-F238E27FC236}">
                <a16:creationId xmlns:a16="http://schemas.microsoft.com/office/drawing/2014/main" id="{8A0A1AAA-73F1-4708-A89D-6ACC634CB745}"/>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Проверка эффекта</a:t>
            </a:r>
          </a:p>
        </p:txBody>
      </p:sp>
      <p:sp>
        <p:nvSpPr>
          <p:cNvPr id="9" name="">
            <a:extLst xmlns:a="http://schemas.openxmlformats.org/drawingml/2006/main">
              <a:ext uri="{FF2B5EF4-FFF2-40B4-BE49-F238E27FC236}">
                <a16:creationId xmlns:a16="http://schemas.microsoft.com/office/drawing/2014/main" id="{72FD6B14-7727-4828-B687-4E98172FD3DC}"/>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Ошибки узла и полный результат агента на одинаковых задачах</a:t>
            </a:r>
          </a:p>
        </p:txBody>
      </p:sp>
      <p:sp>
        <p:nvSpPr>
          <p:cNvPr id="10" name="">
            <a:extLst xmlns:a="http://schemas.openxmlformats.org/drawingml/2006/main">
              <a:ext uri="{FF2B5EF4-FFF2-40B4-BE49-F238E27FC236}">
                <a16:creationId xmlns:a16="http://schemas.microsoft.com/office/drawing/2014/main" id="{02057F92-D862-4A69-A8FC-48CE50DEA94B}"/>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Сначала проверяем одну замену. Совместные замены потребуют отдельного опыта</a:t>
            </a:r>
          </a:p>
        </p:txBody>
      </p:sp>
      <p:sp>
        <p:nvSpPr>
          <p:cNvPr id="11" name="">
            <a:extLst xmlns:a="http://schemas.openxmlformats.org/drawingml/2006/main">
              <a:ext uri="{FF2B5EF4-FFF2-40B4-BE49-F238E27FC236}">
                <a16:creationId xmlns:a16="http://schemas.microsoft.com/office/drawing/2014/main" id="{9608168F-F344-4FB6-A927-909D2E1418DF}"/>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06</a:t>
            </a:r>
          </a:p>
        </p:txBody>
      </p:sp>
    </p:spTree>
    <p:extLst>
      <p:ext uri="{BB962C8B-B14F-4D97-AF65-F5344CB8AC3E}">
        <p14:creationId xmlns:p14="http://schemas.microsoft.com/office/powerpoint/2010/main" val="576993403"/>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672F8DA-C015-433A-8DF9-6EA45A2FFE51}"/>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Математическая постановка</a:t>
            </a:r>
          </a:p>
        </p:txBody>
      </p:sp>
      <p:sp>
        <p:nvSpPr>
          <p:cNvPr id="2" name="">
            <a:extLst xmlns:a="http://schemas.openxmlformats.org/drawingml/2006/main">
              <a:ext uri="{FF2B5EF4-FFF2-40B4-BE49-F238E27FC236}">
                <a16:creationId xmlns:a16="http://schemas.microsoft.com/office/drawing/2014/main" id="{264A0E25-6CAE-412A-8C35-921C571003CC}"/>
              </a:ext>
            </a:extLst>
          </p:cNvPr>
          <p:cNvSpPr>
            <a:spLocks xmlns:a="http://schemas.openxmlformats.org/drawingml/2006/main" noGrp="1"/>
          </p:cNvSpPr>
          <p:nvPr/>
        </p:nvSpPr>
        <p:spPr>
          <a:xfrm xmlns:a="http://schemas.openxmlformats.org/drawingml/2006/main">
            <a:off x="685800" y="1905000"/>
            <a:ext cx="5429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75" b="1">
                <a:solidFill>
                  <a:srgbClr val="236F6A"/>
                </a:solidFill>
                <a:latin typeface="Helvetica Neue"/>
                <a:ea typeface="Helvetica Neue"/>
                <a:cs typeface="Helvetica Neue"/>
              </a:defRPr>
            </a:pPr>
            <a:r>
              <a:rPr sz="3675" b="1">
                <a:solidFill>
                  <a:srgbClr val="236F6A"/>
                </a:solidFill>
                <a:latin typeface="Helvetica Neue"/>
                <a:ea typeface="Helvetica Neue"/>
                <a:cs typeface="Helvetica Neue"/>
              </a:rPr>
              <a:t>min  E[C(π, x)]</a:t>
            </a:r>
          </a:p>
          <a:p xmlns:a="http://schemas.openxmlformats.org/drawingml/2006/main">
            <a:pPr>
              <a:defRPr sz="3675" b="1">
                <a:solidFill>
                  <a:srgbClr val="236F6A"/>
                </a:solidFill>
                <a:latin typeface="Helvetica Neue"/>
                <a:ea typeface="Helvetica Neue"/>
                <a:cs typeface="Helvetica Neue"/>
              </a:defRPr>
            </a:pPr>
            <a:r>
              <a:rPr sz="3675" b="1">
                <a:solidFill>
                  <a:srgbClr val="236F6A"/>
                </a:solidFill>
                <a:latin typeface="Helvetica Neue"/>
                <a:ea typeface="Helvetica Neue"/>
                <a:cs typeface="Helvetica Neue"/>
              </a:rPr>
              <a:t>π ∈ Π</a:t>
            </a:r>
          </a:p>
        </p:txBody>
      </p:sp>
      <p:sp>
        <p:nvSpPr>
          <p:cNvPr id="3" name="">
            <a:extLst xmlns:a="http://schemas.openxmlformats.org/drawingml/2006/main">
              <a:ext uri="{FF2B5EF4-FFF2-40B4-BE49-F238E27FC236}">
                <a16:creationId xmlns:a16="http://schemas.microsoft.com/office/drawing/2014/main" id="{C9CC5DAC-A76C-47A1-9EF5-ED2C0F525FF4}"/>
              </a:ext>
            </a:extLst>
          </p:cNvPr>
          <p:cNvSpPr>
            <a:spLocks xmlns:a="http://schemas.openxmlformats.org/drawingml/2006/main" noGrp="1"/>
          </p:cNvSpPr>
          <p:nvPr/>
        </p:nvSpPr>
        <p:spPr>
          <a:xfrm xmlns:a="http://schemas.openxmlformats.org/drawingml/2006/main">
            <a:off x="685800" y="3381375"/>
            <a:ext cx="6057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82B3B"/>
                </a:solidFill>
                <a:latin typeface="Helvetica Neue"/>
                <a:ea typeface="Helvetica Neue"/>
                <a:cs typeface="Helvetica Neue"/>
              </a:defRPr>
            </a:pPr>
            <a:r>
              <a:rPr sz="2400" b="0">
                <a:solidFill>
                  <a:srgbClr val="182B3B"/>
                </a:solidFill>
                <a:latin typeface="Helvetica Neue"/>
                <a:ea typeface="Helvetica Neue"/>
                <a:cs typeface="Helvetica Neue"/>
              </a:rPr>
              <a:t>при  E[L(π, x)] − E[L(π₀, x)] ≤ ε</a:t>
            </a:r>
          </a:p>
        </p:txBody>
      </p:sp>
      <p:sp>
        <p:nvSpPr>
          <p:cNvPr id="4" name="">
            <a:extLst xmlns:a="http://schemas.openxmlformats.org/drawingml/2006/main">
              <a:ext uri="{FF2B5EF4-FFF2-40B4-BE49-F238E27FC236}">
                <a16:creationId xmlns:a16="http://schemas.microsoft.com/office/drawing/2014/main" id="{15AA9E7E-080A-417F-97F1-B2EA4C5C0910}"/>
              </a:ext>
            </a:extLst>
          </p:cNvPr>
          <p:cNvSpPr>
            <a:spLocks xmlns:a="http://schemas.openxmlformats.org/drawingml/2006/main" noGrp="1"/>
          </p:cNvSpPr>
          <p:nvPr/>
        </p:nvSpPr>
        <p:spPr>
          <a:xfrm xmlns:a="http://schemas.openxmlformats.org/drawingml/2006/main">
            <a:off x="6991350" y="1924050"/>
            <a:ext cx="119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x</a:t>
            </a:r>
          </a:p>
        </p:txBody>
      </p:sp>
      <p:sp>
        <p:nvSpPr>
          <p:cNvPr id="5" name="">
            <a:extLst xmlns:a="http://schemas.openxmlformats.org/drawingml/2006/main">
              <a:ext uri="{FF2B5EF4-FFF2-40B4-BE49-F238E27FC236}">
                <a16:creationId xmlns:a16="http://schemas.microsoft.com/office/drawing/2014/main" id="{D36E95FD-DD36-4FFB-B9CE-FE682D9BF75A}"/>
              </a:ext>
            </a:extLst>
          </p:cNvPr>
          <p:cNvSpPr>
            <a:spLocks xmlns:a="http://schemas.openxmlformats.org/drawingml/2006/main" noGrp="1"/>
          </p:cNvSpPr>
          <p:nvPr/>
        </p:nvSpPr>
        <p:spPr>
          <a:xfrm xmlns:a="http://schemas.openxmlformats.org/drawingml/2006/main">
            <a:off x="8334375" y="192405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задача из заданного распределения</a:t>
            </a:r>
          </a:p>
        </p:txBody>
      </p:sp>
      <p:sp>
        <p:nvSpPr>
          <p:cNvPr id="6" name="">
            <a:extLst xmlns:a="http://schemas.openxmlformats.org/drawingml/2006/main">
              <a:ext uri="{FF2B5EF4-FFF2-40B4-BE49-F238E27FC236}">
                <a16:creationId xmlns:a16="http://schemas.microsoft.com/office/drawing/2014/main" id="{09F3B385-8C67-4FB8-BC16-14FAF2B00E8C}"/>
              </a:ext>
            </a:extLst>
          </p:cNvPr>
          <p:cNvSpPr>
            <a:spLocks xmlns:a="http://schemas.openxmlformats.org/drawingml/2006/main" noGrp="1"/>
          </p:cNvSpPr>
          <p:nvPr/>
        </p:nvSpPr>
        <p:spPr>
          <a:xfrm xmlns:a="http://schemas.openxmlformats.org/drawingml/2006/main">
            <a:off x="6991350" y="2762250"/>
            <a:ext cx="119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π</a:t>
            </a:r>
          </a:p>
        </p:txBody>
      </p:sp>
      <p:sp>
        <p:nvSpPr>
          <p:cNvPr id="7" name="">
            <a:extLst xmlns:a="http://schemas.openxmlformats.org/drawingml/2006/main">
              <a:ext uri="{FF2B5EF4-FFF2-40B4-BE49-F238E27FC236}">
                <a16:creationId xmlns:a16="http://schemas.microsoft.com/office/drawing/2014/main" id="{F26F6A0D-2778-4792-B2BB-97275F37D49D}"/>
              </a:ext>
            </a:extLst>
          </p:cNvPr>
          <p:cNvSpPr>
            <a:spLocks xmlns:a="http://schemas.openxmlformats.org/drawingml/2006/main" noGrp="1"/>
          </p:cNvSpPr>
          <p:nvPr/>
        </p:nvSpPr>
        <p:spPr>
          <a:xfrm xmlns:a="http://schemas.openxmlformats.org/drawingml/2006/main">
            <a:off x="8334375" y="276225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политика выбора способа решения</a:t>
            </a:r>
          </a:p>
        </p:txBody>
      </p:sp>
      <p:sp>
        <p:nvSpPr>
          <p:cNvPr id="8" name="">
            <a:extLst xmlns:a="http://schemas.openxmlformats.org/drawingml/2006/main">
              <a:ext uri="{FF2B5EF4-FFF2-40B4-BE49-F238E27FC236}">
                <a16:creationId xmlns:a16="http://schemas.microsoft.com/office/drawing/2014/main" id="{CF3D131D-ABC2-4755-A0CC-99B7746255B1}"/>
              </a:ext>
            </a:extLst>
          </p:cNvPr>
          <p:cNvSpPr>
            <a:spLocks xmlns:a="http://schemas.openxmlformats.org/drawingml/2006/main" noGrp="1"/>
          </p:cNvSpPr>
          <p:nvPr/>
        </p:nvSpPr>
        <p:spPr>
          <a:xfrm xmlns:a="http://schemas.openxmlformats.org/drawingml/2006/main">
            <a:off x="6991350" y="3600450"/>
            <a:ext cx="119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C, L</a:t>
            </a:r>
          </a:p>
        </p:txBody>
      </p:sp>
      <p:sp>
        <p:nvSpPr>
          <p:cNvPr id="9" name="">
            <a:extLst xmlns:a="http://schemas.openxmlformats.org/drawingml/2006/main">
              <a:ext uri="{FF2B5EF4-FFF2-40B4-BE49-F238E27FC236}">
                <a16:creationId xmlns:a16="http://schemas.microsoft.com/office/drawing/2014/main" id="{59DC888A-D884-4F92-ACC0-D42BC773FF9D}"/>
              </a:ext>
            </a:extLst>
          </p:cNvPr>
          <p:cNvSpPr>
            <a:spLocks xmlns:a="http://schemas.openxmlformats.org/drawingml/2006/main" noGrp="1"/>
          </p:cNvSpPr>
          <p:nvPr/>
        </p:nvSpPr>
        <p:spPr>
          <a:xfrm xmlns:a="http://schemas.openxmlformats.org/drawingml/2006/main">
            <a:off x="8334375" y="360045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полная стоимость и потеря качества</a:t>
            </a:r>
          </a:p>
        </p:txBody>
      </p:sp>
      <p:sp>
        <p:nvSpPr>
          <p:cNvPr id="10" name="">
            <a:extLst xmlns:a="http://schemas.openxmlformats.org/drawingml/2006/main">
              <a:ext uri="{FF2B5EF4-FFF2-40B4-BE49-F238E27FC236}">
                <a16:creationId xmlns:a16="http://schemas.microsoft.com/office/drawing/2014/main" id="{312DA6C9-C0CC-437B-85B7-049EE743D79D}"/>
              </a:ext>
            </a:extLst>
          </p:cNvPr>
          <p:cNvSpPr>
            <a:spLocks xmlns:a="http://schemas.openxmlformats.org/drawingml/2006/main" noGrp="1"/>
          </p:cNvSpPr>
          <p:nvPr/>
        </p:nvSpPr>
        <p:spPr>
          <a:xfrm xmlns:a="http://schemas.openxmlformats.org/drawingml/2006/main">
            <a:off x="6991350" y="4438650"/>
            <a:ext cx="119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π₀, ε</a:t>
            </a:r>
          </a:p>
        </p:txBody>
      </p:sp>
      <p:sp>
        <p:nvSpPr>
          <p:cNvPr id="11" name="">
            <a:extLst xmlns:a="http://schemas.openxmlformats.org/drawingml/2006/main">
              <a:ext uri="{FF2B5EF4-FFF2-40B4-BE49-F238E27FC236}">
                <a16:creationId xmlns:a16="http://schemas.microsoft.com/office/drawing/2014/main" id="{7945FD0E-11F1-4A03-BA49-9D4A66524126}"/>
              </a:ext>
            </a:extLst>
          </p:cNvPr>
          <p:cNvSpPr>
            <a:spLocks xmlns:a="http://schemas.openxmlformats.org/drawingml/2006/main" noGrp="1"/>
          </p:cNvSpPr>
          <p:nvPr/>
        </p:nvSpPr>
        <p:spPr>
          <a:xfrm xmlns:a="http://schemas.openxmlformats.org/drawingml/2006/main">
            <a:off x="8334375" y="443865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исходная политика и допустимое ухудшение</a:t>
            </a:r>
          </a:p>
        </p:txBody>
      </p:sp>
      <p:sp>
        <p:nvSpPr>
          <p:cNvPr id="12" name="">
            <a:extLst xmlns:a="http://schemas.openxmlformats.org/drawingml/2006/main">
              <a:ext uri="{FF2B5EF4-FFF2-40B4-BE49-F238E27FC236}">
                <a16:creationId xmlns:a16="http://schemas.microsoft.com/office/drawing/2014/main" id="{F6C9DB4A-C7A7-4E0D-9DEC-15CBE4CA5D1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Предлагаемый каркас. Функцию потерь, ε и класс политик фиксируем до итогового теста</a:t>
            </a:r>
          </a:p>
        </p:txBody>
      </p:sp>
      <p:sp>
        <p:nvSpPr>
          <p:cNvPr id="13" name="">
            <a:extLst xmlns:a="http://schemas.openxmlformats.org/drawingml/2006/main">
              <a:ext uri="{FF2B5EF4-FFF2-40B4-BE49-F238E27FC236}">
                <a16:creationId xmlns:a16="http://schemas.microsoft.com/office/drawing/2014/main" id="{955AC9F6-82C6-4856-8A7B-D883C69E550E}"/>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07</a:t>
            </a:r>
          </a:p>
        </p:txBody>
      </p:sp>
    </p:spTree>
    <p:extLst>
      <p:ext uri="{BB962C8B-B14F-4D97-AF65-F5344CB8AC3E}">
        <p14:creationId xmlns:p14="http://schemas.microsoft.com/office/powerpoint/2010/main" val="1752335796"/>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4AD2285-A3A3-4F87-872A-36C3A764BABC}"/>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Правило передачи решения и цена ошибки</a:t>
            </a:r>
          </a:p>
        </p:txBody>
      </p:sp>
      <p:sp>
        <p:nvSpPr>
          <p:cNvPr id="2" name="">
            <a:extLst xmlns:a="http://schemas.openxmlformats.org/drawingml/2006/main">
              <a:ext uri="{FF2B5EF4-FFF2-40B4-BE49-F238E27FC236}">
                <a16:creationId xmlns:a16="http://schemas.microsoft.com/office/drawing/2014/main" id="{27A7F2E6-E905-419F-9385-96B3A1F055CC}"/>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Решение модели</a:t>
            </a:r>
          </a:p>
        </p:txBody>
      </p:sp>
      <p:sp>
        <p:nvSpPr>
          <p:cNvPr id="3" name="">
            <a:extLst xmlns:a="http://schemas.openxmlformats.org/drawingml/2006/main">
              <a:ext uri="{FF2B5EF4-FFF2-40B4-BE49-F238E27FC236}">
                <a16:creationId xmlns:a16="http://schemas.microsoft.com/office/drawing/2014/main" id="{78615BE8-080C-4837-91A5-890F18D0CBCA}"/>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Получаем вероятности допустимых ответов</a:t>
            </a:r>
          </a:p>
        </p:txBody>
      </p:sp>
      <p:sp>
        <p:nvSpPr>
          <p:cNvPr id="4" name="">
            <a:extLst xmlns:a="http://schemas.openxmlformats.org/drawingml/2006/main">
              <a:ext uri="{FF2B5EF4-FFF2-40B4-BE49-F238E27FC236}">
                <a16:creationId xmlns:a16="http://schemas.microsoft.com/office/drawing/2014/main" id="{AE487E96-5AD8-48E6-AB83-985E1AB5A14C}"/>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Политика</a:t>
            </a:r>
          </a:p>
        </p:txBody>
      </p:sp>
      <p:sp>
        <p:nvSpPr>
          <p:cNvPr id="5" name="">
            <a:extLst xmlns:a="http://schemas.openxmlformats.org/drawingml/2006/main">
              <a:ext uri="{FF2B5EF4-FFF2-40B4-BE49-F238E27FC236}">
                <a16:creationId xmlns:a16="http://schemas.microsoft.com/office/drawing/2014/main" id="{5BF313C7-8541-4EC6-9C6F-2B5CF536E4AC}"/>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При достаточной уверенности применяем ответ, иначе вызываем LLM</a:t>
            </a:r>
          </a:p>
        </p:txBody>
      </p:sp>
      <p:sp>
        <p:nvSpPr>
          <p:cNvPr id="6" name="">
            <a:extLst xmlns:a="http://schemas.openxmlformats.org/drawingml/2006/main">
              <a:ext uri="{FF2B5EF4-FFF2-40B4-BE49-F238E27FC236}">
                <a16:creationId xmlns:a16="http://schemas.microsoft.com/office/drawing/2014/main" id="{FD92C52A-2A90-49EA-8B33-DA0BE88516A6}"/>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Настройка</a:t>
            </a:r>
          </a:p>
        </p:txBody>
      </p:sp>
      <p:sp>
        <p:nvSpPr>
          <p:cNvPr id="7" name="">
            <a:extLst xmlns:a="http://schemas.openxmlformats.org/drawingml/2006/main">
              <a:ext uri="{FF2B5EF4-FFF2-40B4-BE49-F238E27FC236}">
                <a16:creationId xmlns:a16="http://schemas.microsoft.com/office/drawing/2014/main" id="{6132B3A0-04DE-4DEE-9D9F-A09878993FF9}"/>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Выбираем порог на отдельной калибровочной выборке</a:t>
            </a:r>
          </a:p>
        </p:txBody>
      </p:sp>
      <p:sp>
        <p:nvSpPr>
          <p:cNvPr id="8" name="">
            <a:extLst xmlns:a="http://schemas.openxmlformats.org/drawingml/2006/main">
              <a:ext uri="{FF2B5EF4-FFF2-40B4-BE49-F238E27FC236}">
                <a16:creationId xmlns:a16="http://schemas.microsoft.com/office/drawing/2014/main" id="{89E28AB2-848E-48AE-B051-A592E236732A}"/>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Анализ</a:t>
            </a:r>
          </a:p>
        </p:txBody>
      </p:sp>
      <p:sp>
        <p:nvSpPr>
          <p:cNvPr id="9" name="">
            <a:extLst xmlns:a="http://schemas.openxmlformats.org/drawingml/2006/main">
              <a:ext uri="{FF2B5EF4-FFF2-40B4-BE49-F238E27FC236}">
                <a16:creationId xmlns:a16="http://schemas.microsoft.com/office/drawing/2014/main" id="{13D1A341-6175-4E68-8F45-2DFCCA24165C}"/>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Сопоставляем риск ошибки, долю автоматизации и полные затраты</a:t>
            </a:r>
          </a:p>
        </p:txBody>
      </p:sp>
      <p:sp>
        <p:nvSpPr>
          <p:cNvPr id="10" name="">
            <a:extLst xmlns:a="http://schemas.openxmlformats.org/drawingml/2006/main">
              <a:ext uri="{FF2B5EF4-FFF2-40B4-BE49-F238E27FC236}">
                <a16:creationId xmlns:a16="http://schemas.microsoft.com/office/drawing/2014/main" id="{73146534-2370-4E14-B6CC-B92680281B25}"/>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Пороговое правило: кандидат. Его пригодность проверяем по реальным ошибкам узла</a:t>
            </a:r>
          </a:p>
        </p:txBody>
      </p:sp>
      <p:sp>
        <p:nvSpPr>
          <p:cNvPr id="11" name="">
            <a:extLst xmlns:a="http://schemas.openxmlformats.org/drawingml/2006/main">
              <a:ext uri="{FF2B5EF4-FFF2-40B4-BE49-F238E27FC236}">
                <a16:creationId xmlns:a16="http://schemas.microsoft.com/office/drawing/2014/main" id="{86B111C8-A7C1-4EE6-9878-E5CFB6494D4D}"/>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08</a:t>
            </a:r>
          </a:p>
        </p:txBody>
      </p:sp>
    </p:spTree>
    <p:extLst>
      <p:ext uri="{BB962C8B-B14F-4D97-AF65-F5344CB8AC3E}">
        <p14:creationId xmlns:p14="http://schemas.microsoft.com/office/powerpoint/2010/main" val="57583250"/>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E1620F2-FEFF-4BB5-ACAE-FB8E0ABC4630}"/>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Предлагаемый стенд: τ-knowledge</a:t>
            </a:r>
          </a:p>
        </p:txBody>
      </p:sp>
      <p:sp>
        <p:nvSpPr>
          <p:cNvPr id="2" name="">
            <a:extLst xmlns:a="http://schemas.openxmlformats.org/drawingml/2006/main">
              <a:ext uri="{FF2B5EF4-FFF2-40B4-BE49-F238E27FC236}">
                <a16:creationId xmlns:a16="http://schemas.microsoft.com/office/drawing/2014/main" id="{20071CDE-C64C-4099-96E7-9D3A21EC8771}"/>
              </a:ext>
            </a:extLst>
          </p:cNvPr>
          <p:cNvSpPr>
            <a:spLocks xmlns:a="http://schemas.openxmlformats.org/drawingml/2006/main" noGrp="1"/>
          </p:cNvSpPr>
          <p:nvPr/>
        </p:nvSpPr>
        <p:spPr>
          <a:xfrm xmlns:a="http://schemas.openxmlformats.org/drawingml/2006/main">
            <a:off x="685800" y="18097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36F6A"/>
                </a:solidFill>
                <a:latin typeface="Helvetica Neue"/>
                <a:ea typeface="Helvetica Neue"/>
                <a:cs typeface="Helvetica Neue"/>
              </a:defRPr>
            </a:pPr>
            <a:r>
              <a:rPr sz="2250" b="1">
                <a:solidFill>
                  <a:srgbClr val="236F6A"/>
                </a:solidFill>
                <a:latin typeface="Helvetica Neue"/>
                <a:ea typeface="Helvetica Neue"/>
                <a:cs typeface="Helvetica Neue"/>
              </a:rPr>
              <a:t>banking_knowledge</a:t>
            </a:r>
          </a:p>
        </p:txBody>
      </p:sp>
      <p:sp>
        <p:nvSpPr>
          <p:cNvPr id="3" name="">
            <a:extLst xmlns:a="http://schemas.openxmlformats.org/drawingml/2006/main">
              <a:ext uri="{FF2B5EF4-FFF2-40B4-BE49-F238E27FC236}">
                <a16:creationId xmlns:a16="http://schemas.microsoft.com/office/drawing/2014/main" id="{8569983C-9929-4BC8-B148-B99C386E2510}"/>
              </a:ext>
            </a:extLst>
          </p:cNvPr>
          <p:cNvSpPr>
            <a:spLocks xmlns:a="http://schemas.openxmlformats.org/drawingml/2006/main" noGrp="1"/>
          </p:cNvSpPr>
          <p:nvPr/>
        </p:nvSpPr>
        <p:spPr>
          <a:xfrm xmlns:a="http://schemas.openxmlformats.org/drawingml/2006/main">
            <a:off x="6381750" y="1809750"/>
            <a:ext cx="512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36F6A"/>
                </a:solidFill>
                <a:latin typeface="Helvetica Neue"/>
                <a:ea typeface="Helvetica Neue"/>
                <a:cs typeface="Helvetica Neue"/>
              </a:defRPr>
            </a:pPr>
            <a:r>
              <a:rPr sz="2250" b="1">
                <a:solidFill>
                  <a:srgbClr val="236F6A"/>
                </a:solidFill>
                <a:latin typeface="Helvetica Neue"/>
                <a:ea typeface="Helvetica Neue"/>
                <a:cs typeface="Helvetica Neue"/>
              </a:rPr>
              <a:t>Границы выводов</a:t>
            </a:r>
          </a:p>
        </p:txBody>
      </p:sp>
      <p:sp>
        <p:nvSpPr>
          <p:cNvPr id="4" name="">
            <a:extLst xmlns:a="http://schemas.openxmlformats.org/drawingml/2006/main">
              <a:ext uri="{FF2B5EF4-FFF2-40B4-BE49-F238E27FC236}">
                <a16:creationId xmlns:a16="http://schemas.microsoft.com/office/drawing/2014/main" id="{B6C6822C-3FC3-4EB7-9F9A-A42E32BDB2B5}"/>
              </a:ext>
            </a:extLst>
          </p:cNvPr>
          <p:cNvSpPr>
            <a:spLocks xmlns:a="http://schemas.openxmlformats.org/drawingml/2006/main" noGrp="1"/>
          </p:cNvSpPr>
          <p:nvPr/>
        </p:nvSpPr>
        <p:spPr>
          <a:xfrm xmlns:a="http://schemas.openxmlformats.org/drawingml/2006/main">
            <a:off x="685800" y="247650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Текстовые сервисные обращения</a:t>
            </a:r>
          </a:p>
        </p:txBody>
      </p:sp>
      <p:sp>
        <p:nvSpPr>
          <p:cNvPr id="5" name="">
            <a:extLst xmlns:a="http://schemas.openxmlformats.org/drawingml/2006/main">
              <a:ext uri="{FF2B5EF4-FFF2-40B4-BE49-F238E27FC236}">
                <a16:creationId xmlns:a16="http://schemas.microsoft.com/office/drawing/2014/main" id="{DE9C41F9-7250-4F0A-BA62-450A7EFA20D4}"/>
              </a:ext>
            </a:extLst>
          </p:cNvPr>
          <p:cNvSpPr>
            <a:spLocks xmlns:a="http://schemas.openxmlformats.org/drawingml/2006/main" noGrp="1"/>
          </p:cNvSpPr>
          <p:nvPr/>
        </p:nvSpPr>
        <p:spPr>
          <a:xfrm xmlns:a="http://schemas.openxmlformats.org/drawingml/2006/main">
            <a:off x="685800" y="3419475"/>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Поиск по базе знаний и операции</a:t>
            </a:r>
          </a:p>
        </p:txBody>
      </p:sp>
      <p:sp>
        <p:nvSpPr>
          <p:cNvPr id="6" name="">
            <a:extLst xmlns:a="http://schemas.openxmlformats.org/drawingml/2006/main">
              <a:ext uri="{FF2B5EF4-FFF2-40B4-BE49-F238E27FC236}">
                <a16:creationId xmlns:a16="http://schemas.microsoft.com/office/drawing/2014/main" id="{3C5A9061-3CC5-4475-A37B-92C70B400C13}"/>
              </a:ext>
            </a:extLst>
          </p:cNvPr>
          <p:cNvSpPr>
            <a:spLocks xmlns:a="http://schemas.openxmlformats.org/drawingml/2006/main" noGrp="1"/>
          </p:cNvSpPr>
          <p:nvPr/>
        </p:nvSpPr>
        <p:spPr>
          <a:xfrm xmlns:a="http://schemas.openxmlformats.org/drawingml/2006/main">
            <a:off x="685800" y="436245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Штатные среда, пользователь и оценивание</a:t>
            </a:r>
          </a:p>
        </p:txBody>
      </p:sp>
      <p:sp>
        <p:nvSpPr>
          <p:cNvPr id="7" name="">
            <a:extLst xmlns:a="http://schemas.openxmlformats.org/drawingml/2006/main">
              <a:ext uri="{FF2B5EF4-FFF2-40B4-BE49-F238E27FC236}">
                <a16:creationId xmlns:a16="http://schemas.microsoft.com/office/drawing/2014/main" id="{A1458DC3-9014-4C67-B571-805326EE70D8}"/>
              </a:ext>
            </a:extLst>
          </p:cNvPr>
          <p:cNvSpPr>
            <a:spLocks xmlns:a="http://schemas.openxmlformats.org/drawingml/2006/main" noGrp="1"/>
          </p:cNvSpPr>
          <p:nvPr/>
        </p:nvSpPr>
        <p:spPr>
          <a:xfrm xmlns:a="http://schemas.openxmlformats.org/drawingml/2006/main">
            <a:off x="6381750" y="24765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Синтетический банковский мир</a:t>
            </a:r>
          </a:p>
        </p:txBody>
      </p:sp>
      <p:sp>
        <p:nvSpPr>
          <p:cNvPr id="8" name="">
            <a:extLst xmlns:a="http://schemas.openxmlformats.org/drawingml/2006/main">
              <a:ext uri="{FF2B5EF4-FFF2-40B4-BE49-F238E27FC236}">
                <a16:creationId xmlns:a16="http://schemas.microsoft.com/office/drawing/2014/main" id="{E0074C3B-8B56-4414-A07F-C4F4466D8505}"/>
              </a:ext>
            </a:extLst>
          </p:cNvPr>
          <p:cNvSpPr>
            <a:spLocks xmlns:a="http://schemas.openxmlformats.org/drawingml/2006/main" noGrp="1"/>
          </p:cNvSpPr>
          <p:nvPr/>
        </p:nvSpPr>
        <p:spPr>
          <a:xfrm xmlns:a="http://schemas.openxmlformats.org/drawingml/2006/main">
            <a:off x="6381750" y="3419475"/>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Разбиение настройки и теста задаём явно</a:t>
            </a:r>
          </a:p>
        </p:txBody>
      </p:sp>
      <p:sp>
        <p:nvSpPr>
          <p:cNvPr id="9" name="">
            <a:extLst xmlns:a="http://schemas.openxmlformats.org/drawingml/2006/main">
              <a:ext uri="{FF2B5EF4-FFF2-40B4-BE49-F238E27FC236}">
                <a16:creationId xmlns:a16="http://schemas.microsoft.com/office/drawing/2014/main" id="{3FAA5B55-D0B9-4A26-9E1A-2C2F12B51599}"/>
              </a:ext>
            </a:extLst>
          </p:cNvPr>
          <p:cNvSpPr>
            <a:spLocks xmlns:a="http://schemas.openxmlformats.org/drawingml/2006/main" noGrp="1"/>
          </p:cNvSpPr>
          <p:nvPr/>
        </p:nvSpPr>
        <p:spPr>
          <a:xfrm xmlns:a="http://schemas.openxmlformats.org/drawingml/2006/main">
            <a:off x="6381750" y="43624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Ошибки промежуточных решений размечаем отдельно</a:t>
            </a:r>
          </a:p>
        </p:txBody>
      </p:sp>
      <p:sp>
        <p:nvSpPr>
          <p:cNvPr id="10" name="">
            <a:extLst xmlns:a="http://schemas.openxmlformats.org/drawingml/2006/main">
              <a:ext uri="{FF2B5EF4-FFF2-40B4-BE49-F238E27FC236}">
                <a16:creationId xmlns:a16="http://schemas.microsoft.com/office/drawing/2014/main" id="{36C0E23E-3F29-4594-BE73-A289A61FFFB9}"/>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Основной домен пока предложен. Retail подходит для отладки и возможной проверки переноса</a:t>
            </a:r>
          </a:p>
        </p:txBody>
      </p:sp>
      <p:sp>
        <p:nvSpPr>
          <p:cNvPr id="11" name="">
            <a:extLst xmlns:a="http://schemas.openxmlformats.org/drawingml/2006/main">
              <a:ext uri="{FF2B5EF4-FFF2-40B4-BE49-F238E27FC236}">
                <a16:creationId xmlns:a16="http://schemas.microsoft.com/office/drawing/2014/main" id="{FE43C10B-0E51-4CA5-9B83-00CBAF45EB9A}"/>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09</a:t>
            </a:r>
          </a:p>
        </p:txBody>
      </p:sp>
    </p:spTree>
    <p:extLst>
      <p:ext uri="{BB962C8B-B14F-4D97-AF65-F5344CB8AC3E}">
        <p14:creationId xmlns:p14="http://schemas.microsoft.com/office/powerpoint/2010/main" val="1827015183"/>
      </p:ext>
    </p:extLst>
  </p:cSld>
</p:sld>
</file>

<file path=ppt/slides/slide10.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D9C335C-E040-4486-AF94-7D377B41B42E}"/>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Методы для содержательного сравнения</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333625"/>
                <a:gridCol w="5143500"/>
                <a:gridCol w="3343275"/>
              </a:tblGrid>
              <a:tr h="552450">
                <a:tc>
                  <a:txBody>
                    <a:bodyPr>
                      <a:noAutofit/>
                    </a:bodyPr>
                    <a:lstStyle/>
                    <a:p>
                      <a:r>
                        <a:rPr sz="1800" b="1">
                          <a:solidFill>
                            <a:srgbClr val="FFFFFF"/>
                          </a:solidFill>
                          <a:latin typeface="Helvetica Neue"/>
                          <a:ea typeface="Helvetica Neue"/>
                          <a:cs typeface="Helvetica Neue"/>
                        </a:rPr>
                        <a:t>Вариант</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Роль в эксперименте</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Когда используем</a:t>
                      </a:r>
                    </a:p>
                  </a:txBody>
                  <a:tcPr marL="133350" marR="133350" marT="95250" marB="95250" anchor="ctr">
                    <a:solidFill>
                      <a:srgbClr val="182B3B"/>
                    </a:solidFill>
                  </a:tcPr>
                </a:tc>
              </a:tr>
              <a:tr h="790575">
                <a:tc>
                  <a:txBody>
                    <a:bodyPr>
                      <a:noAutofit/>
                    </a:bodyPr>
                    <a:lstStyle/>
                    <a:p>
                      <a:r>
                        <a:rPr sz="1725" b="1">
                          <a:solidFill>
                            <a:srgbClr val="182B3B"/>
                          </a:solidFill>
                          <a:latin typeface="Helvetica Neue"/>
                          <a:ea typeface="Helvetica Neue"/>
                          <a:cs typeface="Helvetica Neue"/>
                        </a:rPr>
                        <a:t>Исходный агент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Точка отсчёта сквозного качества и затрат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 каждом сравнении</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Дешёвый контроль</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Правила / классификатор</a:t>
                      </a:r>
                    </a:p>
                    <a:p>
                      <a:r>
                        <a:rPr sz="1725" b="0">
                          <a:solidFill>
                            <a:srgbClr val="182B3B"/>
                          </a:solidFill>
                          <a:latin typeface="Helvetica Neue"/>
                          <a:ea typeface="Helvetica Neue"/>
                          <a:cs typeface="Helvetica Neue"/>
                        </a:rPr>
                        <a:t>Reranker для документов</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По типу узла</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KEV или Laya</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Типизированное решение в том же узле</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После отбора кандидата</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Калибровка / адаптация</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Отдельное экспериментальное условие</a:t>
                      </a:r>
                    </a:p>
                    <a:p>
                      <a:r>
                        <a:rPr sz="1725" b="0">
                          <a:solidFill>
                            <a:srgbClr val="182B3B"/>
                          </a:solidFill>
                          <a:latin typeface="Helvetica Neue"/>
                          <a:ea typeface="Helvetica Neue"/>
                          <a:cs typeface="Helvetica Neue"/>
                        </a:rPr>
                        <a:t>с собственными затратами</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Если пилот даёт основание</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E93CCFA4-DB44-4E3D-AC26-0DE1E93D0816}"/>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Одного сравнения с дорогой LLM недостаточно для вывода о пользе метода</a:t>
            </a:r>
          </a:p>
        </p:txBody>
      </p:sp>
      <p:sp>
        <p:nvSpPr>
          <p:cNvPr id="4" name="">
            <a:extLst xmlns:a="http://schemas.openxmlformats.org/drawingml/2006/main">
              <a:ext uri="{FF2B5EF4-FFF2-40B4-BE49-F238E27FC236}">
                <a16:creationId xmlns:a16="http://schemas.microsoft.com/office/drawing/2014/main" id="{FA7EF09D-5548-4F90-9F80-7C1D7D6939A8}"/>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10</a:t>
            </a:r>
          </a:p>
        </p:txBody>
      </p:sp>
    </p:spTree>
    <p:extLst>
      <p:ext uri="{BB962C8B-B14F-4D97-AF65-F5344CB8AC3E}">
        <p14:creationId xmlns:p14="http://schemas.microsoft.com/office/powerpoint/2010/main" val="1449224307"/>
      </p:ext>
    </p:extLst>
  </p:cSld>
</p:sld>
</file>

<file path=ppt/slides/slide1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493F02-07C5-4BA2-A59D-1B3F24E5214F}"/>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Протокол без утечки тестовых данных</a:t>
            </a:r>
          </a:p>
        </p:txBody>
      </p:sp>
      <p:sp>
        <p:nvSpPr>
          <p:cNvPr id="2" name="">
            <a:extLst xmlns:a="http://schemas.openxmlformats.org/drawingml/2006/main">
              <a:ext uri="{FF2B5EF4-FFF2-40B4-BE49-F238E27FC236}">
                <a16:creationId xmlns:a16="http://schemas.microsoft.com/office/drawing/2014/main" id="{040FE45A-7360-4323-9B20-29D89C321862}"/>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Разбиение</a:t>
            </a:r>
          </a:p>
        </p:txBody>
      </p:sp>
      <p:sp>
        <p:nvSpPr>
          <p:cNvPr id="3" name="">
            <a:extLst xmlns:a="http://schemas.openxmlformats.org/drawingml/2006/main">
              <a:ext uri="{FF2B5EF4-FFF2-40B4-BE49-F238E27FC236}">
                <a16:creationId xmlns:a16="http://schemas.microsoft.com/office/drawing/2014/main" id="{0169AE7E-0893-4F70-9320-23FDC7BFD6B1}"/>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Сначала разделяем задачи и семейства процессов, затем извлекаем шаги</a:t>
            </a:r>
          </a:p>
        </p:txBody>
      </p:sp>
      <p:sp>
        <p:nvSpPr>
          <p:cNvPr id="4" name="">
            <a:extLst xmlns:a="http://schemas.openxmlformats.org/drawingml/2006/main">
              <a:ext uri="{FF2B5EF4-FFF2-40B4-BE49-F238E27FC236}">
                <a16:creationId xmlns:a16="http://schemas.microsoft.com/office/drawing/2014/main" id="{E96FF875-8378-4796-8209-0B68018D2886}"/>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Настройка</a:t>
            </a:r>
          </a:p>
        </p:txBody>
      </p:sp>
      <p:sp>
        <p:nvSpPr>
          <p:cNvPr id="5" name="">
            <a:extLst xmlns:a="http://schemas.openxmlformats.org/drawingml/2006/main">
              <a:ext uri="{FF2B5EF4-FFF2-40B4-BE49-F238E27FC236}">
                <a16:creationId xmlns:a16="http://schemas.microsoft.com/office/drawing/2014/main" id="{F5BBEDEA-4712-4A5B-87E7-DE792ED336B7}"/>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Обучение, калибровка и выбор порога проходят вне итогового теста</a:t>
            </a:r>
          </a:p>
        </p:txBody>
      </p:sp>
      <p:sp>
        <p:nvSpPr>
          <p:cNvPr id="6" name="">
            <a:extLst xmlns:a="http://schemas.openxmlformats.org/drawingml/2006/main">
              <a:ext uri="{FF2B5EF4-FFF2-40B4-BE49-F238E27FC236}">
                <a16:creationId xmlns:a16="http://schemas.microsoft.com/office/drawing/2014/main" id="{4381DC5C-8285-4395-910A-8F715DC321DB}"/>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Сравнение</a:t>
            </a:r>
          </a:p>
        </p:txBody>
      </p:sp>
      <p:sp>
        <p:nvSpPr>
          <p:cNvPr id="7" name="">
            <a:extLst xmlns:a="http://schemas.openxmlformats.org/drawingml/2006/main">
              <a:ext uri="{FF2B5EF4-FFF2-40B4-BE49-F238E27FC236}">
                <a16:creationId xmlns:a16="http://schemas.microsoft.com/office/drawing/2014/main" id="{F54FD0AC-5ADC-4619-8683-D732F2ACB196}"/>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Одинаковые задачи, фиксированные версии, повторы и интервалы</a:t>
            </a:r>
          </a:p>
        </p:txBody>
      </p:sp>
      <p:sp>
        <p:nvSpPr>
          <p:cNvPr id="8" name="">
            <a:extLst xmlns:a="http://schemas.openxmlformats.org/drawingml/2006/main">
              <a:ext uri="{FF2B5EF4-FFF2-40B4-BE49-F238E27FC236}">
                <a16:creationId xmlns:a16="http://schemas.microsoft.com/office/drawing/2014/main" id="{A102450C-367E-49BF-84DC-6128D7612AEA}"/>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Воспроизведение</a:t>
            </a:r>
          </a:p>
        </p:txBody>
      </p:sp>
      <p:sp>
        <p:nvSpPr>
          <p:cNvPr id="9" name="">
            <a:extLst xmlns:a="http://schemas.openxmlformats.org/drawingml/2006/main">
              <a:ext uri="{FF2B5EF4-FFF2-40B4-BE49-F238E27FC236}">
                <a16:creationId xmlns:a16="http://schemas.microsoft.com/office/drawing/2014/main" id="{12E0BEDD-C50B-41B5-B4E3-066A21E432C5}"/>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Сохраняем конфигурацию, журналы вызовов и проверку успеха</a:t>
            </a:r>
          </a:p>
        </p:txBody>
      </p:sp>
      <p:sp>
        <p:nvSpPr>
          <p:cNvPr id="10" name="">
            <a:extLst xmlns:a="http://schemas.openxmlformats.org/drawingml/2006/main">
              <a:ext uri="{FF2B5EF4-FFF2-40B4-BE49-F238E27FC236}">
                <a16:creationId xmlns:a16="http://schemas.microsoft.com/office/drawing/2014/main" id="{E94A26D3-E036-4279-8EB6-D33E48EC891F}"/>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Агент получает только наблюдаемое состояние. Скрытые цели и эталоны ему недоступны</a:t>
            </a:r>
          </a:p>
        </p:txBody>
      </p:sp>
      <p:sp>
        <p:nvSpPr>
          <p:cNvPr id="11" name="">
            <a:extLst xmlns:a="http://schemas.openxmlformats.org/drawingml/2006/main">
              <a:ext uri="{FF2B5EF4-FFF2-40B4-BE49-F238E27FC236}">
                <a16:creationId xmlns:a16="http://schemas.microsoft.com/office/drawing/2014/main" id="{057DC1D2-2A0A-44FA-BF11-D2F5AD70DD1D}"/>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11</a:t>
            </a:r>
          </a:p>
        </p:txBody>
      </p:sp>
    </p:spTree>
    <p:extLst>
      <p:ext uri="{BB962C8B-B14F-4D97-AF65-F5344CB8AC3E}">
        <p14:creationId xmlns:p14="http://schemas.microsoft.com/office/powerpoint/2010/main" val="590960435"/>
      </p:ext>
    </p:extLst>
  </p:cSld>
</p:sld>
</file>

<file path=ppt/slides/slide1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89704B-6C36-4648-8120-3FAB68AE88A3}"/>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Качество и полная цена решения</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286000"/>
                <a:gridCol w="5715000"/>
                <a:gridCol w="2819400"/>
              </a:tblGrid>
              <a:tr h="552450">
                <a:tc>
                  <a:txBody>
                    <a:bodyPr>
                      <a:noAutofit/>
                    </a:bodyPr>
                    <a:lstStyle/>
                    <a:p>
                      <a:r>
                        <a:rPr sz="1800" b="1">
                          <a:solidFill>
                            <a:srgbClr val="FFFFFF"/>
                          </a:solidFill>
                          <a:latin typeface="Helvetica Neue"/>
                          <a:ea typeface="Helvetica Neue"/>
                          <a:cs typeface="Helvetica Neue"/>
                        </a:rPr>
                        <a:t>Уровень</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Что учитываем</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Что показываем</a:t>
                      </a:r>
                    </a:p>
                  </a:txBody>
                  <a:tcPr marL="133350" marR="133350" marT="95250" marB="95250" anchor="ctr">
                    <a:solidFill>
                      <a:srgbClr val="182B3B"/>
                    </a:solidFill>
                  </a:tcPr>
                </a:tc>
              </a:tr>
              <a:tr h="790575">
                <a:tc>
                  <a:txBody>
                    <a:bodyPr>
                      <a:noAutofit/>
                    </a:bodyPr>
                    <a:lstStyle/>
                    <a:p>
                      <a:r>
                        <a:rPr sz="1725" b="1">
                          <a:solidFill>
                            <a:srgbClr val="182B3B"/>
                          </a:solidFill>
                          <a:latin typeface="Helvetica Neue"/>
                          <a:ea typeface="Helvetica Neue"/>
                          <a:cs typeface="Helvetica Neue"/>
                        </a:rPr>
                        <a:t>Агент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Успех задачи и типы ошибок</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Доля успехов</a:t>
                      </a:r>
                    </a:p>
                    <a:p>
                      <a:r>
                        <a:rPr sz="1725" b="0">
                          <a:solidFill>
                            <a:srgbClr val="182B3B"/>
                          </a:solidFill>
                          <a:latin typeface="Helvetica Neue"/>
                          <a:ea typeface="Helvetica Neue"/>
                          <a:cs typeface="Helvetica Neue"/>
                        </a:rPr>
                        <a:t>и интервалы</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Узел</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Ошибка выбора, калибровка, передача в LLM</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Метрики по задаче</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Стоимость</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Все вызовы, повторы, ошибки и fallback</a:t>
                      </a:r>
                    </a:p>
                    <a:p>
                      <a:r>
                        <a:rPr sz="1725" b="0">
                          <a:solidFill>
                            <a:srgbClr val="182B3B"/>
                          </a:solidFill>
                          <a:latin typeface="Helvetica Neue"/>
                          <a:ea typeface="Helvetica Neue"/>
                          <a:cs typeface="Helvetica Neue"/>
                        </a:rPr>
                        <a:t>Разметка и обучение учитываются отдельно</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На задачу</a:t>
                      </a:r>
                    </a:p>
                    <a:p>
                      <a:r>
                        <a:rPr sz="1725" b="0">
                          <a:solidFill>
                            <a:srgbClr val="182B3B"/>
                          </a:solidFill>
                          <a:latin typeface="Helvetica Neue"/>
                          <a:ea typeface="Helvetica Neue"/>
                          <a:cs typeface="Helvetica Neue"/>
                        </a:rPr>
                        <a:t>и на успех</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Задержка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Агент с инструментами отдельно от симулятора</a:t>
                      </a:r>
                    </a:p>
                    <a:p>
                      <a:r>
                        <a:rPr sz="1725" b="0">
                          <a:solidFill>
                            <a:srgbClr val="182B3B"/>
                          </a:solidFill>
                          <a:latin typeface="Helvetica Neue"/>
                          <a:ea typeface="Helvetica Neue"/>
                          <a:cs typeface="Helvetica Neue"/>
                        </a:rPr>
                        <a:t>Загрузка модели отдельно от прогретого режима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p50 и p95</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09E24209-92C8-4302-BD6F-14484733FCD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Стоимость успеха = все затраты серии / число успешных задач</a:t>
            </a:r>
          </a:p>
        </p:txBody>
      </p:sp>
      <p:sp>
        <p:nvSpPr>
          <p:cNvPr id="4" name="">
            <a:extLst xmlns:a="http://schemas.openxmlformats.org/drawingml/2006/main">
              <a:ext uri="{FF2B5EF4-FFF2-40B4-BE49-F238E27FC236}">
                <a16:creationId xmlns:a16="http://schemas.microsoft.com/office/drawing/2014/main" id="{DF639E30-C4F6-4E63-B5DA-56E7E455BDD7}"/>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12</a:t>
            </a:r>
          </a:p>
        </p:txBody>
      </p:sp>
    </p:spTree>
    <p:extLst>
      <p:ext uri="{BB962C8B-B14F-4D97-AF65-F5344CB8AC3E}">
        <p14:creationId xmlns:p14="http://schemas.microsoft.com/office/powerpoint/2010/main" val="1817414961"/>
      </p:ext>
    </p:extLst>
  </p:cSld>
</p:sld>
</file>

<file path=ppt/slides/slide1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6B1C03-219F-4730-9739-961BD101A977}"/>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Три самостоятельные ВКР</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571750"/>
                <a:gridCol w="5286375"/>
                <a:gridCol w="2962275"/>
              </a:tblGrid>
              <a:tr h="552450">
                <a:tc>
                  <a:txBody>
                    <a:bodyPr>
                      <a:noAutofit/>
                    </a:bodyPr>
                    <a:lstStyle/>
                    <a:p>
                      <a:r>
                        <a:rPr sz="1800" b="1">
                          <a:solidFill>
                            <a:srgbClr val="FFFFFF"/>
                          </a:solidFill>
                          <a:latin typeface="Helvetica Neue"/>
                          <a:ea typeface="Helvetica Neue"/>
                          <a:cs typeface="Helvetica Neue"/>
                        </a:rPr>
                        <a:t>Направление</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Самостоятельный вопрос</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Состояние</a:t>
                      </a:r>
                    </a:p>
                  </a:txBody>
                  <a:tcPr marL="133350" marR="133350" marT="95250" marB="95250" anchor="ctr">
                    <a:solidFill>
                      <a:srgbClr val="182B3B"/>
                    </a:solidFill>
                  </a:tcPr>
                </a:tc>
              </a:tr>
              <a:tr h="1054100">
                <a:tc>
                  <a:txBody>
                    <a:bodyPr>
                      <a:noAutofit/>
                    </a:bodyPr>
                    <a:lstStyle/>
                    <a:p>
                      <a:r>
                        <a:rPr sz="1725" b="1">
                          <a:solidFill>
                            <a:srgbClr val="182B3B"/>
                          </a:solidFill>
                          <a:latin typeface="Helvetica Neue"/>
                          <a:ea typeface="Helvetica Neue"/>
                          <a:cs typeface="Helvetica Neue"/>
                        </a:rPr>
                        <a:t>Маршрутизация</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Когда выгодно дешёвое решение</a:t>
                      </a:r>
                    </a:p>
                    <a:p>
                      <a:r>
                        <a:rPr sz="1725" b="0">
                          <a:solidFill>
                            <a:srgbClr val="182B3B"/>
                          </a:solidFill>
                          <a:latin typeface="Helvetica Neue"/>
                          <a:ea typeface="Helvetica Neue"/>
                          <a:cs typeface="Helvetica Neue"/>
                        </a:rPr>
                        <a:t>и когда нужна передача в LLM?</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Кандидат</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RAG-контекст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Какие фрагменты выбирать</a:t>
                      </a:r>
                    </a:p>
                    <a:p>
                      <a:r>
                        <a:rPr sz="1725" b="0">
                          <a:solidFill>
                            <a:srgbClr val="182B3B"/>
                          </a:solidFill>
                          <a:latin typeface="Helvetica Neue"/>
                          <a:ea typeface="Helvetica Neue"/>
                          <a:cs typeface="Helvetica Neue"/>
                        </a:rPr>
                        <a:t>при ограниченном бюджете контекста?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Кандидат</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GraphRAG</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Как выбор связей или путей</a:t>
                      </a:r>
                    </a:p>
                    <a:p>
                      <a:r>
                        <a:rPr sz="1725" b="0">
                          <a:solidFill>
                            <a:srgbClr val="182B3B"/>
                          </a:solidFill>
                          <a:latin typeface="Helvetica Neue"/>
                          <a:ea typeface="Helvetica Neue"/>
                          <a:cs typeface="Helvetica Neue"/>
                        </a:rPr>
                        <a:t>влияет на конечный ответ?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Условный кандидат</a:t>
                      </a:r>
                    </a:p>
                    <a:p>
                      <a:r>
                        <a:rPr sz="1725" b="0">
                          <a:solidFill>
                            <a:srgbClr val="182B3B"/>
                          </a:solidFill>
                          <a:latin typeface="Helvetica Neue"/>
                          <a:ea typeface="Helvetica Neue"/>
                          <a:cs typeface="Helvetica Neue"/>
                        </a:rPr>
                        <a:t>после пилота</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A8EA13EB-7DE5-40EB-B2D9-731A951B2F2F}"/>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Общая платформа. У каждого автора свои гипотезы, эксперименты, выводы и личный вклад</a:t>
            </a:r>
          </a:p>
        </p:txBody>
      </p:sp>
      <p:sp>
        <p:nvSpPr>
          <p:cNvPr id="4" name="">
            <a:extLst xmlns:a="http://schemas.openxmlformats.org/drawingml/2006/main">
              <a:ext uri="{FF2B5EF4-FFF2-40B4-BE49-F238E27FC236}">
                <a16:creationId xmlns:a16="http://schemas.microsoft.com/office/drawing/2014/main" id="{FE5730B2-582C-493C-AC60-0B3FBFE8A560}"/>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13</a:t>
            </a:r>
          </a:p>
        </p:txBody>
      </p:sp>
    </p:spTree>
    <p:extLst>
      <p:ext uri="{BB962C8B-B14F-4D97-AF65-F5344CB8AC3E}">
        <p14:creationId xmlns:p14="http://schemas.microsoft.com/office/powerpoint/2010/main" val="1281468165"/>
      </p:ext>
    </p:extLst>
  </p:cSld>
</p:sld>
</file>

<file path=ppt/slides/slide1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895F91-3311-4118-AF28-F9D51499D349}"/>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Первый этап и доступные ресурсы</a:t>
            </a:r>
          </a:p>
        </p:txBody>
      </p:sp>
      <p:sp>
        <p:nvSpPr>
          <p:cNvPr id="2" name="">
            <a:extLst xmlns:a="http://schemas.openxmlformats.org/drawingml/2006/main">
              <a:ext uri="{FF2B5EF4-FFF2-40B4-BE49-F238E27FC236}">
                <a16:creationId xmlns:a16="http://schemas.microsoft.com/office/drawing/2014/main" id="{7DADD3BD-F2DA-4C97-BF81-81D49F28AED1}"/>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1. Исходный агент</a:t>
            </a:r>
          </a:p>
        </p:txBody>
      </p:sp>
      <p:sp>
        <p:nvSpPr>
          <p:cNvPr id="3" name="">
            <a:extLst xmlns:a="http://schemas.openxmlformats.org/drawingml/2006/main">
              <a:ext uri="{FF2B5EF4-FFF2-40B4-BE49-F238E27FC236}">
                <a16:creationId xmlns:a16="http://schemas.microsoft.com/office/drawing/2014/main" id="{1438D781-5753-4DFF-A0EA-979F98CFB4BB}"/>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Воспроизводимый запуск и полный журнал качества, вызовов и времени</a:t>
            </a:r>
          </a:p>
        </p:txBody>
      </p:sp>
      <p:sp>
        <p:nvSpPr>
          <p:cNvPr id="4" name="">
            <a:extLst xmlns:a="http://schemas.openxmlformats.org/drawingml/2006/main">
              <a:ext uri="{FF2B5EF4-FFF2-40B4-BE49-F238E27FC236}">
                <a16:creationId xmlns:a16="http://schemas.microsoft.com/office/drawing/2014/main" id="{DF3524D8-037B-4231-B1DD-71928391C72B}"/>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2. Малый пилот</a:t>
            </a:r>
          </a:p>
        </p:txBody>
      </p:sp>
      <p:sp>
        <p:nvSpPr>
          <p:cNvPr id="5" name="">
            <a:extLst xmlns:a="http://schemas.openxmlformats.org/drawingml/2006/main">
              <a:ext uri="{FF2B5EF4-FFF2-40B4-BE49-F238E27FC236}">
                <a16:creationId xmlns:a16="http://schemas.microsoft.com/office/drawing/2014/main" id="{66027B0B-BD58-44D7-9337-F7B4A46EF120}"/>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Выбор узла по его ошибкам и расходам. Проверка памяти и длины входа</a:t>
            </a:r>
          </a:p>
        </p:txBody>
      </p:sp>
      <p:sp>
        <p:nvSpPr>
          <p:cNvPr id="6" name="">
            <a:extLst xmlns:a="http://schemas.openxmlformats.org/drawingml/2006/main">
              <a:ext uri="{FF2B5EF4-FFF2-40B4-BE49-F238E27FC236}">
                <a16:creationId xmlns:a16="http://schemas.microsoft.com/office/drawing/2014/main" id="{568EECAE-E6DE-46EB-A749-BDE82B2939A1}"/>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3. Один эксперимент</a:t>
            </a:r>
          </a:p>
        </p:txBody>
      </p:sp>
      <p:sp>
        <p:nvSpPr>
          <p:cNvPr id="7" name="">
            <a:extLst xmlns:a="http://schemas.openxmlformats.org/drawingml/2006/main">
              <a:ext uri="{FF2B5EF4-FFF2-40B4-BE49-F238E27FC236}">
                <a16:creationId xmlns:a16="http://schemas.microsoft.com/office/drawing/2014/main" id="{A111C127-9E8E-4250-B720-48BC845D2D6F}"/>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Исходный агент, дешёвый контроль и один кандидат</a:t>
            </a:r>
          </a:p>
        </p:txBody>
      </p:sp>
      <p:sp>
        <p:nvSpPr>
          <p:cNvPr id="8" name="">
            <a:extLst xmlns:a="http://schemas.openxmlformats.org/drawingml/2006/main">
              <a:ext uri="{FF2B5EF4-FFF2-40B4-BE49-F238E27FC236}">
                <a16:creationId xmlns:a16="http://schemas.microsoft.com/office/drawing/2014/main" id="{5DDFA062-61BB-499C-904D-7AA26B6C091A}"/>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4. Решение о расширении</a:t>
            </a:r>
          </a:p>
        </p:txBody>
      </p:sp>
      <p:sp>
        <p:nvSpPr>
          <p:cNvPr id="9" name="">
            <a:extLst xmlns:a="http://schemas.openxmlformats.org/drawingml/2006/main">
              <a:ext uri="{FF2B5EF4-FFF2-40B4-BE49-F238E27FC236}">
                <a16:creationId xmlns:a16="http://schemas.microsoft.com/office/drawing/2014/main" id="{1D788F54-9EC0-4AE4-8C86-3DFF6B79DF74}"/>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Дообучение, второй домен и GraphRAG зависят от результата</a:t>
            </a:r>
          </a:p>
        </p:txBody>
      </p:sp>
      <p:sp>
        <p:nvSpPr>
          <p:cNvPr id="10" name="">
            <a:extLst xmlns:a="http://schemas.openxmlformats.org/drawingml/2006/main">
              <a:ext uri="{FF2B5EF4-FFF2-40B4-BE49-F238E27FC236}">
                <a16:creationId xmlns:a16="http://schemas.microsoft.com/office/drawing/2014/main" id="{615B67A8-00F0-4028-BB5A-6380B050F87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M4 Pro, 24 ГБ RAM. GPU: до 30 000 ₽. Лимит API ещё нужно установить</a:t>
            </a:r>
          </a:p>
        </p:txBody>
      </p:sp>
      <p:sp>
        <p:nvSpPr>
          <p:cNvPr id="11" name="">
            <a:extLst xmlns:a="http://schemas.openxmlformats.org/drawingml/2006/main">
              <a:ext uri="{FF2B5EF4-FFF2-40B4-BE49-F238E27FC236}">
                <a16:creationId xmlns:a16="http://schemas.microsoft.com/office/drawing/2014/main" id="{F071D231-E6D8-4578-B2F5-836A6AE171AE}"/>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14</a:t>
            </a:r>
          </a:p>
        </p:txBody>
      </p:sp>
    </p:spTree>
    <p:extLst>
      <p:ext uri="{BB962C8B-B14F-4D97-AF65-F5344CB8AC3E}">
        <p14:creationId xmlns:p14="http://schemas.microsoft.com/office/powerpoint/2010/main" val="813339424"/>
      </p:ext>
    </p:extLst>
  </p:cSld>
</p:sld>
</file>

<file path=ppt/slides/slide1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C259B8-515D-4606-9B6E-E846ED3C1531}"/>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Научный результат и основные риски</a:t>
            </a:r>
          </a:p>
        </p:txBody>
      </p:sp>
      <p:sp>
        <p:nvSpPr>
          <p:cNvPr id="2" name="">
            <a:extLst xmlns:a="http://schemas.openxmlformats.org/drawingml/2006/main">
              <a:ext uri="{FF2B5EF4-FFF2-40B4-BE49-F238E27FC236}">
                <a16:creationId xmlns:a16="http://schemas.microsoft.com/office/drawing/2014/main" id="{DEAEBBFE-850F-4A00-AAF5-918E76E12D9F}"/>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Преимущество не обнаружено</a:t>
            </a:r>
          </a:p>
        </p:txBody>
      </p:sp>
      <p:sp>
        <p:nvSpPr>
          <p:cNvPr id="3" name="">
            <a:extLst xmlns:a="http://schemas.openxmlformats.org/drawingml/2006/main">
              <a:ext uri="{FF2B5EF4-FFF2-40B4-BE49-F238E27FC236}">
                <a16:creationId xmlns:a16="http://schemas.microsoft.com/office/drawing/2014/main" id="{FAC78480-4535-44CE-9B8B-79DE63930E1E}"/>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Сохраняем результат и объясняем границы применимости</a:t>
            </a:r>
          </a:p>
        </p:txBody>
      </p:sp>
      <p:sp>
        <p:nvSpPr>
          <p:cNvPr id="4" name="">
            <a:extLst xmlns:a="http://schemas.openxmlformats.org/drawingml/2006/main">
              <a:ext uri="{FF2B5EF4-FFF2-40B4-BE49-F238E27FC236}">
                <a16:creationId xmlns:a16="http://schemas.microsoft.com/office/drawing/2014/main" id="{E3790AFB-2635-4C88-A062-7CE1180937F9}"/>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Данных мало или домен узок</a:t>
            </a:r>
          </a:p>
        </p:txBody>
      </p:sp>
      <p:sp>
        <p:nvSpPr>
          <p:cNvPr id="5" name="">
            <a:extLst xmlns:a="http://schemas.openxmlformats.org/drawingml/2006/main">
              <a:ext uri="{FF2B5EF4-FFF2-40B4-BE49-F238E27FC236}">
                <a16:creationId xmlns:a16="http://schemas.microsoft.com/office/drawing/2014/main" id="{B98EE078-3684-4E57-A398-6B84D5125809}"/>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Показываем неопределённость и область допустимых выводов</a:t>
            </a:r>
          </a:p>
        </p:txBody>
      </p:sp>
      <p:sp>
        <p:nvSpPr>
          <p:cNvPr id="6" name="">
            <a:extLst xmlns:a="http://schemas.openxmlformats.org/drawingml/2006/main">
              <a:ext uri="{FF2B5EF4-FFF2-40B4-BE49-F238E27FC236}">
                <a16:creationId xmlns:a16="http://schemas.microsoft.com/office/drawing/2014/main" id="{483ACF6B-938D-4B8F-ACB5-B1E11923093E}"/>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Метод уже изучают</a:t>
            </a:r>
          </a:p>
        </p:txBody>
      </p:sp>
      <p:sp>
        <p:nvSpPr>
          <p:cNvPr id="7" name="">
            <a:extLst xmlns:a="http://schemas.openxmlformats.org/drawingml/2006/main">
              <a:ext uri="{FF2B5EF4-FFF2-40B4-BE49-F238E27FC236}">
                <a16:creationId xmlns:a16="http://schemas.microsoft.com/office/drawing/2014/main" id="{52708C34-5877-40AC-B00E-19E19A76F15E}"/>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Уточняем отличие по узлу, условиям и сквозным последствиям</a:t>
            </a:r>
          </a:p>
        </p:txBody>
      </p:sp>
      <p:sp>
        <p:nvSpPr>
          <p:cNvPr id="8" name="">
            <a:extLst xmlns:a="http://schemas.openxmlformats.org/drawingml/2006/main">
              <a:ext uri="{FF2B5EF4-FFF2-40B4-BE49-F238E27FC236}">
                <a16:creationId xmlns:a16="http://schemas.microsoft.com/office/drawing/2014/main" id="{2F9359B8-4349-4D18-8D7A-4A697651B5AE}"/>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Результат для ВКР</a:t>
            </a:r>
          </a:p>
        </p:txBody>
      </p:sp>
      <p:sp>
        <p:nvSpPr>
          <p:cNvPr id="9" name="">
            <a:extLst xmlns:a="http://schemas.openxmlformats.org/drawingml/2006/main">
              <a:ext uri="{FF2B5EF4-FFF2-40B4-BE49-F238E27FC236}">
                <a16:creationId xmlns:a16="http://schemas.microsoft.com/office/drawing/2014/main" id="{EE6E54A0-AE5E-44D4-9961-9D5BC52E8B41}"/>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Постановка, воспроизводимый агент, протокол и сравнительный анализ</a:t>
            </a:r>
          </a:p>
        </p:txBody>
      </p:sp>
      <p:sp>
        <p:nvSpPr>
          <p:cNvPr id="10" name="">
            <a:extLst xmlns:a="http://schemas.openxmlformats.org/drawingml/2006/main">
              <a:ext uri="{FF2B5EF4-FFF2-40B4-BE49-F238E27FC236}">
                <a16:creationId xmlns:a16="http://schemas.microsoft.com/office/drawing/2014/main" id="{8286E688-8F74-49CB-A85B-043B24E61C5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Новая архитектура, дообучение и три публикации остаются возможными расширениями</a:t>
            </a:r>
          </a:p>
        </p:txBody>
      </p:sp>
      <p:sp>
        <p:nvSpPr>
          <p:cNvPr id="11" name="">
            <a:extLst xmlns:a="http://schemas.openxmlformats.org/drawingml/2006/main">
              <a:ext uri="{FF2B5EF4-FFF2-40B4-BE49-F238E27FC236}">
                <a16:creationId xmlns:a16="http://schemas.microsoft.com/office/drawing/2014/main" id="{50228006-6D31-418D-B4ED-51BADAB1C743}"/>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15</a:t>
            </a:r>
          </a:p>
        </p:txBody>
      </p:sp>
    </p:spTree>
    <p:extLst>
      <p:ext uri="{BB962C8B-B14F-4D97-AF65-F5344CB8AC3E}">
        <p14:creationId xmlns:p14="http://schemas.microsoft.com/office/powerpoint/2010/main" val="1708589618"/>
      </p:ext>
    </p:extLst>
  </p:cSld>
</p:sld>
</file>

<file path=ppt/slides/slide1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400EA2-C85D-4CC4-86BD-2F28261E1CD8}"/>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Что предлагаем согласовать</a:t>
            </a:r>
          </a:p>
        </p:txBody>
      </p:sp>
      <p:sp>
        <p:nvSpPr>
          <p:cNvPr id="2" name="">
            <a:extLst xmlns:a="http://schemas.openxmlformats.org/drawingml/2006/main">
              <a:ext uri="{FF2B5EF4-FFF2-40B4-BE49-F238E27FC236}">
                <a16:creationId xmlns:a16="http://schemas.microsoft.com/office/drawing/2014/main" id="{3DCF3A3B-72D4-4D40-B1CD-DFA2CD3913C9}"/>
              </a:ext>
            </a:extLst>
          </p:cNvPr>
          <p:cNvSpPr>
            <a:spLocks xmlns:a="http://schemas.openxmlformats.org/drawingml/2006/main" noGrp="1"/>
          </p:cNvSpPr>
          <p:nvPr/>
        </p:nvSpPr>
        <p:spPr>
          <a:xfrm xmlns:a="http://schemas.openxmlformats.org/drawingml/2006/main">
            <a:off x="685800" y="18383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AC2E5F20-C4DE-4E78-8901-51CBA2894F85}"/>
              </a:ext>
            </a:extLst>
          </p:cNvPr>
          <p:cNvSpPr>
            <a:spLocks xmlns:a="http://schemas.openxmlformats.org/drawingml/2006/main" noGrp="1"/>
          </p:cNvSpPr>
          <p:nvPr/>
        </p:nvSpPr>
        <p:spPr>
          <a:xfrm xmlns:a="http://schemas.openxmlformats.org/drawingml/2006/main">
            <a:off x="1743075" y="183832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Исследовательский вопрос и отличие от ресторанного проекта</a:t>
            </a:r>
          </a:p>
        </p:txBody>
      </p:sp>
      <p:sp>
        <p:nvSpPr>
          <p:cNvPr id="4" name="">
            <a:extLst xmlns:a="http://schemas.openxmlformats.org/drawingml/2006/main">
              <a:ext uri="{FF2B5EF4-FFF2-40B4-BE49-F238E27FC236}">
                <a16:creationId xmlns:a16="http://schemas.microsoft.com/office/drawing/2014/main" id="{E47B6934-7440-4C60-9F8C-984EFE598A54}"/>
              </a:ext>
            </a:extLst>
          </p:cNvPr>
          <p:cNvSpPr>
            <a:spLocks xmlns:a="http://schemas.openxmlformats.org/drawingml/2006/main" noGrp="1"/>
          </p:cNvSpPr>
          <p:nvPr/>
        </p:nvSpPr>
        <p:spPr>
          <a:xfrm xmlns:a="http://schemas.openxmlformats.org/drawingml/2006/main">
            <a:off x="685800" y="27336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A786B4F-7700-4E81-911B-D475D93C1B0B}"/>
              </a:ext>
            </a:extLst>
          </p:cNvPr>
          <p:cNvSpPr>
            <a:spLocks xmlns:a="http://schemas.openxmlformats.org/drawingml/2006/main" noGrp="1"/>
          </p:cNvSpPr>
          <p:nvPr/>
        </p:nvSpPr>
        <p:spPr>
          <a:xfrm xmlns:a="http://schemas.openxmlformats.org/drawingml/2006/main">
            <a:off x="1743075" y="273367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Математический объект, функцию потерь и критерий сравнения</a:t>
            </a:r>
          </a:p>
        </p:txBody>
      </p:sp>
      <p:sp>
        <p:nvSpPr>
          <p:cNvPr id="6" name="">
            <a:extLst xmlns:a="http://schemas.openxmlformats.org/drawingml/2006/main">
              <a:ext uri="{FF2B5EF4-FFF2-40B4-BE49-F238E27FC236}">
                <a16:creationId xmlns:a16="http://schemas.microsoft.com/office/drawing/2014/main" id="{435A3180-367F-447A-B172-92C6ED687D5C}"/>
              </a:ext>
            </a:extLst>
          </p:cNvPr>
          <p:cNvSpPr>
            <a:spLocks xmlns:a="http://schemas.openxmlformats.org/drawingml/2006/main" noGrp="1"/>
          </p:cNvSpPr>
          <p:nvPr/>
        </p:nvSpPr>
        <p:spPr>
          <a:xfrm xmlns:a="http://schemas.openxmlformats.org/drawingml/2006/main">
            <a:off x="685800" y="36290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7568E15-B4CE-4E7D-B40C-CDA0328FB3B3}"/>
              </a:ext>
            </a:extLst>
          </p:cNvPr>
          <p:cNvSpPr>
            <a:spLocks xmlns:a="http://schemas.openxmlformats.org/drawingml/2006/main" noGrp="1"/>
          </p:cNvSpPr>
          <p:nvPr/>
        </p:nvSpPr>
        <p:spPr>
          <a:xfrm xmlns:a="http://schemas.openxmlformats.org/drawingml/2006/main">
            <a:off x="1743075" y="362902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Границы ВКР инициатора и его личного вклада</a:t>
            </a:r>
          </a:p>
        </p:txBody>
      </p:sp>
      <p:sp>
        <p:nvSpPr>
          <p:cNvPr id="8" name="">
            <a:extLst xmlns:a="http://schemas.openxmlformats.org/drawingml/2006/main">
              <a:ext uri="{FF2B5EF4-FFF2-40B4-BE49-F238E27FC236}">
                <a16:creationId xmlns:a16="http://schemas.microsoft.com/office/drawing/2014/main" id="{74C6C543-EAC7-4015-A20B-A3E10DE654A1}"/>
              </a:ext>
            </a:extLst>
          </p:cNvPr>
          <p:cNvSpPr>
            <a:spLocks xmlns:a="http://schemas.openxmlformats.org/drawingml/2006/main" noGrp="1"/>
          </p:cNvSpPr>
          <p:nvPr/>
        </p:nvSpPr>
        <p:spPr>
          <a:xfrm xmlns:a="http://schemas.openxmlformats.org/drawingml/2006/main">
            <a:off x="685800" y="45243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70DDBC22-B9C1-4D9F-924B-7BA39AAB8932}"/>
              </a:ext>
            </a:extLst>
          </p:cNvPr>
          <p:cNvSpPr>
            <a:spLocks xmlns:a="http://schemas.openxmlformats.org/drawingml/2006/main" noGrp="1"/>
          </p:cNvSpPr>
          <p:nvPr/>
        </p:nvSpPr>
        <p:spPr>
          <a:xfrm xmlns:a="http://schemas.openxmlformats.org/drawingml/2006/main">
            <a:off x="1743075" y="452437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Первый пилот и контрольные точки по календарю кафедры</a:t>
            </a:r>
          </a:p>
        </p:txBody>
      </p:sp>
      <p:sp>
        <p:nvSpPr>
          <p:cNvPr id="10" name="">
            <a:extLst xmlns:a="http://schemas.openxmlformats.org/drawingml/2006/main">
              <a:ext uri="{FF2B5EF4-FFF2-40B4-BE49-F238E27FC236}">
                <a16:creationId xmlns:a16="http://schemas.microsoft.com/office/drawing/2014/main" id="{97151924-719B-4094-B94D-EF97433CBCA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Ближайший предъявляемый результат: исходный агент и протокол первого сравнения</a:t>
            </a:r>
          </a:p>
        </p:txBody>
      </p:sp>
      <p:sp>
        <p:nvSpPr>
          <p:cNvPr id="11" name="">
            <a:extLst xmlns:a="http://schemas.openxmlformats.org/drawingml/2006/main">
              <a:ext uri="{FF2B5EF4-FFF2-40B4-BE49-F238E27FC236}">
                <a16:creationId xmlns:a16="http://schemas.microsoft.com/office/drawing/2014/main" id="{1A4EDDAE-E93C-402E-84BF-691C15FD36C6}"/>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16</a:t>
            </a:r>
          </a:p>
        </p:txBody>
      </p:sp>
    </p:spTree>
    <p:extLst>
      <p:ext uri="{BB962C8B-B14F-4D97-AF65-F5344CB8AC3E}">
        <p14:creationId xmlns:p14="http://schemas.microsoft.com/office/powerpoint/2010/main" val="264411006"/>
      </p:ext>
    </p:extLst>
  </p:cSld>
</p:sld>
</file>

<file path=ppt/slides/slide1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9490A3-2E58-4202-B397-87105797CF01}"/>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Резерв: источники и существующие работы</a:t>
            </a:r>
          </a:p>
        </p:txBody>
      </p:sp>
      <p:sp>
        <p:nvSpPr>
          <p:cNvPr id="2" name="">
            <a:extLst xmlns:a="http://schemas.openxmlformats.org/drawingml/2006/main">
              <a:ext uri="{FF2B5EF4-FFF2-40B4-BE49-F238E27FC236}">
                <a16:creationId xmlns:a16="http://schemas.microsoft.com/office/drawing/2014/main" id="{30D741AE-4465-41EE-8FE8-377C269E7680}"/>
              </a:ext>
            </a:extLst>
          </p:cNvPr>
          <p:cNvSpPr>
            <a:spLocks xmlns:a="http://schemas.openxmlformats.org/drawingml/2006/main" noGrp="1"/>
          </p:cNvSpPr>
          <p:nvPr/>
        </p:nvSpPr>
        <p:spPr>
          <a:xfrm xmlns:a="http://schemas.openxmlformats.org/drawingml/2006/main">
            <a:off x="685800" y="17716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a711138c9ec447b1"/>
              </a:rPr>
              <a:t>τ-bench</a:t>
            </a:r>
          </a:p>
        </p:txBody>
      </p:sp>
      <p:sp>
        <p:nvSpPr>
          <p:cNvPr id="3" name="">
            <a:extLst xmlns:a="http://schemas.openxmlformats.org/drawingml/2006/main">
              <a:ext uri="{FF2B5EF4-FFF2-40B4-BE49-F238E27FC236}">
                <a16:creationId xmlns:a16="http://schemas.microsoft.com/office/drawing/2014/main" id="{E8C86017-C08B-46BF-BE6C-92B128F79467}"/>
              </a:ext>
            </a:extLst>
          </p:cNvPr>
          <p:cNvSpPr>
            <a:spLocks xmlns:a="http://schemas.openxmlformats.org/drawingml/2006/main" noGrp="1"/>
          </p:cNvSpPr>
          <p:nvPr/>
        </p:nvSpPr>
        <p:spPr>
          <a:xfrm xmlns:a="http://schemas.openxmlformats.org/drawingml/2006/main">
            <a:off x="3971925" y="177165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Yao и соавт., ICLR 2025. Сервисный агент с инструментами</a:t>
            </a:r>
          </a:p>
        </p:txBody>
      </p:sp>
      <p:sp>
        <p:nvSpPr>
          <p:cNvPr id="4" name="">
            <a:extLst xmlns:a="http://schemas.openxmlformats.org/drawingml/2006/main">
              <a:ext uri="{FF2B5EF4-FFF2-40B4-BE49-F238E27FC236}">
                <a16:creationId xmlns:a16="http://schemas.microsoft.com/office/drawing/2014/main" id="{DF00A04F-5433-4F17-A981-9B2D4810A28D}"/>
              </a:ext>
            </a:extLst>
          </p:cNvPr>
          <p:cNvSpPr>
            <a:spLocks xmlns:a="http://schemas.openxmlformats.org/drawingml/2006/main" noGrp="1"/>
          </p:cNvSpPr>
          <p:nvPr/>
        </p:nvSpPr>
        <p:spPr>
          <a:xfrm xmlns:a="http://schemas.openxmlformats.org/drawingml/2006/main">
            <a:off x="685800" y="27051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c89ed671d1d74e82"/>
              </a:rPr>
              <a:t>τ-knowledge</a:t>
            </a:r>
          </a:p>
        </p:txBody>
      </p:sp>
      <p:sp>
        <p:nvSpPr>
          <p:cNvPr id="5" name="">
            <a:extLst xmlns:a="http://schemas.openxmlformats.org/drawingml/2006/main">
              <a:ext uri="{FF2B5EF4-FFF2-40B4-BE49-F238E27FC236}">
                <a16:creationId xmlns:a16="http://schemas.microsoft.com/office/drawing/2014/main" id="{4C9FD58B-7451-47F5-AEBC-317B6800EABB}"/>
              </a:ext>
            </a:extLst>
          </p:cNvPr>
          <p:cNvSpPr>
            <a:spLocks xmlns:a="http://schemas.openxmlformats.org/drawingml/2006/main" noGrp="1"/>
          </p:cNvSpPr>
          <p:nvPr/>
        </p:nvSpPr>
        <p:spPr>
          <a:xfrm xmlns:a="http://schemas.openxmlformats.org/drawingml/2006/main">
            <a:off x="3971925" y="270510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Shi и соавт., arXiv:2603.04370v1, 04.03.2026. Поиск и операции</a:t>
            </a:r>
          </a:p>
        </p:txBody>
      </p:sp>
      <p:sp>
        <p:nvSpPr>
          <p:cNvPr id="6" name="">
            <a:extLst xmlns:a="http://schemas.openxmlformats.org/drawingml/2006/main">
              <a:ext uri="{FF2B5EF4-FFF2-40B4-BE49-F238E27FC236}">
                <a16:creationId xmlns:a16="http://schemas.microsoft.com/office/drawing/2014/main" id="{0233FB52-5503-45FD-AD94-6E899B50DB66}"/>
              </a:ext>
            </a:extLst>
          </p:cNvPr>
          <p:cNvSpPr>
            <a:spLocks xmlns:a="http://schemas.openxmlformats.org/drawingml/2006/main" noGrp="1"/>
          </p:cNvSpPr>
          <p:nvPr/>
        </p:nvSpPr>
        <p:spPr>
          <a:xfrm xmlns:a="http://schemas.openxmlformats.org/drawingml/2006/main">
            <a:off x="685800" y="36385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ac84ef6b02724a45"/>
              </a:rPr>
              <a:t>System One</a:t>
            </a:r>
          </a:p>
        </p:txBody>
      </p:sp>
      <p:sp>
        <p:nvSpPr>
          <p:cNvPr id="7" name="">
            <a:extLst xmlns:a="http://schemas.openxmlformats.org/drawingml/2006/main">
              <a:ext uri="{FF2B5EF4-FFF2-40B4-BE49-F238E27FC236}">
                <a16:creationId xmlns:a16="http://schemas.microsoft.com/office/drawing/2014/main" id="{4470AC71-86BB-4A83-8E84-6AF08CCB69DC}"/>
              </a:ext>
            </a:extLst>
          </p:cNvPr>
          <p:cNvSpPr>
            <a:spLocks xmlns:a="http://schemas.openxmlformats.org/drawingml/2006/main" noGrp="1"/>
          </p:cNvSpPr>
          <p:nvPr/>
        </p:nvSpPr>
        <p:spPr>
          <a:xfrm xmlns:a="http://schemas.openxmlformats.org/drawingml/2006/main">
            <a:off x="3971925" y="363855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TypeSafe. Документация интерфейса решений и вероятностей</a:t>
            </a:r>
          </a:p>
        </p:txBody>
      </p:sp>
      <p:sp>
        <p:nvSpPr>
          <p:cNvPr id="8" name="">
            <a:extLst xmlns:a="http://schemas.openxmlformats.org/drawingml/2006/main">
              <a:ext uri="{FF2B5EF4-FFF2-40B4-BE49-F238E27FC236}">
                <a16:creationId xmlns:a16="http://schemas.microsoft.com/office/drawing/2014/main" id="{686B9E7E-A304-4DD6-AA11-085A22CE6BB5}"/>
              </a:ext>
            </a:extLst>
          </p:cNvPr>
          <p:cNvSpPr>
            <a:spLocks xmlns:a="http://schemas.openxmlformats.org/drawingml/2006/main" noGrp="1"/>
          </p:cNvSpPr>
          <p:nvPr/>
        </p:nvSpPr>
        <p:spPr>
          <a:xfrm xmlns:a="http://schemas.openxmlformats.org/drawingml/2006/main">
            <a:off x="685800" y="45720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24a600628d694eb6"/>
              </a:rPr>
              <a:t>Соседнее исследование</a:t>
            </a:r>
          </a:p>
        </p:txBody>
      </p:sp>
      <p:sp>
        <p:nvSpPr>
          <p:cNvPr id="9" name="">
            <a:extLst xmlns:a="http://schemas.openxmlformats.org/drawingml/2006/main">
              <a:ext uri="{FF2B5EF4-FFF2-40B4-BE49-F238E27FC236}">
                <a16:creationId xmlns:a16="http://schemas.microsoft.com/office/drawing/2014/main" id="{4E66246E-4E77-4C7B-9A1E-0B07FF0CD49C}"/>
              </a:ext>
            </a:extLst>
          </p:cNvPr>
          <p:cNvSpPr>
            <a:spLocks xmlns:a="http://schemas.openxmlformats.org/drawingml/2006/main" noGrp="1"/>
          </p:cNvSpPr>
          <p:nvPr/>
        </p:nvSpPr>
        <p:spPr>
          <a:xfrm xmlns:a="http://schemas.openxmlformats.org/drawingml/2006/main">
            <a:off x="3971925" y="457200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Liu, arXiv:2609.33401v1, 27.09.2026. Решения безопасности</a:t>
            </a:r>
          </a:p>
        </p:txBody>
      </p:sp>
      <p:sp>
        <p:nvSpPr>
          <p:cNvPr id="10" name="">
            <a:extLst xmlns:a="http://schemas.openxmlformats.org/drawingml/2006/main">
              <a:ext uri="{FF2B5EF4-FFF2-40B4-BE49-F238E27FC236}">
                <a16:creationId xmlns:a16="http://schemas.microsoft.com/office/drawing/2014/main" id="{DEFDDD00-710F-4AB4-9D02-8DDB6691419C}"/>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Источник постановки и ограничений проекта: wiki от 30.09.2026</a:t>
            </a:r>
          </a:p>
        </p:txBody>
      </p:sp>
      <p:sp>
        <p:nvSpPr>
          <p:cNvPr id="11" name="">
            <a:extLst xmlns:a="http://schemas.openxmlformats.org/drawingml/2006/main">
              <a:ext uri="{FF2B5EF4-FFF2-40B4-BE49-F238E27FC236}">
                <a16:creationId xmlns:a16="http://schemas.microsoft.com/office/drawing/2014/main" id="{D48A85D4-7EFB-47A4-94F1-648A0C356820}"/>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Р1</a:t>
            </a:r>
          </a:p>
        </p:txBody>
      </p:sp>
    </p:spTree>
    <p:extLst>
      <p:ext uri="{BB962C8B-B14F-4D97-AF65-F5344CB8AC3E}">
        <p14:creationId xmlns:p14="http://schemas.microsoft.com/office/powerpoint/2010/main" val="1775599800"/>
      </p:ext>
    </p:extLst>
  </p:cSld>
</p:sld>
</file>

<file path=ppt/slides/slide1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73B430-A36F-4DBC-868F-4392DB22D79D}"/>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Резерв: ответы на дополнительные вопросы</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3238500"/>
                <a:gridCol w="7581900"/>
              </a:tblGrid>
              <a:tr h="552450">
                <a:tc>
                  <a:txBody>
                    <a:bodyPr>
                      <a:noAutofit/>
                    </a:bodyPr>
                    <a:lstStyle/>
                    <a:p>
                      <a:r>
                        <a:rPr sz="1800" b="1">
                          <a:solidFill>
                            <a:srgbClr val="FFFFFF"/>
                          </a:solidFill>
                          <a:latin typeface="Helvetica Neue"/>
                          <a:ea typeface="Helvetica Neue"/>
                          <a:cs typeface="Helvetica Neue"/>
                        </a:rPr>
                        <a:t>Вопрос для обсуждения</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Предлагаемый ответ</a:t>
                      </a:r>
                    </a:p>
                  </a:txBody>
                  <a:tcPr marL="133350" marR="133350" marT="95250" marB="95250" anchor="ctr">
                    <a:solidFill>
                      <a:srgbClr val="182B3B"/>
                    </a:solidFill>
                  </a:tcPr>
                </a:tc>
              </a:tr>
              <a:tr h="790575">
                <a:tc>
                  <a:txBody>
                    <a:bodyPr>
                      <a:noAutofit/>
                    </a:bodyPr>
                    <a:lstStyle/>
                    <a:p>
                      <a:r>
                        <a:rPr sz="1725" b="1">
                          <a:solidFill>
                            <a:srgbClr val="182B3B"/>
                          </a:solidFill>
                          <a:latin typeface="Helvetica Neue"/>
                          <a:ea typeface="Helvetica Neue"/>
                          <a:cs typeface="Helvetica Neue"/>
                        </a:rPr>
                        <a:t>Где самостоятельный вклад?</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 формализации политики, протоколе, реализации</a:t>
                      </a:r>
                    </a:p>
                    <a:p>
                      <a:r>
                        <a:rPr sz="1725" b="0">
                          <a:solidFill>
                            <a:srgbClr val="182B3B"/>
                          </a:solidFill>
                          <a:latin typeface="Helvetica Neue"/>
                          <a:ea typeface="Helvetica Neue"/>
                          <a:cs typeface="Helvetica Neue"/>
                        </a:rPr>
                        <a:t>выбранного узла и анализе собственных опытов</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Зачем общая платформа?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Она сокращает повторную разработку среды</a:t>
                      </a:r>
                    </a:p>
                    <a:p>
                      <a:r>
                        <a:rPr sz="1725" b="0">
                          <a:solidFill>
                            <a:srgbClr val="182B3B"/>
                          </a:solidFill>
                          <a:latin typeface="Helvetica Neue"/>
                          <a:ea typeface="Helvetica Neue"/>
                          <a:cs typeface="Helvetica Neue"/>
                        </a:rPr>
                        <a:t>при раздельных вопросах и результатах авторов</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Если типизированная модель хуже?</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Обосновать отрицательный вывод и область применимости</a:t>
                      </a:r>
                    </a:p>
                    <a:p>
                      <a:r>
                        <a:rPr sz="1725" b="0">
                          <a:solidFill>
                            <a:srgbClr val="182B3B"/>
                          </a:solidFill>
                          <a:latin typeface="Helvetica Neue"/>
                          <a:ea typeface="Helvetica Neue"/>
                          <a:cs typeface="Helvetica Neue"/>
                        </a:rPr>
                        <a:t>на честном сравнении с исходным агентом и контролем</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Что потребуется к защите?</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Законченная постановка, ПО и анализ. Актуальное задание</a:t>
                      </a:r>
                    </a:p>
                    <a:p>
                      <a:r>
                        <a:rPr sz="1725" b="0">
                          <a:solidFill>
                            <a:srgbClr val="182B3B"/>
                          </a:solidFill>
                          <a:latin typeface="Helvetica Neue"/>
                          <a:ea typeface="Helvetica Neue"/>
                          <a:cs typeface="Helvetica Neue"/>
                        </a:rPr>
                        <a:t>и комплект требований ТПИ на 2027 год нужно подтвердить</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43827318-B47E-4BED-982B-01EA196DA304}"/>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Вопросы руководителя: пересечение тем и математика. Дополнительно обсуждаем риски проекта</a:t>
            </a:r>
          </a:p>
        </p:txBody>
      </p:sp>
      <p:sp>
        <p:nvSpPr>
          <p:cNvPr id="4" name="">
            <a:extLst xmlns:a="http://schemas.openxmlformats.org/drawingml/2006/main">
              <a:ext uri="{FF2B5EF4-FFF2-40B4-BE49-F238E27FC236}">
                <a16:creationId xmlns:a16="http://schemas.microsoft.com/office/drawing/2014/main" id="{66605DB4-94FC-4680-9C0D-00C91D6406F2}"/>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Р2</a:t>
            </a:r>
          </a:p>
        </p:txBody>
      </p:sp>
    </p:spTree>
    <p:extLst>
      <p:ext uri="{BB962C8B-B14F-4D97-AF65-F5344CB8AC3E}">
        <p14:creationId xmlns:p14="http://schemas.microsoft.com/office/powerpoint/2010/main" val="398340579"/>
      </p:ext>
    </p:extLst>
  </p:cSld>
</p:sld>
</file>

<file path=ppt/slides/slide1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9E3E48A-325F-4125-B11D-E67B33AE3DE7}"/>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Резерв: ограничения моделей и стенда</a:t>
            </a:r>
          </a:p>
        </p:txBody>
      </p:sp>
      <p:sp>
        <p:nvSpPr>
          <p:cNvPr id="2" name="">
            <a:extLst xmlns:a="http://schemas.openxmlformats.org/drawingml/2006/main">
              <a:ext uri="{FF2B5EF4-FFF2-40B4-BE49-F238E27FC236}">
                <a16:creationId xmlns:a16="http://schemas.microsoft.com/office/drawing/2014/main" id="{B05D44CA-1326-437C-8EDD-E4492AD2658A}"/>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KEV</a:t>
            </a:r>
          </a:p>
        </p:txBody>
      </p:sp>
      <p:sp>
        <p:nvSpPr>
          <p:cNvPr id="3" name="">
            <a:extLst xmlns:a="http://schemas.openxmlformats.org/drawingml/2006/main">
              <a:ext uri="{FF2B5EF4-FFF2-40B4-BE49-F238E27FC236}">
                <a16:creationId xmlns:a16="http://schemas.microsoft.com/office/drawing/2014/main" id="{5BE01AB3-6476-4D70-A98D-248EADB48A1A}"/>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Размеры и поколения различаются. Лимит serving не доказывает качество длинного входа</a:t>
            </a:r>
          </a:p>
        </p:txBody>
      </p:sp>
      <p:sp>
        <p:nvSpPr>
          <p:cNvPr id="4" name="">
            <a:extLst xmlns:a="http://schemas.openxmlformats.org/drawingml/2006/main">
              <a:ext uri="{FF2B5EF4-FFF2-40B4-BE49-F238E27FC236}">
                <a16:creationId xmlns:a16="http://schemas.microsoft.com/office/drawing/2014/main" id="{064538A1-867A-4C41-94BB-551DF871F5D6}"/>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Laya</a:t>
            </a:r>
          </a:p>
        </p:txBody>
      </p:sp>
      <p:sp>
        <p:nvSpPr>
          <p:cNvPr id="5" name="">
            <a:extLst xmlns:a="http://schemas.openxmlformats.org/drawingml/2006/main">
              <a:ext uri="{FF2B5EF4-FFF2-40B4-BE49-F238E27FC236}">
                <a16:creationId xmlns:a16="http://schemas.microsoft.com/office/drawing/2014/main" id="{56584E91-0F0F-419A-89D4-CB9277CB2BD0}"/>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Бюджет входа делится между состоянием, вопросом и вариантами. Молчаливое обрезание недопустимо</a:t>
            </a:r>
          </a:p>
        </p:txBody>
      </p:sp>
      <p:sp>
        <p:nvSpPr>
          <p:cNvPr id="6" name="">
            <a:extLst xmlns:a="http://schemas.openxmlformats.org/drawingml/2006/main">
              <a:ext uri="{FF2B5EF4-FFF2-40B4-BE49-F238E27FC236}">
                <a16:creationId xmlns:a16="http://schemas.microsoft.com/office/drawing/2014/main" id="{FF365C0B-5740-4FBC-BF98-0A85658A4A68}"/>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banking_knowledge</a:t>
            </a:r>
          </a:p>
        </p:txBody>
      </p:sp>
      <p:sp>
        <p:nvSpPr>
          <p:cNvPr id="7" name="">
            <a:extLst xmlns:a="http://schemas.openxmlformats.org/drawingml/2006/main">
              <a:ext uri="{FF2B5EF4-FFF2-40B4-BE49-F238E27FC236}">
                <a16:creationId xmlns:a16="http://schemas.microsoft.com/office/drawing/2014/main" id="{BD8BD31F-7102-4FC5-8B8C-F586E65DB1C4}"/>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97 задач в проверенном commit. Много шагов и повторов не заменяют разнообразие задач</a:t>
            </a:r>
          </a:p>
        </p:txBody>
      </p:sp>
      <p:sp>
        <p:nvSpPr>
          <p:cNvPr id="8" name="">
            <a:extLst xmlns:a="http://schemas.openxmlformats.org/drawingml/2006/main">
              <a:ext uri="{FF2B5EF4-FFF2-40B4-BE49-F238E27FC236}">
                <a16:creationId xmlns:a16="http://schemas.microsoft.com/office/drawing/2014/main" id="{EE8D82B5-2895-4EA2-9AE9-3CBD64249272}"/>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Измерения</a:t>
            </a:r>
          </a:p>
        </p:txBody>
      </p:sp>
      <p:sp>
        <p:nvSpPr>
          <p:cNvPr id="9" name="">
            <a:extLst xmlns:a="http://schemas.openxmlformats.org/drawingml/2006/main">
              <a:ext uri="{FF2B5EF4-FFF2-40B4-BE49-F238E27FC236}">
                <a16:creationId xmlns:a16="http://schemas.microsoft.com/office/drawing/2014/main" id="{EAFDD642-C210-4D61-806C-CD71A9F1CA88}"/>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Штатный счётчик не покрывает все внутренние вызовы. Полный учёт ведём отдельно</a:t>
            </a:r>
          </a:p>
        </p:txBody>
      </p:sp>
      <p:sp>
        <p:nvSpPr>
          <p:cNvPr id="10" name="">
            <a:extLst xmlns:a="http://schemas.openxmlformats.org/drawingml/2006/main">
              <a:ext uri="{FF2B5EF4-FFF2-40B4-BE49-F238E27FC236}">
                <a16:creationId xmlns:a16="http://schemas.microsoft.com/office/drawing/2014/main" id="{F1F5BD5F-FF86-4621-9AF0-75A18B45F2F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Аудит стенда: пакет 1.0.1, commit 5bfa7e3. Runtime и обучение ещё не проверены</a:t>
            </a:r>
          </a:p>
        </p:txBody>
      </p:sp>
      <p:sp>
        <p:nvSpPr>
          <p:cNvPr id="11" name="">
            <a:extLst xmlns:a="http://schemas.openxmlformats.org/drawingml/2006/main">
              <a:ext uri="{FF2B5EF4-FFF2-40B4-BE49-F238E27FC236}">
                <a16:creationId xmlns:a16="http://schemas.microsoft.com/office/drawing/2014/main" id="{0D8009E8-A9DD-4164-B23A-6C7447A4166C}"/>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Р3</a:t>
            </a:r>
          </a:p>
        </p:txBody>
      </p:sp>
    </p:spTree>
    <p:extLst>
      <p:ext uri="{BB962C8B-B14F-4D97-AF65-F5344CB8AC3E}">
        <p14:creationId xmlns:p14="http://schemas.microsoft.com/office/powerpoint/2010/main" val="9586837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2026-10-01T18:28:33.7600000Z</dcterms:created>
  <dcterms:modified xsi:type="dcterms:W3CDTF">2026-10-01T18:28:33.7600000Z</dcterms:modified>
</coreProperties>
</file>