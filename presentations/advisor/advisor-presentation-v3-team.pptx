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891cff5199845ee" /><Relationship Type="http://schemas.openxmlformats.org/officeDocument/2006/relationships/extended-properties" Target="/docProps/app.xml" Id="R586a573f3bdd459e" /><Relationship Type="http://schemas.openxmlformats.org/officeDocument/2006/relationships/officeDocument" Target="/ppt/presentation.xml" Id="R772b0b8db6e04415" /></Relationships>
</file>

<file path=ppt/presentation.xml><?xml version="1.0" encoding="utf-8"?>
<p:presentation xmlns:p="http://schemas.openxmlformats.org/presentationml/2006/main">
  <p:sldMasterIdLst>
    <p:sldMasterId xmlns:r="http://schemas.openxmlformats.org/officeDocument/2006/relationships" id="2147483648" r:id="Rb2b77ce5d9974527"/>
  </p:sldMasterIdLst>
  <p:notesMasterIdLst>
    <p:notesMasterId xmlns:r="http://schemas.openxmlformats.org/officeDocument/2006/relationships" r:id="Rd2232901fc314e94"/>
  </p:notesMasterIdLst>
  <p:sldIdLst>
    <p:sldId xmlns:r="http://schemas.openxmlformats.org/officeDocument/2006/relationships" id="256" r:id="R56f095e7704a4f84"/>
    <p:sldId xmlns:r="http://schemas.openxmlformats.org/officeDocument/2006/relationships" id="257" r:id="Rd6123f7aa5d14df1"/>
    <p:sldId xmlns:r="http://schemas.openxmlformats.org/officeDocument/2006/relationships" id="258" r:id="R28378b4b02fa454b"/>
    <p:sldId xmlns:r="http://schemas.openxmlformats.org/officeDocument/2006/relationships" id="259" r:id="Rd97e39fa192043d5"/>
    <p:sldId xmlns:r="http://schemas.openxmlformats.org/officeDocument/2006/relationships" id="260" r:id="R73effa445fab468a"/>
    <p:sldId xmlns:r="http://schemas.openxmlformats.org/officeDocument/2006/relationships" id="261" r:id="R11451f48bf5340ab"/>
    <p:sldId xmlns:r="http://schemas.openxmlformats.org/officeDocument/2006/relationships" id="262" r:id="Rdff8c3cb3699402b"/>
    <p:sldId xmlns:r="http://schemas.openxmlformats.org/officeDocument/2006/relationships" id="263" r:id="Re5c8995a4b4e46bb"/>
    <p:sldId xmlns:r="http://schemas.openxmlformats.org/officeDocument/2006/relationships" id="264" r:id="R86a5a89c229e4312"/>
    <p:sldId xmlns:r="http://schemas.openxmlformats.org/officeDocument/2006/relationships" id="265" r:id="Rdf4e8a91e9fe4c6b"/>
    <p:sldId xmlns:r="http://schemas.openxmlformats.org/officeDocument/2006/relationships" id="266" r:id="Rbb4f1387789345b2"/>
    <p:sldId xmlns:r="http://schemas.openxmlformats.org/officeDocument/2006/relationships" id="267" r:id="Rdbaf98bb917c4502"/>
    <p:sldId xmlns:ns1="http://schemas.openxmlformats.org/officeDocument/2006/relationships" id="315" ns1:id="RteamSlide15"/>
    <p:sldId xmlns:ns1="http://schemas.openxmlformats.org/officeDocument/2006/relationships" id="316" ns1:id="RteamSlide16"/>
    <p:sldId xmlns:r="http://schemas.openxmlformats.org/officeDocument/2006/relationships" id="268" r:id="R80f2c84683e54031"/>
    <p:sldId xmlns:r="http://schemas.openxmlformats.org/officeDocument/2006/relationships" id="269" r:id="R199a831af32d42b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xml version='1.0' encoding='utf-8'?>
<Relationships xmlns="http://schemas.openxmlformats.org/package/2006/relationships"><Relationship Type="http://schemas.openxmlformats.org/officeDocument/2006/relationships/theme" Target="/ppt/theme/theme1.xml" Id="Reff11d526624470a"/><Relationship Type="http://schemas.openxmlformats.org/officeDocument/2006/relationships/slideMaster" Target="/ppt/slideMasters/slideMaster1.xml" Id="Rb2b77ce5d9974527"/><Relationship Type="http://schemas.openxmlformats.org/officeDocument/2006/relationships/notesMaster" Target="/ppt/notesMasters/notesMaster1.xml" Id="Rd2232901fc314e94"/><Relationship Type="http://schemas.openxmlformats.org/officeDocument/2006/relationships/presProps" Target="/ppt/presProps.xml" Id="Ra2ec716de9a54e3c"/><Relationship Type="http://schemas.openxmlformats.org/officeDocument/2006/relationships/tableStyles" Target="/ppt/tableStyles.xml" Id="R4add0bbbf0484b7c"/><Relationship Type="http://schemas.openxmlformats.org/officeDocument/2006/relationships/slide" Target="/ppt/slides/slide1.xml" Id="R56f095e7704a4f84"/><Relationship Type="http://schemas.openxmlformats.org/officeDocument/2006/relationships/slide" Target="/ppt/slides/slide2.xml" Id="Rd6123f7aa5d14df1"/><Relationship Type="http://schemas.openxmlformats.org/officeDocument/2006/relationships/slide" Target="/ppt/slides/slide3.xml" Id="R28378b4b02fa454b"/><Relationship Type="http://schemas.openxmlformats.org/officeDocument/2006/relationships/slide" Target="/ppt/slides/slide4.xml" Id="Rd97e39fa192043d5"/><Relationship Type="http://schemas.openxmlformats.org/officeDocument/2006/relationships/slide" Target="/ppt/slides/slide5.xml" Id="R73effa445fab468a"/><Relationship Type="http://schemas.openxmlformats.org/officeDocument/2006/relationships/slide" Target="/ppt/slides/slide6.xml" Id="R11451f48bf5340ab"/><Relationship Type="http://schemas.openxmlformats.org/officeDocument/2006/relationships/slide" Target="/ppt/slides/slide7.xml" Id="Rdff8c3cb3699402b"/><Relationship Type="http://schemas.openxmlformats.org/officeDocument/2006/relationships/slide" Target="/ppt/slides/slide8.xml" Id="Re5c8995a4b4e46bb"/><Relationship Type="http://schemas.openxmlformats.org/officeDocument/2006/relationships/slide" Target="/ppt/slides/slide9.xml" Id="R86a5a89c229e4312"/><Relationship Type="http://schemas.openxmlformats.org/officeDocument/2006/relationships/slide" Target="/ppt/slides/slide10.xml" Id="Rdf4e8a91e9fe4c6b"/><Relationship Type="http://schemas.openxmlformats.org/officeDocument/2006/relationships/slide" Target="/ppt/slides/slide11.xml" Id="Rbb4f1387789345b2"/><Relationship Type="http://schemas.openxmlformats.org/officeDocument/2006/relationships/slide" Target="/ppt/slides/slide12.xml" Id="Rdbaf98bb917c4502"/><Relationship Type="http://schemas.openxmlformats.org/officeDocument/2006/relationships/slide" Target="/ppt/slides/slide13.xml" Id="R80f2c84683e54031"/><Relationship Type="http://schemas.openxmlformats.org/officeDocument/2006/relationships/slide" Target="/ppt/slides/slide14.xml" Id="R199a831af32d42be"/><Relationship Id="RteamSlide15" Type="http://schemas.openxmlformats.org/officeDocument/2006/relationships/slide" Target="/ppt/slides/slide15.xml"/><Relationship Id="RteamSlide16" Type="http://schemas.openxmlformats.org/officeDocument/2006/relationships/slide" Target="/ppt/slides/slide16.xml"/></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d5bef7e376644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6173f117bfd34107" /><Relationship Type="http://schemas.openxmlformats.org/officeDocument/2006/relationships/notesMaster" Target="/ppt/notesMasters/notesMaster1.xml" Id="R223d1029882044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b318bfaee4374243" /><Relationship Type="http://schemas.openxmlformats.org/officeDocument/2006/relationships/notesMaster" Target="/ppt/notesMasters/notesMaster1.xml" Id="R8547aba3f4f542ef" /></Relationships>
</file>

<file path=ppt/notesSlides/_rels/notesSlide3.xml.rels>&#65279;<?xml version="1.0" encoding="utf-8"?><Relationships xmlns="http://schemas.openxmlformats.org/package/2006/relationships"><Relationship Type="http://schemas.openxmlformats.org/officeDocument/2006/relationships/slide" Target="/ppt/slides/slide3.xml" Id="Rae8e7ea99c044777" /><Relationship Type="http://schemas.openxmlformats.org/officeDocument/2006/relationships/notesMaster" Target="/ppt/notesMasters/notesMaster1.xml" Id="R76fd81b4c5504ef4"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4ebbfe8e1342ae" /><Relationship Type="http://schemas.openxmlformats.org/officeDocument/2006/relationships/notesMaster" Target="/ppt/notesMasters/notesMaster1.xml" Id="Rf5309734b0c649da" /></Relationships>
</file>

<file path=ppt/notesSlides/_rels/notesSlide5.xml.rels>&#65279;<?xml version="1.0" encoding="utf-8"?><Relationships xmlns="http://schemas.openxmlformats.org/package/2006/relationships"><Relationship Type="http://schemas.openxmlformats.org/officeDocument/2006/relationships/slide" Target="/ppt/slides/slide5.xml" Id="R64b1211cf2f64ffa" /><Relationship Type="http://schemas.openxmlformats.org/officeDocument/2006/relationships/notesMaster" Target="/ppt/notesMasters/notesMaster1.xml" Id="R39114bf081314e82"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dd78b47fab4db6" /><Relationship Type="http://schemas.openxmlformats.org/officeDocument/2006/relationships/notesMaster" Target="/ppt/notesMasters/notesMaster1.xml" Id="Rb5a3328cb9f6492b" /></Relationships>
</file>

<file path=ppt/notesSlides/_rels/notesSlide7.xml.rels>&#65279;<?xml version="1.0" encoding="utf-8"?><Relationships xmlns="http://schemas.openxmlformats.org/package/2006/relationships"><Relationship Type="http://schemas.openxmlformats.org/officeDocument/2006/relationships/slide" Target="/ppt/slides/slide7.xml" Id="Ra397810737c3465a" /><Relationship Type="http://schemas.openxmlformats.org/officeDocument/2006/relationships/notesMaster" Target="/ppt/notesMasters/notesMaster1.xml" Id="R2c164908df4641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d82e942eac394471" /><Relationship Type="http://schemas.openxmlformats.org/officeDocument/2006/relationships/notesMaster" Target="/ppt/notesMasters/notesMaster1.xml" Id="Reb522a2e4dbe49b9" /></Relationships>
</file>

<file path=ppt/notesSlides/_rels/notesSlide9.xml.rels>&#65279;<?xml version="1.0" encoding="utf-8"?><Relationships xmlns="http://schemas.openxmlformats.org/package/2006/relationships"><Relationship Type="http://schemas.openxmlformats.org/officeDocument/2006/relationships/slide" Target="/ppt/slides/slide9.xml" Id="R3ec4eadad1204142" /><Relationship Type="http://schemas.openxmlformats.org/officeDocument/2006/relationships/notesMaster" Target="/ppt/notesMasters/notesMaster1.xml" Id="R556eefc69b354c5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2adc44dbb3e4c97" /><Relationship Type="http://schemas.openxmlformats.org/officeDocument/2006/relationships/notesMaster" Target="/ppt/notesMasters/notesMaster1.xml" Id="R30aefc2f9e6a4497"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d15118019c04051" /><Relationship Type="http://schemas.openxmlformats.org/officeDocument/2006/relationships/notesMaster" Target="/ppt/notesMasters/notesMaster1.xml" Id="R981632c5fb7d4177"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52104bb463944c87" /><Relationship Type="http://schemas.openxmlformats.org/officeDocument/2006/relationships/notesMaster" Target="/ppt/notesMasters/notesMaster1.xml" Id="Rcdd0d07405e0475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38d36e19d5414115" /><Relationship Type="http://schemas.openxmlformats.org/officeDocument/2006/relationships/notesMaster" Target="/ppt/notesMasters/notesMaster1.xml" Id="Raac726f1bb29453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9e62c0bba9fe44d8" /><Relationship Type="http://schemas.openxmlformats.org/officeDocument/2006/relationships/notesMaster" Target="/ppt/notesMasters/notesMaster1.xml" Id="R4eae12f81417487d" /></Relationships>
</file>

<file path=ppt/notesSlides/_rels/notesSlide15.xml.rels><?xml version='1.0' encoding='utf-8'?>
<Relationships xmlns="http://schemas.openxmlformats.org/package/2006/relationships"><Relationship Type="http://schemas.openxmlformats.org/officeDocument/2006/relationships/slide" Target="/ppt/slides/slide15.xml" Id="Rc8f895a16b724d54"/><Relationship Type="http://schemas.openxmlformats.org/officeDocument/2006/relationships/notesMaster" Target="/ppt/notesMasters/notesMaster1.xml" Id="R7852aafdc1894cb7"/></Relationships>
</file>

<file path=ppt/notesSlides/_rels/notesSlide16.xml.rels><?xml version='1.0' encoding='utf-8'?>
<Relationships xmlns="http://schemas.openxmlformats.org/package/2006/relationships"><Relationship Type="http://schemas.openxmlformats.org/officeDocument/2006/relationships/slide" Target="/ppt/slides/slide16.xml" Id="R539eab1a65f14165"/><Relationship Type="http://schemas.openxmlformats.org/officeDocument/2006/relationships/notesMaster" Target="/ppt/notesMasters/notesMaster1.xml" Id="R05b3a78a65ca4304"/></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0:35. Начало: 0:00.</a:t>
            </a:r>
          </a:p>
          <a:p xmlns:a="http://schemas.openxmlformats.org/drawingml/2006/main">
            <a:r>
              <a:t/>
            </a:r>
          </a:p>
          <a:p xmlns:a="http://schemas.openxmlformats.org/drawingml/2006/main">
            <a:r>
              <a:t>Мы предлагаем исследовать, как организовать работу языкового агента, чтобы отдельные решения внутри него требовали меньше затрат при допустимом качестве. Сначала поясню, что мы называем агентом и что он должен делать. Затем покажу, какую часть его работы предлагаем менять, как сформулировать математическую задачу и как проверить результат. Прикладная задача — обработка сервисных обращений: пользователь задаёт вопрос, система обращается к базе знаний и при необходимости выполняет операции. Сейчас подготовлены постановка и обзор существующих средств. Работающего агента и собственных экспериментальных результатов пока нет. Презентация описывает предлагаемое исследование и следующий этап работы.</a:t>
            </a:r>
          </a:p>
          <a:p xmlns:a="http://schemas.openxmlformats.org/drawingml/2006/main">
            <a:r>
              <a:t/>
            </a:r>
          </a:p>
          <a:p xmlns:a="http://schemas.openxmlformats.org/drawingml/2006/main">
            <a:r>
              <a:t>Источники:</a:t>
            </a:r>
          </a:p>
          <a:p xmlns:a="http://schemas.openxmlformats.org/drawingml/2006/main">
            <a:r>
              <a:t>/Users/nikitapasinin/.codex/worktrees/0ad2/diplom/docs/research.md</a:t>
            </a:r>
          </a:p>
          <a:p xmlns:a="http://schemas.openxmlformats.org/drawingml/2006/main">
            <a:r>
              <a:t>/Users/nikitapasinin/.codex/worktrees/0ad2/diplom/docs/research-overview.md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1:35. Начало: 0:35.</a:t>
            </a:r>
          </a:p>
          <a:p xmlns:a="http://schemas.openxmlformats.org/drawingml/2006/main">
            <a:r>
              <a:t/>
            </a:r>
          </a:p>
          <a:p xmlns:a="http://schemas.openxmlformats.org/drawingml/2006/main">
            <a:r>
              <a:t>Языковая модель, или LLM, — это модель вроде той, с которой пользователь общается в ChatGPT. В нашей системе она также понимает текст и формирует ответы. Но для выполнения сервисного обращения ей нужны внешние сведения и возможность действовать. Поэтому агент включает несколько связанных частей. База знаний хранит инструкции и правила предметной области. Инструменты — обычные программные функции: найти документ, прочитать сведения об обращении или выполнить предусмотренную операцию. Управляющая программа передаёт модели историю общения и доступные действия. Когда модель выбирает вызов инструмента, программа выполняет его, получает результат и добавляет его в историю. После этого модель может выбрать следующий шаг. Именно такой код организации работы в технических источниках называют harness. Дальше я буду говорить «управляющая программа». Важное отличие от привычного разговора с чат-ботом заключается в том, что мы проверяем и выполненные действия, и состояние системы после них. Наша задача — собрать воспроизводимый агент для такой среды и исследовать отдельные решения внутри него. Мы переиспользуем готовую языковую модель и готовую тестовую среду.</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/Users/nikitapasinin/.codex/worktrees/0ad2/diplom/docs/research.md#выбранное-направление-агента</a:t>
            </a:r>
          </a:p>
          <a:p xmlns:a="http://schemas.openxmlformats.org/drawingml/2006/main">
            <a:r>
              <a:t>/Users/nikitapasinin/.codex/worktrees/0ad2/diplom/docs/research.md#термины-и-кандидаты-моделей</a:t>
            </a:r>
          </a:p>
          <a:p xmlns:a="http://schemas.openxmlformats.org/drawingml/2006/main">
            <a:r>
              <a:t>/Users/nikitapasinin/.codex/worktrees/0ad2/diplom/docs/tau-bench-review.md#подключение-собственного-harness</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1:50. Начало: 2:10.</a:t>
            </a:r>
          </a:p>
          <a:p xmlns:a="http://schemas.openxmlformats.org/drawingml/2006/main">
            <a:r>
              <a:t/>
            </a:r>
          </a:p>
          <a:p xmlns:a="http://schemas.openxmlformats.org/drawingml/2006/main">
            <a:r>
              <a:t>На верхней схеме показана работа агента. Пользователь отправляет запрос. Модель с помощью управляющей программы выбирает следующий шаг: уточнить данные, искать инструкцию или вызвать инструмент. Инструмент возвращает результат, и модель получает обновлённую историю. Цикл повторяется, пока агент не закончит обращение или не достигнет установленного ограничения. Если нужен ответ пользователя, он также становится частью следующего шага. Таким образом, один запрос не обязательно равен одному вызову модели. На нижней схеме показано, как мы проверяем эту работу. Тестовая среда задаёт начальные данные и скрытое задание пользователя. Затем симулированный пользователь ведёт диалог с агентом, а инструменты меняют состояние тестовой системы. После завершения штатная проверка сопоставляет итоговое состояние и действия с критериями задачи. Мы отдельно записываем, удалось ли обращение, сколько потребовалось вызовов и сколько времени оно заняло. Проверка не сводится к тому, насколько убедительно звучит ответ. Для сравнения запускаем те же обращения с разными вариантами одного узла агента. В исходном варианте решение принимает языковая модель, в других вариантах — выбранный более дешёвый метод. Поэтому можем наблюдать последствия замены для всего обращения.</a:t>
            </a:r>
          </a:p>
          <a:p xmlns:a="http://schemas.openxmlformats.org/drawingml/2006/main">
            <a:r>
              <a:t/>
            </a:r>
          </a:p>
          <a:p xmlns:a="http://schemas.openxmlformats.org/drawingml/2006/main">
            <a:r>
              <a:t>Источники:</a:t>
            </a:r>
          </a:p>
          <a:p xmlns:a="http://schemas.openxmlformats.org/drawingml/2006/main">
            <a:r>
              <a:t>/Users/nikitapasinin/.codex/worktrees/0ad2/diplom/docs/tau-bench-review.md#семейство-и-состав</a:t>
            </a:r>
          </a:p>
          <a:p xmlns:a="http://schemas.openxmlformats.org/drawingml/2006/main">
            <a:r>
              <a:t>/Users/nikitapasinin/.codex/worktrees/0ad2/diplom/docs/tau-bench-review.md#оценивание</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1:55. Начало: 4:00.</a:t>
            </a:r>
          </a:p>
          <a:p xmlns:a="http://schemas.openxmlformats.org/drawingml/2006/main">
            <a:r>
              <a:t/>
            </a:r>
          </a:p>
          <a:p xmlns:a="http://schemas.openxmlformats.org/drawingml/2006/main">
            <a:r>
              <a:t>Теперь выделим один небольшой вопрос внутри описанного цикла. Например, по текущей истории надо выбрать следующее действие из заранее заданных вариантов: уточнить сведения, искать документ или передать обращение оператору. Это пример возможного узла, а не уже выбранная окончательная задача. Обычная языковая модель может решить такой вопрос, но мы хотим проверить другие способы. Типизированная модель получает описание ситуации и допустимые варианты. Она возвращает выбор и вероятности вариантов. Типизированным мы называем выход с заранее определённой структурой: программа знает, какие ответы допустимы и как их обработать. В математическом смысле это может быть классификация с условным распределением по конечному множеству действий. Но вход остаётся текстовым и зависит от текущего состояния диалога. Такой же подход можно проверить для отбора документов: модель оценивает, полезен ли фрагмент для текущего вопроса. Готовые модели этого класса уже существуют. Мы изучаем их применение в агенте и сравниваем с обычными методами классификации или ранжирования. Предположение о меньших затратах ещё надо проверить. Ограниченный формат ответа не гарантирует правильного выбора, а вероятности требуют отдельной проверки на нашей задаче. При этом диалог с пользователем по-прежнему может вести исходная языковая модель.</a:t>
            </a:r>
          </a:p>
          <a:p xmlns:a="http://schemas.openxmlformats.org/drawingml/2006/main">
            <a:r>
              <a:t/>
            </a:r>
          </a:p>
          <a:p xmlns:a="http://schemas.openxmlformats.org/drawingml/2006/main">
            <a:r>
              <a:t>Источники:</a:t>
            </a:r>
          </a:p>
          <a:p xmlns:a="http://schemas.openxmlformats.org/drawingml/2006/main">
            <a:r>
              <a:t>/Users/nikitapasinin/.codex/worktrees/0ad2/diplom/docs/research.md#термины-и-кандидаты-моделей</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5:55.</a:t>
            </a:r>
          </a:p>
          <a:p xmlns:a="http://schemas.openxmlformats.org/drawingml/2006/main">
            <a:r>
              <a:t/>
            </a:r>
          </a:p>
          <a:p xmlns:a="http://schemas.openxmlformats.org/drawingml/2006/main">
            <a:r>
              <a:t>Мы не будем сразу заменять все решения агента. Сначала получим исходный вариант и посмотрим, где он ошибается и на что расходует время и вызовы моделей. Это поможет выбрать один узел, который имеет смысл исследовать. Два возможных направления — выбор следующего действия и отбор документов для ответа. Второе связано с подходом RAG: перед ответом система находит документы и передаёт модели нужные фрагменты. Сам термин не меняет сути задачи — выбрать полезные сведения из найденных. После выбора узла сохраняем прежними среду, задания, инструменты и модель, которая ведёт диалог. Меняем только способ решения в этом месте. Если исследуем отбор документов, сохраняем одинаковый исходный набор найденных фрагментов и одинаковое ограничение на объём контекста. Сначала можно оценить качество отдельного выбора, чтобы отсеять неподходящие варианты. Но основной вывод делаем по полным обращениям. Более точный выбор документа не обязательно улучшит итоговый ответ, а экономия одного вызова может исчезнуть из-за дополнительных шагов. Такая замена одного узла позволяет связать наблюдаемую разницу с конкретным методом.</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/Users/nikitapasinin/.codex/worktrees/0ad2/diplom/docs/research.md#основа-протокола-оценки</a:t>
            </a:r>
          </a:p>
          <a:p xmlns:a="http://schemas.openxmlformats.org/drawingml/2006/main">
            <a:r>
              <a:t>/Users/nikitapasinin/.codex/worktrees/0ad2/diplom/docs/tau-bench-review.md#рекомендация-и-следующий-этап</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2:00. Начало: 7:20.</a:t>
            </a:r>
          </a:p>
          <a:p xmlns:a="http://schemas.openxmlformats.org/drawingml/2006/main">
            <a:r>
              <a:t/>
            </a:r>
          </a:p>
          <a:p xmlns:a="http://schemas.openxmlformats.org/drawingml/2006/main">
            <a:r>
              <a:t>Теперь сформулируем вопрос математически. Через x обозначим сервисное обращение, а через π — правило выбора метода для отдельного решения внутри агента. Например, правило может разрешать типизированной модели отвечать на достаточно надёжные случаи и передавать остальные исходной языковой модели. После полного выполнения обращения наблюдаем его стоимость C и потерю качества L. Ожидание берём по распределению обращений и случайности выполнения. Предлагаем искать правило с минимальной средней стоимостью при ограничении на ухудшение среднего качества относительно исходного правила π₀. ε задаёт допустимую величину этого ухудшения. Здесь пока нет выбранного численного ε: его надо согласовать по смыслу задачи до окончательного сравнения. Если тест оценивает обращение как успешное или неуспешное, возможный вариант потери — ноль при успехе и единица при неуспехе. Для разных последствий ошибок можно обсудить более содержательную функцию. Важно, что правило влияет на последующие шаги, поэтому C и L относятся к целому обращению, а не только к ответу одного классификатора. Математическая работа включает задание множества правил, настройку порога и статистическое сравнение. Ограничение оцениваем с учётом неопределённости, а задержку показываем отдельно. Это предложенный каркас постановки, который нужно уточнить под выбранный узел.</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/Users/nikitapasinin/.codex/worktrees/0ad2/diplom/docs/research.md#метрики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1:45. Начало: 9:20.</a:t>
            </a:r>
          </a:p>
          <a:p xmlns:a="http://schemas.openxmlformats.org/drawingml/2006/main">
            <a:r>
              <a:t/>
            </a:r>
          </a:p>
          <a:p xmlns:a="http://schemas.openxmlformats.org/drawingml/2006/main">
            <a:r>
              <a:t>Один понятный вариант правила π — порог по уверенности. Типизированная модель рассматривает допустимые действия и выдаёт вероятности. Если оценка выбранного действия проходит порог, управляющая программа использует это решение. Если не проходит, программа задаёт тот же вопрос исходной языковой модели. Это дополнительный вызов, и его стоимость включаем в результат. Здесь передача означает передачу вычисления другой модели. Её не надо смешивать с одним из возможных действий самого агента, например передачей обращения оператору. Мы исследуем, как выбор порога меняет качество и затраты. Низкий порог позволяет использовать компактную модель чаще, но может увеличить число ошибок. Высокий порог сокращает её участие, поэтому возможная экономия уменьшается. Однако это поведение не гарантировано: сначала надо проверить, что оценка уверенности помогает отличать надёжные решения от ненадёжных. Для этого нужна калибровка. Если модель даёт группе ответов вероятность около восьмидесяти процентов, смотрим, близка ли частота правильных ответов в этой группе к восьмидесяти процентам. Это объяснение смысла калибровки, а не наш измеренный результат. Затем подбираем порог на данных для настройки и проверяем уже зафиксированное правило на других обращениях. Уверенность сама по себе не служит гарантией.</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/Users/nikitapasinin/.codex/worktrees/0ad2/diplom/docs/research.md#математическое-содержание--предложение</a:t>
            </a:r>
          </a:p>
          <a:p xmlns:a="http://schemas.openxmlformats.org/drawingml/2006/main">
            <a:r>
              <a:t>/Users/nikitapasinin/.codex/worktrees/0ad2/diplom/docs/research.md#метрики</a:t>
            </a:r>
          </a:p>
          <a:p xmlns:a="http://schemas.openxmlformats.org/drawingml/2006/main">
            <a:r>
              <a:t>https://docs.typesafe.ai/concepts/system-one</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11:05.</a:t>
            </a:r>
          </a:p>
          <a:p xmlns:a="http://schemas.openxmlformats.org/drawingml/2006/main">
            <a:r>
              <a:t/>
            </a:r>
          </a:p>
          <a:p xmlns:a="http://schemas.openxmlformats.org/drawingml/2006/main">
            <a:r>
              <a:t>Чтобы не создавать весь тестовый мир самостоятельно, предлагаем использовать семейство τ-bench. Это готовая среда с задачами для сервисного агента, инструментами и симуляцией пользователя. Банковская часть называется τ-knowledge, а в коде — banking_knowledge. Она требует одновременно находить документы и выполнять операции. Таким образом, подходит под задачу, которую мы описали в начале. У агента есть общие инструкции и доступные функции. Симулированный пользователь сообщает запрос и отвечает по своей роли. По завершении среда проверяет предусмотренные действия и состояние системы. Конкретная проверка зависит от задачи, поэтому не называем весь набор исключительно проверкой одного бизнес-поля. В документации проекта уже разобраны данные и интерфейс подключения нашего агента. Но запуск среды ещё предстоит проверить. Банковский мир синтетический: мы не работаем с реальными счетами и персональными данными клиентов. Поэтому вывод будет относиться прежде всего к этому набору сервисных задач. Для первых проверок рассматриваем более простой домен магазина, который в репозитории называется retail. Это поможет отладить выполнение полного диалога, прежде чем переходить к более сложному поиску по базе знаний. Основной домен окончательно закрепим по итогам малой серии.</a:t>
            </a:r>
          </a:p>
          <a:p xmlns:a="http://schemas.openxmlformats.org/drawingml/2006/main">
            <a:r>
              <a:t/>
            </a:r>
          </a:p>
          <a:p xmlns:a="http://schemas.openxmlformats.org/drawingml/2006/main">
            <a:r>
              <a:t>Источники:</a:t>
            </a:r>
          </a:p>
          <a:p xmlns:a="http://schemas.openxmlformats.org/drawingml/2006/main">
            <a:r>
              <a:t>/Users/nikitapasinin/.codex/worktrees/0ad2/diplom/docs/tau-bench-review.md</a:t>
            </a:r>
          </a:p>
          <a:p xmlns:a="http://schemas.openxmlformats.org/drawingml/2006/main">
            <a:r>
              <a:t>https://arxiv.org/abs/2603.04370v1</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1:25. Начало: 12:30.</a:t>
            </a:r>
          </a:p>
          <a:p xmlns:a="http://schemas.openxmlformats.org/drawingml/2006/main">
            <a:r>
              <a:t/>
            </a:r>
          </a:p>
          <a:p xmlns:a="http://schemas.openxmlformats.org/drawingml/2006/main">
            <a:r>
              <a:t>Теперь названия моделей можно привязать к их роли. KEV и Laya — это уже существующие модели других разработчиков, которые можно использовать для типизированных решений с вероятностями. Мы их не выдаём за собственную разработку. KEV относится к семейству моделей на основе Qwen с дополнительным механизмом выбора ответа. Laya — другой открытый кандидат, ориентированный на структурированные решения. У них разные варианты, ограничения входа и особенности настройки. Для основной презентации важнее их общий смысл: это два готовых способа выполнить тот небольшой выбор, который мы выделили внутри агента. Конкретные версии отберём под выбранный узел. Но сравнивать только с исходной языковой моделью было бы недостаточно. Для конечного набора действий содержательной альтернативой может быть обычный классификатор или правило. Для документов — специализированная модель, которая оценивает релевантность пары «вопрос и документ». Такой контроль помогает понять, нужен ли более общий типизированный интерфейс или задачу уже решает более простой метод. Если понадобится обучение или калибровка кандидата, выделим этот режим отдельно, чтобы не спутать пользу дополнительной настройки с пользой самой модели. Все варианты проверяем на одинаковых обращениях, а главный итог относится к качеству, стоимости и времени целого агента.</a:t>
            </a:r>
          </a:p>
          <a:p xmlns:a="http://schemas.openxmlformats.org/drawingml/2006/main">
            <a:r>
              <a:t/>
            </a:r>
          </a:p>
          <a:p xmlns:a="http://schemas.openxmlformats.org/drawingml/2006/main">
            <a:r>
              <a:t>Источники:</a:t>
            </a:r>
          </a:p>
          <a:p xmlns:a="http://schemas.openxmlformats.org/drawingml/2006/main">
            <a:r>
              <a:t>/Users/nikitapasinin/.codex/worktrees/0ad2/diplom/docs/model-research.md</a:t>
            </a:r>
          </a:p>
          <a:p xmlns:a="http://schemas.openxmlformats.org/drawingml/2006/main">
            <a:r>
              <a:t>/Users/nikitapasinin/.codex/worktrees/0ad2/diplom/docs/research.md#термины-и-кандидаты-моделей</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1:35. Начало: 13:55.</a:t>
            </a:r>
          </a:p>
          <a:p xmlns:a="http://schemas.openxmlformats.org/drawingml/2006/main">
            <a:r>
              <a:t/>
            </a:r>
          </a:p>
          <a:p xmlns:a="http://schemas.openxmlformats.org/drawingml/2006/main">
            <a:r>
              <a:t>Этот слайд сводит показатели, которые отвечают на наш исследовательский вопрос. Для агента проверяем успешное завершение обращения и разбираем типы ошибок. Для выбранного узла смотрим качество классификации или отбора документов, вероятности и долю случаев, когда понадобилась исходная языковая модель. Но локальные показатели не подменяют успех обращения. В стоимость включаем все вызовы, включая ошибки, повторные попытки и fallback. Последнее слово означает переход к другой модели при неуверенности или сбое. Разметка, обучение и настройка также требуют затрат, но их отделяем от затрат исполнения. Для сравнения показываем стоимость обращения и стоимость одного успеха. Второй показатель получается делением всех расходов серии на число успешно завершённых обращений. Он учитывает и деньги, потраченные на неудачные попытки. При отсутствии успехов такой показатель не определён: нужно показать ноль успешных задач и все затраты. Для задержки используем медиану p50 и девяносто пятый процентиль p95, чтобы видеть обычное время и более медленные случаи. Отдельно измеряем агента с инструментами и всю симуляцию, потому что пользователь в тестах также требует вычислений. В результате сравниваем качество, полную стоимость и задержку, а не одно удобное число.</a:t>
            </a:r>
          </a:p>
          <a:p xmlns:a="http://schemas.openxmlformats.org/drawingml/2006/main">
            <a:r>
              <a:t/>
            </a:r>
          </a:p>
          <a:p xmlns:a="http://schemas.openxmlformats.org/drawingml/2006/main">
            <a:r>
              <a:t>Источники:</a:t>
            </a:r>
          </a:p>
          <a:p xmlns:a="http://schemas.openxmlformats.org/drawingml/2006/main">
            <a:r>
              <a:t>/Users/nikitapasinin/.codex/worktrees/0ad2/diplom/docs/research.md#метрики</a:t>
            </a:r>
          </a:p>
          <a:p xmlns:a="http://schemas.openxmlformats.org/drawingml/2006/main">
            <a:r>
              <a:t>/Users/nikitapasinin/.codex/worktrees/0ad2/diplom/docs/tau-bench-review.md#практические-ограничения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1:30. Начало: 15:30.</a:t>
            </a:r>
          </a:p>
          <a:p xmlns:a="http://schemas.openxmlformats.org/drawingml/2006/main">
            <a:r>
              <a:t/>
            </a:r>
          </a:p>
          <a:p xmlns:a="http://schemas.openxmlformats.org/drawingml/2006/main">
            <a:r>
              <a:t>План разбит на четыре этапа с понятными результатами. На первом собираем исходного агента на готовой языковой модели и подключаем его к тестовой среде. Результатом должен быть полный воспроизводимый диалог и измерения успеха, затрат и времени. На втором разбираем полученные обращения. Нам надо увидеть, какие решения повторяются, где возникают ошибки и какие вызовы заметно влияют на расходы. По этому анализу выбираем один узел и определяем его вход, допустимые ответы и критерий качества. На третьем реализуем альтернативные способы решения и проверяем их на тех же задачах. Здесь фиксируем правило передачи в языковую модель и оцениваем последствия для всего обращения. Если исходный вариант типизированной модели не подходит, отдельно решаем, есть ли основание для её настройки или обучения. На четвёртом формулируем вывод об условиях применимости. Для ВКР это связывает формальную постановку, реализованную систему, эксперимент и анализ. Если преимущество не обнаружено, нужно объяснить результат на основе сравнения, а не скрывать его. Сейчас у нас завершён подготовительный обзор. Ближайший предметный результат — исходный агент, после которого можно выбирать узел по наблюдаемым данным. Более сложные расширения не мешают получить этот первый законченный результат.</a:t>
            </a:r>
          </a:p>
          <a:p xmlns:a="http://schemas.openxmlformats.org/drawingml/2006/main">
            <a:r>
              <a:t/>
            </a:r>
          </a:p>
          <a:p xmlns:a="http://schemas.openxmlformats.org/drawingml/2006/main">
            <a:r>
              <a:t>Источники:</a:t>
            </a:r>
          </a:p>
          <a:p xmlns:a="http://schemas.openxmlformats.org/drawingml/2006/main">
            <a:r>
              <a:t>/Users/nikitapasinin/.codex/worktrees/0ad2/diplom/docs/README.md#ближайшие-задачи</a:t>
            </a:r>
          </a:p>
          <a:p xmlns:a="http://schemas.openxmlformats.org/drawingml/2006/main">
            <a:r>
              <a:t>/Users/nikitapasinin/.codex/worktrees/0ad2/diplom/docs/research-overview.md</a:t>
            </a:r>
          </a:p>
          <a:p xmlns:a="http://schemas.openxmlformats.org/drawingml/2006/main">
            <a:r>
              <a:t>/Users/nikitapasinin/.codex/worktrees/0ad2/diplom/docs/research.md#основа-протокола-оценки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Время: 1:00. Начало: 17:00.</a:t>
            </a:r>
          </a:p>
          <a:p xmlns:a="http://schemas.openxmlformats.org/drawingml/2006/main">
            <a:r>
              <a:t/>
            </a:r>
          </a:p>
          <a:p xmlns:a="http://schemas.openxmlformats.org/drawingml/2006/main">
            <a:r>
              <a:t>Предлагаем согласовать исследование выбора метода для отдельного решения в сервисном агенте. Мы обсудили, что такой агент включает диалоговую модель, управляющую программу, документы и инструменты. Из этого процесса выделяем один узкий выбор и сравниваем способы его выполнения. Предлагаемый математический каркас — снижение средней стоимости при ограничении на ухудшение качества относительно исходного агента. Нужно уточнить подходящую функцию потерь, допустимое ухудшение и множество правил, которые сравниваем. Для начала предлагаем реализовать исходного агента, получить пробные измерения и выбрать узел на их основе. После этого предъявим одно сравнение с исходным вариантом и простым контрольным методом. Оно должно показать, имеет ли смысл использовать типизированную модель в выбранном месте и при каких условиях. Такая последовательность даёт проверяемые результаты по этапам и позволяет уточнять тему на основе данных. Вопросы об общей платформе и отдельных вкладах авторов вынесены в следующую часть, чтобы основной рассказ оставался сосредоточен на одной системе и одном эксперименте.</a:t>
            </a:r>
          </a:p>
          <a:p xmlns:a="http://schemas.openxmlformats.org/drawingml/2006/main">
            <a:r>
              <a:t/>
            </a:r>
          </a:p>
          <a:p xmlns:a="http://schemas.openxmlformats.org/drawingml/2006/main">
            <a:r>
              <a:t>Источники:</a:t>
            </a:r>
          </a:p>
          <a:p xmlns:a="http://schemas.openxmlformats.org/drawingml/2006/main">
            <a:r>
              <a:t>/Users/nikitapasinin/.codex/worktrees/0ad2/diplom/docs/research.md</a:t>
            </a:r>
          </a:p>
          <a:p xmlns:a="http://schemas.openxmlformats.org/drawingml/2006/main">
            <a:r>
              <a:t>/Users/nikitapasinin/.codex/worktrees/0ad2/diplom/docs/README.md#ближайшие-задачи</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Предлагаем три самостоятельных исследования: политика маршрутизации, отбор контекста и адаптация decision-модели. Подробности и границы личного вклада на слайдах 13–14. Назначения авторам, пригодность данных и окончательные темы требуют пилота и согласования. GraphRAG остаётся возможным будущим направлением.</a:t>
            </a:r>
          </a:p>
          <a:p xmlns:a="http://schemas.openxmlformats.org/drawingml/2006/main">
            <a:r>
              <a:t/>
            </a:r>
          </a:p>
          <a:p xmlns:a="http://schemas.openxmlformats.org/drawingml/2006/main">
            <a:r>
              <a:t>Источники:</a:t>
            </a:r>
          </a:p>
          <a:p xmlns:a="http://schemas.openxmlformats.org/drawingml/2006/main">
            <a:r>
              <a:t>/Users/nikitapasinin/.codex/worktrees/0ad2/diplom/docs/team.md</a:t>
            </a:r>
          </a:p>
          <a:p xmlns:a="http://schemas.openxmlformats.org/drawingml/2006/main">
            <a:r>
              <a:t>/Users/nikitapasinin/.codex/worktrees/0ad2/diplom/docs/research.md#кандидаты-на-три-самостоятельных-исследования</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Резервный слайд. В основное время не входит.</a:t>
            </a:r>
          </a:p>
          <a:p xmlns:a="http://schemas.openxmlformats.org/drawingml/2006/main">
            <a:r>
              <a:t/>
            </a:r>
          </a:p>
          <a:p xmlns:a="http://schemas.openxmlformats.org/drawingml/2006/main">
            <a:r>
              <a:t>Ссылки на этом слайде активны. τ-bench задаёт основу сервисной среды. τ-knowledge расширяет её задачами, где агенту нужны документы и операции. Документация TypeSafe описывает интерфейс типизированных решений. Препринт Liu показывает существующее направление исследования вероятностей и автоматизации в задачах безопасности. Здесь используются конкретные версии из реестра проекта. Они не являются нашими измерениями. Кандидаты KEV и Laya, версии кода и ограничения входа описаны в docs/model-research.md и docs/research.md. Иллюстрация обложки создана ImageGen 02.10.2026 и служит оформлением, а не научной схемой.</a:t>
            </a:r>
          </a:p>
          <a:p xmlns:a="http://schemas.openxmlformats.org/drawingml/2006/main">
            <a:r>
              <a:t/>
            </a:r>
          </a:p>
          <a:p xmlns:a="http://schemas.openxmlformats.org/drawingml/2006/main">
            <a:r>
              <a:t>Источники:</a:t>
            </a:r>
          </a:p>
          <a:p xmlns:a="http://schemas.openxmlformats.org/drawingml/2006/main">
            <a:r>
              <a:t>/Users/nikitapasinin/.codex/worktrees/0ad2/diplom/docs/sources.md</a:t>
            </a:r>
          </a:p>
          <a:p xmlns:a="http://schemas.openxmlformats.org/drawingml/2006/main">
            <a:r>
              <a:t>/Users/nikitapasinin/.codex/worktrees/0ad2/diplom/docs/model-research.md</a:t>
            </a:r>
          </a:p>
          <a:p xmlns:a="http://schemas.openxmlformats.org/drawingml/2006/main">
            <a:r>
              <a:t>/Users/nikitapasinin/.codex/worktrees/0ad2/diplom/docs/research.md</a:t>
            </a:r>
          </a:p>
          <a:p xmlns:a="http://schemas.openxmlformats.org/drawingml/2006/main">
            <a:r>
              <a:t/>
            </a:r>
          </a:p>
          <a:p xmlns:a="http://schemas.openxmlformats.org/drawingml/2006/main">
            <a:r>
              <a:t>Контекст проекта: 30.09.2026. Презентация: 02.10.2026.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Предлагаем три самостоятельные ВКР на общем стенде. Первый автор исследует политику использования фиксированных моделей, включая калибровку уверенности и передачу решения в LLM. Второй исследует отбор документов при заданном бюджете контекста, сравнивая top-k, специализированный reranker и decision-модель. Третий исследует адаптацию decision-модели при фиксированной политике применения: объём разметки, обучение и перенос на новые задачи. Третье направление предлагается вместо пока не обоснованного GraphRAG. Имена авторов и окончательные темы ещё не назначены. Для переноса нужны независимые данные второго домена и согласованная схема решений. Результаты пока отсутствуют. Это предложение инициатора для обсуждения с командой и научным руководителем.</a:t>
            </a:r>
          </a:p>
          <a:p xmlns:a="http://schemas.openxmlformats.org/drawingml/2006/main">
            <a:r>
              <a:t/>
            </a:r>
          </a:p>
          <a:p xmlns:a="http://schemas.openxmlformats.org/drawingml/2006/main">
            <a:r>
              <a:t>Источники: docs/research.md; docs/team.md; docs/architecture.md; обсуждение с инициатором в проекте ВКР. Статус: предложение, экспериментальных результатов нет.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Общая инфраструктура делает сравнения воспроизводимыми, но не заменяет личный научный результат. Первый автор может выполнить работу на исходных фиксированных моделях, не ожидая дообучения третьего. Второй оценивает отбор контекста при одинаковом исходном наборе документов, генераторе и бюджете настройки. Третий оценивает модель до и после адаптации при одной политике, чтобы не смешивать эффект обучения и маршрутизации. Разбиение данных и финальный тест фиксируем заранее. Пороги и гиперпараметры выбираем только на данных настройки. Каждый сохраняет свою постановку, реализацию метода, протокол и анализ. Совместные эксперименты и компоненты описываем как общий вклад. Пилот должен проверить доступность эталонов решений, supporting facts и данных переноса. HotpotQA рассматриваем как вспомогательный стенд для контекста, τ-knowledge как сквозную проверку сервисного агента. Не усредняем их метрики. Достаточность тем и назначения согласует команда с руководителем.</a:t>
            </a:r>
          </a:p>
          <a:p xmlns:a="http://schemas.openxmlformats.org/drawingml/2006/main">
            <a:r>
              <a:t/>
            </a:r>
          </a:p>
          <a:p xmlns:a="http://schemas.openxmlformats.org/drawingml/2006/main">
            <a:r>
              <a:t>Источники: docs/research.md; docs/team.md; docs/architecture.md; обсуждение с инициатором в проекте ВКР. Статус: предложение, экспериментальных результатов нет.</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037ad9200e451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6422f389194edc" /><Relationship Type="http://schemas.openxmlformats.org/officeDocument/2006/relationships/slideLayout" Target="/ppt/slideLayouts/slideLayout1.xml" Id="R9d33805293224e0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33805293224e0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1d1a528c893f4e0f" /><Relationship Type="http://schemas.openxmlformats.org/officeDocument/2006/relationships/image" Target="/ppt/media/image.png" Id="Re996a295c6d545b2" /><Relationship Type="http://schemas.openxmlformats.org/officeDocument/2006/relationships/notesSlide" Target="/ppt/notesSlides/notesSlide1.xml" Id="R0db0601c53144bad"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03169c382fa41e3" /><Relationship Type="http://schemas.openxmlformats.org/officeDocument/2006/relationships/notesSlide" Target="/ppt/notesSlides/notesSlide2.xml" Id="R15bddea76f7340a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fd2c73d70b741f4" /><Relationship Type="http://schemas.openxmlformats.org/officeDocument/2006/relationships/notesSlide" Target="/ppt/notesSlides/notesSlide3.xml" Id="R042c81daa79d43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d8d117c2a4d94dd7" /><Relationship Type="http://schemas.openxmlformats.org/officeDocument/2006/relationships/notesSlide" Target="/ppt/notesSlides/notesSlide4.xml" Id="R9109be75f53340c1"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d1aa607082744af0" /><Relationship Type="http://schemas.openxmlformats.org/officeDocument/2006/relationships/notesSlide" Target="/ppt/notesSlides/notesSlide5.xml" Id="R545d969aa5ba4677"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ce4856225434f6b" /><Relationship Type="http://schemas.openxmlformats.org/officeDocument/2006/relationships/notesSlide" Target="/ppt/notesSlides/notesSlide6.xml" Id="Re6689c25ff1b4a31"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c2f5b099dbc4317" /><Relationship Type="http://schemas.openxmlformats.org/officeDocument/2006/relationships/notesSlide" Target="/ppt/notesSlides/notesSlide7.xml" Id="R124c299559f4405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04eb8095b7c94004" /><Relationship Type="http://schemas.openxmlformats.org/officeDocument/2006/relationships/notesSlide" Target="/ppt/notesSlides/notesSlide8.xml" Id="R4d00026cae304e3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fa28f4d0fe14102" /><Relationship Type="http://schemas.openxmlformats.org/officeDocument/2006/relationships/notesSlide" Target="/ppt/notesSlides/notesSlide9.xml" Id="Rabf1130696a54c0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347ecfd6f9c435e" /><Relationship Type="http://schemas.openxmlformats.org/officeDocument/2006/relationships/notesSlide" Target="/ppt/notesSlides/notesSlide10.xml" Id="R7944a0783415408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961648111c14823" /><Relationship Type="http://schemas.openxmlformats.org/officeDocument/2006/relationships/notesSlide" Target="/ppt/notesSlides/notesSlide11.xml" Id="R78915a2bec834e3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7f286d0833bc4007" /><Relationship Type="http://schemas.openxmlformats.org/officeDocument/2006/relationships/notesSlide" Target="/ppt/notesSlides/notesSlide12.xml" Id="Rd0e0bdaa403b423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32a3eca347db4853" /><Relationship Type="http://schemas.openxmlformats.org/officeDocument/2006/relationships/notesSlide" Target="/ppt/notesSlides/notesSlide13.xml" Id="R4572ac65ad07429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980cbc6ef9e469d" /><Relationship Type="http://schemas.openxmlformats.org/officeDocument/2006/relationships/hyperlink" Target="https://proceedings.iclr.cc/paper_files/paper/2025/hash/1b126cc38b8638e07bef37e7b2bb72bf-Abstract-Conference.html" TargetMode="External" Id="R5ef9ebbca29f4885" /><Relationship Type="http://schemas.openxmlformats.org/officeDocument/2006/relationships/hyperlink" Target="https://arxiv.org/abs/2603.04370v1" TargetMode="External" Id="R46462714685d498f" /><Relationship Type="http://schemas.openxmlformats.org/officeDocument/2006/relationships/hyperlink" Target="https://docs.typesafe.ai/concepts/system-one" TargetMode="External" Id="Red7f41d3e5d04e2b" /><Relationship Type="http://schemas.openxmlformats.org/officeDocument/2006/relationships/hyperlink" Target="https://arxiv.org/abs/2609.33401v1" TargetMode="External" Id="Rc406119f6c474bcc" /><Relationship Type="http://schemas.openxmlformats.org/officeDocument/2006/relationships/notesSlide" Target="/ppt/notesSlides/notesSlide14.xml" Id="R13729c343f214d28" /></Relationships>
</file>

<file path=ppt/slides/_rels/slide15.xml.rels><?xml version='1.0' encoding='utf-8'?>
<Relationships xmlns="http://schemas.openxmlformats.org/package/2006/relationships"><Relationship Type="http://schemas.openxmlformats.org/officeDocument/2006/relationships/slideLayout" Target="/ppt/slideLayouts/slideLayout1.xml" Id="Rb2ec672a685d4f5a"/><Relationship Type="http://schemas.openxmlformats.org/officeDocument/2006/relationships/notesSlide" Target="/ppt/notesSlides/notesSlide15.xml" Id="R62a4b15f6a514830"/></Relationships>
</file>

<file path=ppt/slides/_rels/slide16.xml.rels><?xml version='1.0' encoding='utf-8'?>
<Relationships xmlns="http://schemas.openxmlformats.org/package/2006/relationships"><Relationship Type="http://schemas.openxmlformats.org/officeDocument/2006/relationships/slideLayout" Target="/ppt/slideLayouts/slideLayout1.xml" Id="Rb4388a9661614acd"/><Relationship Type="http://schemas.openxmlformats.org/officeDocument/2006/relationships/notesSlide" Target="/ppt/notesSlides/notesSlide16.xml" Id="R943b1909297c49df"/></Relationships>
</file>

<file path=ppt/slides/slide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e996a295c6d545b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009A91A5-7FE2-48DF-9BA3-F2889EFB8DDF}"/>
              </a:ext>
            </a:extLst>
          </p:cNvPr>
          <p:cNvSpPr>
            <a:spLocks xmlns:a="http://schemas.openxmlformats.org/drawingml/2006/main" noGrp="1"/>
          </p:cNvSpPr>
          <p:nvPr/>
        </p:nvSpPr>
        <p:spPr>
          <a:xfrm xmlns:a="http://schemas.openxmlformats.org/drawingml/2006/main">
            <a:off x="685800" y="1333500"/>
            <a:ext cx="7334250"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Типизированные решения</a:t>
            </a:r>
          </a:p>
          <a:p xmlns:a="http://schemas.openxmlformats.org/drawingml/2006/main">
            <a:pPr>
              <a:defRPr sz="4575" b="1">
                <a:solidFill>
                  <a:srgbClr val="182B3B"/>
                </a:solidFill>
                <a:latin typeface="Helvetica Neue"/>
                <a:ea typeface="Helvetica Neue"/>
                <a:cs typeface="Helvetica Neue"/>
              </a:defRPr>
            </a:pPr>
            <a:r>
              <a:rPr sz="4575" b="1">
                <a:solidFill>
                  <a:srgbClr val="182B3B"/>
                </a:solidFill>
                <a:latin typeface="Helvetica Neue"/>
                <a:ea typeface="Helvetica Neue"/>
                <a:cs typeface="Helvetica Neue"/>
              </a:rPr>
              <a:t>в языковом агенте</a:t>
            </a:r>
          </a:p>
        </p:txBody>
      </p:sp>
      <p:sp>
        <p:nvSpPr>
          <p:cNvPr id="3" name="">
            <a:extLst xmlns:a="http://schemas.openxmlformats.org/drawingml/2006/main">
              <a:ext uri="{FF2B5EF4-FFF2-40B4-BE49-F238E27FC236}">
                <a16:creationId xmlns:a16="http://schemas.microsoft.com/office/drawing/2014/main" id="{A63EA500-7C03-4E86-9264-0E1B68445266}"/>
              </a:ext>
            </a:extLst>
          </p:cNvPr>
          <p:cNvSpPr>
            <a:spLocks xmlns:a="http://schemas.openxmlformats.org/drawingml/2006/main" noGrp="1"/>
          </p:cNvSpPr>
          <p:nvPr/>
        </p:nvSpPr>
        <p:spPr>
          <a:xfrm xmlns:a="http://schemas.openxmlformats.org/drawingml/2006/main">
            <a:off x="685800" y="3990975"/>
            <a:ext cx="7524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236F6A"/>
                </a:solidFill>
                <a:latin typeface="Helvetica Neue"/>
                <a:ea typeface="Helvetica Neue"/>
                <a:cs typeface="Helvetica Neue"/>
              </a:defRPr>
            </a:pPr>
            <a:r>
              <a:rPr sz="2100" b="0">
                <a:solidFill>
                  <a:srgbClr val="236F6A"/>
                </a:solidFill>
                <a:latin typeface="Helvetica Neue"/>
                <a:ea typeface="Helvetica Neue"/>
                <a:cs typeface="Helvetica Neue"/>
              </a:rPr>
              <a:t>Исследование качества, стоимости и времени работы</a:t>
            </a:r>
          </a:p>
        </p:txBody>
      </p:sp>
      <p:sp>
        <p:nvSpPr>
          <p:cNvPr id="4" name="">
            <a:extLst xmlns:a="http://schemas.openxmlformats.org/drawingml/2006/main">
              <a:ext uri="{FF2B5EF4-FFF2-40B4-BE49-F238E27FC236}">
                <a16:creationId xmlns:a16="http://schemas.microsoft.com/office/drawing/2014/main" id="{D12DB368-0BDC-47F2-AD00-0D8CB4ABECED}"/>
              </a:ext>
            </a:extLst>
          </p:cNvPr>
          <p:cNvSpPr>
            <a:spLocks xmlns:a="http://schemas.openxmlformats.org/drawingml/2006/main" noGrp="1"/>
          </p:cNvSpPr>
          <p:nvPr/>
        </p:nvSpPr>
        <p:spPr>
          <a:xfrm xmlns:a="http://schemas.openxmlformats.org/drawingml/2006/main">
            <a:off x="685800" y="4953000"/>
            <a:ext cx="7620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НГТУ, ФПМИ, ТПИ</a:t>
            </a:r>
          </a:p>
          <a:p xmlns:a="http://schemas.openxmlformats.org/drawingml/2006/main">
            <a:pPr>
              <a:defRPr sz="1800" b="0">
                <a:solidFill>
                  <a:srgbClr val="5D686E"/>
                </a:solidFill>
                <a:latin typeface="Helvetica Neue"/>
                <a:ea typeface="Helvetica Neue"/>
                <a:cs typeface="Helvetica Neue"/>
              </a:defRPr>
            </a:pPr>
            <a:r>
              <a:rPr sz="1800" b="0">
                <a:solidFill>
                  <a:srgbClr val="5D686E"/>
                </a:solidFill>
                <a:latin typeface="Helvetica Neue"/>
                <a:ea typeface="Helvetica Neue"/>
                <a:cs typeface="Helvetica Neue"/>
              </a:rPr>
              <a:t>Бакалаврская ВКР, 2027</a:t>
            </a:r>
          </a:p>
        </p:txBody>
      </p:sp>
      <p:sp>
        <p:nvSpPr>
          <p:cNvPr id="5" name="">
            <a:extLst xmlns:a="http://schemas.openxmlformats.org/drawingml/2006/main">
              <a:ext uri="{FF2B5EF4-FFF2-40B4-BE49-F238E27FC236}">
                <a16:creationId xmlns:a16="http://schemas.microsoft.com/office/drawing/2014/main" id="{96BBB400-EB40-4C62-B8A7-CABCF94D8D4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01</a:t>
            </a:r>
          </a:p>
        </p:txBody>
      </p:sp>
    </p:spTree>
    <p:extLst>
      <p:ext uri="{BB962C8B-B14F-4D97-AF65-F5344CB8AC3E}">
        <p14:creationId xmlns:p14="http://schemas.microsoft.com/office/powerpoint/2010/main" val="502743321"/>
      </p:ext>
    </p:extLst>
  </p:cSld>
</p:sld>
</file>

<file path=ppt/slides/slide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ED551E28-65A0-40D4-9EBE-4E81D0401089}"/>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Какого агента мы предлагаем</a:t>
            </a:r>
          </a:p>
        </p:txBody>
      </p:sp>
      <p:sp>
        <p:nvSpPr>
          <p:cNvPr id="2" name="">
            <a:extLst xmlns:a="http://schemas.openxmlformats.org/drawingml/2006/main">
              <a:ext uri="{FF2B5EF4-FFF2-40B4-BE49-F238E27FC236}">
                <a16:creationId xmlns:a16="http://schemas.microsoft.com/office/drawing/2014/main" id="{DC496D26-7A6A-4D1A-A0FF-7B3FE9D875E3}"/>
              </a:ext>
            </a:extLst>
          </p:cNvPr>
          <p:cNvSpPr>
            <a:spLocks xmlns:a="http://schemas.openxmlformats.org/drawingml/2006/main" noGrp="1"/>
          </p:cNvSpPr>
          <p:nvPr/>
        </p:nvSpPr>
        <p:spPr>
          <a:xfrm xmlns:a="http://schemas.openxmlformats.org/drawingml/2006/main">
            <a:off x="685800" y="1657350"/>
            <a:ext cx="1071562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Программа для сервисных обращений: ведёт диалог, находит правила и выполняет разрешённые операции</a:t>
            </a:r>
          </a:p>
        </p:txBody>
      </p:sp>
      <p:sp>
        <p:nvSpPr>
          <p:cNvPr id="3" name="">
            <a:extLst xmlns:a="http://schemas.openxmlformats.org/drawingml/2006/main">
              <a:ext uri="{FF2B5EF4-FFF2-40B4-BE49-F238E27FC236}">
                <a16:creationId xmlns:a16="http://schemas.microsoft.com/office/drawing/2014/main" id="{B6027A8E-F0B8-48E1-A4AB-3D4BFF860A28}"/>
              </a:ext>
            </a:extLst>
          </p:cNvPr>
          <p:cNvSpPr>
            <a:spLocks xmlns:a="http://schemas.openxmlformats.org/drawingml/2006/main" noGrp="1"/>
          </p:cNvSpPr>
          <p:nvPr/>
        </p:nvSpPr>
        <p:spPr>
          <a:xfrm xmlns:a="http://schemas.openxmlformats.org/drawingml/2006/main">
            <a:off x="685800" y="27527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Языковая модель</a:t>
            </a:r>
          </a:p>
        </p:txBody>
      </p:sp>
      <p:sp>
        <p:nvSpPr>
          <p:cNvPr id="4" name="">
            <a:extLst xmlns:a="http://schemas.openxmlformats.org/drawingml/2006/main">
              <a:ext uri="{FF2B5EF4-FFF2-40B4-BE49-F238E27FC236}">
                <a16:creationId xmlns:a16="http://schemas.microsoft.com/office/drawing/2014/main" id="{EFC57996-450D-43E3-8123-9A8F6398AF48}"/>
              </a:ext>
            </a:extLst>
          </p:cNvPr>
          <p:cNvSpPr>
            <a:spLocks xmlns:a="http://schemas.openxmlformats.org/drawingml/2006/main" noGrp="1"/>
          </p:cNvSpPr>
          <p:nvPr/>
        </p:nvSpPr>
        <p:spPr>
          <a:xfrm xmlns:a="http://schemas.openxmlformats.org/drawingml/2006/main">
            <a:off x="3848100" y="27527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Понимает запрос, предлагает следующий шаг и формулирует ответ</a:t>
            </a:r>
          </a:p>
        </p:txBody>
      </p:sp>
      <p:sp>
        <p:nvSpPr>
          <p:cNvPr id="5" name="">
            <a:extLst xmlns:a="http://schemas.openxmlformats.org/drawingml/2006/main">
              <a:ext uri="{FF2B5EF4-FFF2-40B4-BE49-F238E27FC236}">
                <a16:creationId xmlns:a16="http://schemas.microsoft.com/office/drawing/2014/main" id="{9E335BDA-94F2-43C5-AF47-729740C82805}"/>
              </a:ext>
            </a:extLst>
          </p:cNvPr>
          <p:cNvSpPr>
            <a:spLocks xmlns:a="http://schemas.openxmlformats.org/drawingml/2006/main" noGrp="1"/>
          </p:cNvSpPr>
          <p:nvPr/>
        </p:nvSpPr>
        <p:spPr>
          <a:xfrm xmlns:a="http://schemas.openxmlformats.org/drawingml/2006/main">
            <a:off x="685800" y="34385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Управляющая программа</a:t>
            </a:r>
          </a:p>
        </p:txBody>
      </p:sp>
      <p:sp>
        <p:nvSpPr>
          <p:cNvPr id="6" name="">
            <a:extLst xmlns:a="http://schemas.openxmlformats.org/drawingml/2006/main">
              <a:ext uri="{FF2B5EF4-FFF2-40B4-BE49-F238E27FC236}">
                <a16:creationId xmlns:a16="http://schemas.microsoft.com/office/drawing/2014/main" id="{E58F3DB4-C938-4B1B-9547-2AB5615A85F3}"/>
              </a:ext>
            </a:extLst>
          </p:cNvPr>
          <p:cNvSpPr>
            <a:spLocks xmlns:a="http://schemas.openxmlformats.org/drawingml/2006/main" noGrp="1"/>
          </p:cNvSpPr>
          <p:nvPr/>
        </p:nvSpPr>
        <p:spPr>
          <a:xfrm xmlns:a="http://schemas.openxmlformats.org/drawingml/2006/main">
            <a:off x="3848100" y="34385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Передаёт модели историю, вызывает выбранный инструмент и возвращает результат</a:t>
            </a:r>
          </a:p>
        </p:txBody>
      </p:sp>
      <p:sp>
        <p:nvSpPr>
          <p:cNvPr id="7" name="">
            <a:extLst xmlns:a="http://schemas.openxmlformats.org/drawingml/2006/main">
              <a:ext uri="{FF2B5EF4-FFF2-40B4-BE49-F238E27FC236}">
                <a16:creationId xmlns:a16="http://schemas.microsoft.com/office/drawing/2014/main" id="{782D887B-F36D-4ABF-A51B-C698C2D369AC}"/>
              </a:ext>
            </a:extLst>
          </p:cNvPr>
          <p:cNvSpPr>
            <a:spLocks xmlns:a="http://schemas.openxmlformats.org/drawingml/2006/main" noGrp="1"/>
          </p:cNvSpPr>
          <p:nvPr/>
        </p:nvSpPr>
        <p:spPr>
          <a:xfrm xmlns:a="http://schemas.openxmlformats.org/drawingml/2006/main">
            <a:off x="685800" y="41243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База знаний</a:t>
            </a:r>
          </a:p>
        </p:txBody>
      </p:sp>
      <p:sp>
        <p:nvSpPr>
          <p:cNvPr id="8" name="">
            <a:extLst xmlns:a="http://schemas.openxmlformats.org/drawingml/2006/main">
              <a:ext uri="{FF2B5EF4-FFF2-40B4-BE49-F238E27FC236}">
                <a16:creationId xmlns:a16="http://schemas.microsoft.com/office/drawing/2014/main" id="{D341D62D-10B2-434F-BF82-F64F59AC1538}"/>
              </a:ext>
            </a:extLst>
          </p:cNvPr>
          <p:cNvSpPr>
            <a:spLocks xmlns:a="http://schemas.openxmlformats.org/drawingml/2006/main" noGrp="1"/>
          </p:cNvSpPr>
          <p:nvPr/>
        </p:nvSpPr>
        <p:spPr>
          <a:xfrm xmlns:a="http://schemas.openxmlformats.org/drawingml/2006/main">
            <a:off x="3848100" y="41243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Содержит документы: условия обслуживания, инструкции и ограничения</a:t>
            </a:r>
          </a:p>
        </p:txBody>
      </p:sp>
      <p:sp>
        <p:nvSpPr>
          <p:cNvPr id="9" name="">
            <a:extLst xmlns:a="http://schemas.openxmlformats.org/drawingml/2006/main">
              <a:ext uri="{FF2B5EF4-FFF2-40B4-BE49-F238E27FC236}">
                <a16:creationId xmlns:a16="http://schemas.microsoft.com/office/drawing/2014/main" id="{FEB2BD04-65B7-4D9F-86AA-254485C8FB9A}"/>
              </a:ext>
            </a:extLst>
          </p:cNvPr>
          <p:cNvSpPr>
            <a:spLocks xmlns:a="http://schemas.openxmlformats.org/drawingml/2006/main" noGrp="1"/>
          </p:cNvSpPr>
          <p:nvPr/>
        </p:nvSpPr>
        <p:spPr>
          <a:xfrm xmlns:a="http://schemas.openxmlformats.org/drawingml/2006/main">
            <a:off x="685800" y="4810125"/>
            <a:ext cx="29051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Инструменты</a:t>
            </a:r>
          </a:p>
        </p:txBody>
      </p:sp>
      <p:sp>
        <p:nvSpPr>
          <p:cNvPr id="10" name="">
            <a:extLst xmlns:a="http://schemas.openxmlformats.org/drawingml/2006/main">
              <a:ext uri="{FF2B5EF4-FFF2-40B4-BE49-F238E27FC236}">
                <a16:creationId xmlns:a16="http://schemas.microsoft.com/office/drawing/2014/main" id="{B8F42C27-3BBB-41D7-B6D0-9532371A1040}"/>
              </a:ext>
            </a:extLst>
          </p:cNvPr>
          <p:cNvSpPr>
            <a:spLocks xmlns:a="http://schemas.openxmlformats.org/drawingml/2006/main" noGrp="1"/>
          </p:cNvSpPr>
          <p:nvPr/>
        </p:nvSpPr>
        <p:spPr>
          <a:xfrm xmlns:a="http://schemas.openxmlformats.org/drawingml/2006/main">
            <a:off x="3848100" y="4810125"/>
            <a:ext cx="76581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Ищут документы, читают данные и выполняют операции в тестовой системе</a:t>
            </a:r>
          </a:p>
        </p:txBody>
      </p:sp>
      <p:sp>
        <p:nvSpPr>
          <p:cNvPr id="11" name="">
            <a:extLst xmlns:a="http://schemas.openxmlformats.org/drawingml/2006/main">
              <a:ext uri="{FF2B5EF4-FFF2-40B4-BE49-F238E27FC236}">
                <a16:creationId xmlns:a16="http://schemas.microsoft.com/office/drawing/2014/main" id="{BF27484B-D863-470F-B222-C105E7C46BC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Исследуем решения внутри агента. Саму языковую модель с нуля не обучаем</a:t>
            </a:r>
          </a:p>
        </p:txBody>
      </p:sp>
      <p:sp>
        <p:nvSpPr>
          <p:cNvPr id="12" name="">
            <a:extLst xmlns:a="http://schemas.openxmlformats.org/drawingml/2006/main">
              <a:ext uri="{FF2B5EF4-FFF2-40B4-BE49-F238E27FC236}">
                <a16:creationId xmlns:a16="http://schemas.microsoft.com/office/drawing/2014/main" id="{04F1A207-0906-4CA1-96C1-BF45A0DA6A80}"/>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02</a:t>
            </a:r>
          </a:p>
        </p:txBody>
      </p:sp>
    </p:spTree>
    <p:extLst>
      <p:ext uri="{BB962C8B-B14F-4D97-AF65-F5344CB8AC3E}">
        <p14:creationId xmlns:p14="http://schemas.microsoft.com/office/powerpoint/2010/main" val="122451310"/>
      </p:ext>
    </p:extLst>
  </p:cSld>
</p:sld>
</file>

<file path=ppt/slides/slide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85F8EA0C-06E5-444B-B027-94F36C645C0C}"/>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Цикл работы агента и проверка результата</a:t>
            </a:r>
          </a:p>
        </p:txBody>
      </p:sp>
      <p:sp>
        <p:nvSpPr>
          <p:cNvPr id="2" name="">
            <a:extLst xmlns:a="http://schemas.openxmlformats.org/drawingml/2006/main">
              <a:ext uri="{FF2B5EF4-FFF2-40B4-BE49-F238E27FC236}">
                <a16:creationId xmlns:a16="http://schemas.microsoft.com/office/drawing/2014/main" id="{F78BCB61-E99F-4128-ABB2-E78C8211F1EB}"/>
              </a:ext>
            </a:extLst>
          </p:cNvPr>
          <p:cNvSpPr>
            <a:spLocks xmlns:a="http://schemas.openxmlformats.org/drawingml/2006/main" noGrp="1"/>
          </p:cNvSpPr>
          <p:nvPr/>
        </p:nvSpPr>
        <p:spPr>
          <a:xfrm xmlns:a="http://schemas.openxmlformats.org/drawingml/2006/main">
            <a:off x="685800" y="165735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6F6A"/>
                </a:solidFill>
                <a:latin typeface="Helvetica Neue"/>
                <a:ea typeface="Helvetica Neue"/>
                <a:cs typeface="Helvetica Neue"/>
              </a:defRPr>
            </a:pPr>
            <a:r>
              <a:rPr sz="2175" b="1">
                <a:solidFill>
                  <a:srgbClr val="236F6A"/>
                </a:solidFill>
                <a:latin typeface="Helvetica Neue"/>
                <a:ea typeface="Helvetica Neue"/>
                <a:cs typeface="Helvetica Neue"/>
              </a:rPr>
              <a:t>Работа агента</a:t>
            </a:r>
          </a:p>
        </p:txBody>
      </p:sp>
      <p:sp>
        <p:nvSpPr>
          <p:cNvPr id="3" name="">
            <a:extLst xmlns:a="http://schemas.openxmlformats.org/drawingml/2006/main">
              <a:ext uri="{FF2B5EF4-FFF2-40B4-BE49-F238E27FC236}">
                <a16:creationId xmlns:a16="http://schemas.microsoft.com/office/drawing/2014/main" id="{A309C118-A7AE-4C88-A5FD-902C2794FA32}"/>
              </a:ext>
            </a:extLst>
          </p:cNvPr>
          <p:cNvSpPr>
            <a:spLocks xmlns:a="http://schemas.openxmlformats.org/drawingml/2006/main" noGrp="1"/>
          </p:cNvSpPr>
          <p:nvPr/>
        </p:nvSpPr>
        <p:spPr>
          <a:xfrm xmlns:a="http://schemas.openxmlformats.org/drawingml/2006/main">
            <a:off x="685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Запрос</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пользователя</a:t>
            </a:r>
          </a:p>
        </p:txBody>
      </p:sp>
      <p:sp>
        <p:nvSpPr>
          <p:cNvPr id="4" name="">
            <a:extLst xmlns:a="http://schemas.openxmlformats.org/drawingml/2006/main">
              <a:ext uri="{FF2B5EF4-FFF2-40B4-BE49-F238E27FC236}">
                <a16:creationId xmlns:a16="http://schemas.microsoft.com/office/drawing/2014/main" id="{E5A5FCF6-2B14-422D-ADD8-93F06693E537}"/>
              </a:ext>
            </a:extLst>
          </p:cNvPr>
          <p:cNvSpPr>
            <a:spLocks xmlns:a="http://schemas.openxmlformats.org/drawingml/2006/main" noGrp="1"/>
          </p:cNvSpPr>
          <p:nvPr/>
        </p:nvSpPr>
        <p:spPr>
          <a:xfrm xmlns:a="http://schemas.openxmlformats.org/drawingml/2006/main">
            <a:off x="3543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Выбор</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следующего шага</a:t>
            </a:r>
          </a:p>
        </p:txBody>
      </p:sp>
      <p:sp>
        <p:nvSpPr>
          <p:cNvPr id="5" name="">
            <a:extLst xmlns:a="http://schemas.openxmlformats.org/drawingml/2006/main">
              <a:ext uri="{FF2B5EF4-FFF2-40B4-BE49-F238E27FC236}">
                <a16:creationId xmlns:a16="http://schemas.microsoft.com/office/drawing/2014/main" id="{A03A6D54-ADE9-4751-8814-9E2129F705FB}"/>
              </a:ext>
            </a:extLst>
          </p:cNvPr>
          <p:cNvSpPr>
            <a:spLocks xmlns:a="http://schemas.openxmlformats.org/drawingml/2006/main" noGrp="1"/>
          </p:cNvSpPr>
          <p:nvPr/>
        </p:nvSpPr>
        <p:spPr>
          <a:xfrm xmlns:a="http://schemas.openxmlformats.org/drawingml/2006/main">
            <a:off x="64008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Поиск или</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операция</a:t>
            </a:r>
          </a:p>
        </p:txBody>
      </p:sp>
      <p:sp>
        <p:nvSpPr>
          <p:cNvPr id="6" name="">
            <a:extLst xmlns:a="http://schemas.openxmlformats.org/drawingml/2006/main">
              <a:ext uri="{FF2B5EF4-FFF2-40B4-BE49-F238E27FC236}">
                <a16:creationId xmlns:a16="http://schemas.microsoft.com/office/drawing/2014/main" id="{EBBEAB6F-5991-4323-8925-4D2B508FCDBD}"/>
              </a:ext>
            </a:extLst>
          </p:cNvPr>
          <p:cNvSpPr>
            <a:spLocks xmlns:a="http://schemas.openxmlformats.org/drawingml/2006/main" noGrp="1"/>
          </p:cNvSpPr>
          <p:nvPr/>
        </p:nvSpPr>
        <p:spPr>
          <a:xfrm xmlns:a="http://schemas.openxmlformats.org/drawingml/2006/main">
            <a:off x="9258300" y="220027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Результат</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для модели</a:t>
            </a:r>
          </a:p>
        </p:txBody>
      </p:sp>
      <p:cxnSp>
        <p:nvCxnSpPr>
          <p:cNvPr id="27" name=""/>
          <p:cNvCxnSpPr>
            <a:stCxn xmlns:a="http://schemas.openxmlformats.org/drawingml/2006/main" id="3" idx="3"/>
            <a:endCxn xmlns:a="http://schemas.openxmlformats.org/drawingml/2006/main" id="4" idx="1"/>
          </p:cNvCxnSpPr>
          <p:nvPr/>
        </p:nvCxnSpPr>
        <p:spPr>
          <a:xfrm xmlns:a="http://schemas.openxmlformats.org/drawingml/2006/main">
            <a:off x="2924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28" name=""/>
          <p:cNvCxnSpPr>
            <a:stCxn xmlns:a="http://schemas.openxmlformats.org/drawingml/2006/main" id="4" idx="3"/>
            <a:endCxn xmlns:a="http://schemas.openxmlformats.org/drawingml/2006/main" id="5" idx="1"/>
          </p:cNvCxnSpPr>
          <p:nvPr/>
        </p:nvCxnSpPr>
        <p:spPr>
          <a:xfrm xmlns:a="http://schemas.openxmlformats.org/drawingml/2006/main">
            <a:off x="57816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29" name=""/>
          <p:cNvCxnSpPr>
            <a:stCxn xmlns:a="http://schemas.openxmlformats.org/drawingml/2006/main" id="5" idx="3"/>
            <a:endCxn xmlns:a="http://schemas.openxmlformats.org/drawingml/2006/main" id="6" idx="1"/>
          </p:cNvCxnSpPr>
          <p:nvPr/>
        </p:nvCxnSpPr>
        <p:spPr>
          <a:xfrm xmlns:a="http://schemas.openxmlformats.org/drawingml/2006/main">
            <a:off x="8639175" y="267176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10" name="">
            <a:extLst xmlns:a="http://schemas.openxmlformats.org/drawingml/2006/main">
              <a:ext uri="{FF2B5EF4-FFF2-40B4-BE49-F238E27FC236}">
                <a16:creationId xmlns:a16="http://schemas.microsoft.com/office/drawing/2014/main" id="{AEF10815-E385-4DFF-91BF-B3FFE0BCF5AF}"/>
              </a:ext>
            </a:extLst>
          </p:cNvPr>
          <p:cNvSpPr>
            <a:spLocks xmlns:a="http://schemas.openxmlformats.org/drawingml/2006/main" noGrp="1"/>
          </p:cNvSpPr>
          <p:nvPr/>
        </p:nvSpPr>
        <p:spPr>
          <a:xfrm xmlns:a="http://schemas.openxmlformats.org/drawingml/2006/main">
            <a:off x="685800" y="3343275"/>
            <a:ext cx="108204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82B3B"/>
                </a:solidFill>
                <a:latin typeface="Helvetica Neue"/>
                <a:ea typeface="Helvetica Neue"/>
                <a:cs typeface="Helvetica Neue"/>
              </a:defRPr>
            </a:pPr>
            <a:r>
              <a:rPr sz="1800" b="0">
                <a:solidFill>
                  <a:srgbClr val="182B3B"/>
                </a:solidFill>
                <a:latin typeface="Helvetica Neue"/>
                <a:ea typeface="Helvetica Neue"/>
                <a:cs typeface="Helvetica Neue"/>
              </a:rPr>
              <a:t>Возвращаем результат в историю и повторяем выбор шага до завершения обращения</a:t>
            </a:r>
          </a:p>
        </p:txBody>
      </p:sp>
      <p:sp>
        <p:nvSpPr>
          <p:cNvPr id="11" name="">
            <a:extLst xmlns:a="http://schemas.openxmlformats.org/drawingml/2006/main">
              <a:ext uri="{FF2B5EF4-FFF2-40B4-BE49-F238E27FC236}">
                <a16:creationId xmlns:a16="http://schemas.microsoft.com/office/drawing/2014/main" id="{1FA79B82-E534-477D-AEAA-771CAF48CC17}"/>
              </a:ext>
            </a:extLst>
          </p:cNvPr>
          <p:cNvSpPr>
            <a:spLocks xmlns:a="http://schemas.openxmlformats.org/drawingml/2006/main" noGrp="1"/>
          </p:cNvSpPr>
          <p:nvPr/>
        </p:nvSpPr>
        <p:spPr>
          <a:xfrm xmlns:a="http://schemas.openxmlformats.org/drawingml/2006/main">
            <a:off x="685800" y="4086225"/>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75" b="1">
                <a:solidFill>
                  <a:srgbClr val="236F6A"/>
                </a:solidFill>
                <a:latin typeface="Helvetica Neue"/>
                <a:ea typeface="Helvetica Neue"/>
                <a:cs typeface="Helvetica Neue"/>
              </a:defRPr>
            </a:pPr>
            <a:r>
              <a:rPr sz="2175" b="1">
                <a:solidFill>
                  <a:srgbClr val="236F6A"/>
                </a:solidFill>
                <a:latin typeface="Helvetica Neue"/>
                <a:ea typeface="Helvetica Neue"/>
                <a:cs typeface="Helvetica Neue"/>
              </a:rPr>
              <a:t>Проверка в тестовой среде</a:t>
            </a:r>
          </a:p>
        </p:txBody>
      </p:sp>
      <p:sp>
        <p:nvSpPr>
          <p:cNvPr id="12" name="">
            <a:extLst xmlns:a="http://schemas.openxmlformats.org/drawingml/2006/main">
              <a:ext uri="{FF2B5EF4-FFF2-40B4-BE49-F238E27FC236}">
                <a16:creationId xmlns:a16="http://schemas.microsoft.com/office/drawing/2014/main" id="{3D20A3BC-D79B-4A49-BBEF-489A2BD58223}"/>
              </a:ext>
            </a:extLst>
          </p:cNvPr>
          <p:cNvSpPr>
            <a:spLocks xmlns:a="http://schemas.openxmlformats.org/drawingml/2006/main" noGrp="1"/>
          </p:cNvSpPr>
          <p:nvPr/>
        </p:nvSpPr>
        <p:spPr>
          <a:xfrm xmlns:a="http://schemas.openxmlformats.org/drawingml/2006/main">
            <a:off x="685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Задать</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начальные данные</a:t>
            </a:r>
          </a:p>
        </p:txBody>
      </p:sp>
      <p:sp>
        <p:nvSpPr>
          <p:cNvPr id="13" name="">
            <a:extLst xmlns:a="http://schemas.openxmlformats.org/drawingml/2006/main">
              <a:ext uri="{FF2B5EF4-FFF2-40B4-BE49-F238E27FC236}">
                <a16:creationId xmlns:a16="http://schemas.microsoft.com/office/drawing/2014/main" id="{699E8F7F-62CB-41B4-97B9-7060A2BEAD87}"/>
              </a:ext>
            </a:extLst>
          </p:cNvPr>
          <p:cNvSpPr>
            <a:spLocks xmlns:a="http://schemas.openxmlformats.org/drawingml/2006/main" noGrp="1"/>
          </p:cNvSpPr>
          <p:nvPr/>
        </p:nvSpPr>
        <p:spPr>
          <a:xfrm xmlns:a="http://schemas.openxmlformats.org/drawingml/2006/main">
            <a:off x="3543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Запустить</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диалог с агентом</a:t>
            </a:r>
          </a:p>
        </p:txBody>
      </p:sp>
      <p:sp>
        <p:nvSpPr>
          <p:cNvPr id="14" name="">
            <a:extLst xmlns:a="http://schemas.openxmlformats.org/drawingml/2006/main">
              <a:ext uri="{FF2B5EF4-FFF2-40B4-BE49-F238E27FC236}">
                <a16:creationId xmlns:a16="http://schemas.microsoft.com/office/drawing/2014/main" id="{DFAAB6F1-CCE3-4D85-BAC9-74439A379ACC}"/>
              </a:ext>
            </a:extLst>
          </p:cNvPr>
          <p:cNvSpPr>
            <a:spLocks xmlns:a="http://schemas.openxmlformats.org/drawingml/2006/main" noGrp="1"/>
          </p:cNvSpPr>
          <p:nvPr/>
        </p:nvSpPr>
        <p:spPr>
          <a:xfrm xmlns:a="http://schemas.openxmlformats.org/drawingml/2006/main">
            <a:off x="64008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Проверить итог</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и действия</a:t>
            </a:r>
          </a:p>
        </p:txBody>
      </p:sp>
      <p:sp>
        <p:nvSpPr>
          <p:cNvPr id="15" name="">
            <a:extLst xmlns:a="http://schemas.openxmlformats.org/drawingml/2006/main">
              <a:ext uri="{FF2B5EF4-FFF2-40B4-BE49-F238E27FC236}">
                <a16:creationId xmlns:a16="http://schemas.microsoft.com/office/drawing/2014/main" id="{86D327A4-5E49-4CE6-9B1B-72B777FCA2F0}"/>
              </a:ext>
            </a:extLst>
          </p:cNvPr>
          <p:cNvSpPr>
            <a:spLocks xmlns:a="http://schemas.openxmlformats.org/drawingml/2006/main" noGrp="1"/>
          </p:cNvSpPr>
          <p:nvPr/>
        </p:nvSpPr>
        <p:spPr>
          <a:xfrm xmlns:a="http://schemas.openxmlformats.org/drawingml/2006/main">
            <a:off x="9258300" y="4581525"/>
            <a:ext cx="2238375" cy="942975"/>
          </a:xfrm>
          <a:prstGeom xmlns:a="http://schemas.openxmlformats.org/drawingml/2006/main" prst="rect">
            <a:avLst/>
          </a:prstGeom>
          <a:solidFill xmlns:a="http://schemas.openxmlformats.org/drawingml/2006/main">
            <a:srgbClr val="F4F1EA"/>
          </a:solidFill>
          <a:ln xmlns:a="http://schemas.openxmlformats.org/drawingml/2006/main" w="14288">
            <a:solidFill>
              <a:srgbClr val="236F6A"/>
            </a:solidFill>
          </a:ln>
        </p:spPr>
        <p:txBody>
          <a:bodyPr xmlns:a="http://schemas.openxmlformats.org/drawingml/2006/main" lIns="76200" tIns="57150" rIns="76200" bIns="57150" anchor="ctr">
            <a:noAutofit/>
          </a:bodyPr>
          <a:lstStyle xmlns:a="http://schemas.openxmlformats.org/drawingml/2006/main"/>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Записать успех,</a:t>
            </a:r>
          </a:p>
          <a:p xmlns:a="http://schemas.openxmlformats.org/drawingml/2006/main">
            <a:pPr algn="ctr">
              <a:defRPr sz="1800">
                <a:solidFill>
                  <a:srgbClr val="182B3B"/>
                </a:solidFill>
                <a:latin typeface="Helvetica Neue"/>
                <a:ea typeface="Helvetica Neue"/>
                <a:cs typeface="Helvetica Neue"/>
              </a:defRPr>
            </a:pPr>
            <a:r>
              <a:rPr sz="1800">
                <a:solidFill>
                  <a:srgbClr val="182B3B"/>
                </a:solidFill>
                <a:latin typeface="Helvetica Neue"/>
                <a:ea typeface="Helvetica Neue"/>
                <a:cs typeface="Helvetica Neue"/>
              </a:rPr>
              <a:t>затраты и время</a:t>
            </a:r>
          </a:p>
        </p:txBody>
      </p:sp>
      <p:cxnSp>
        <p:nvCxnSpPr>
          <p:cNvPr id="36" name=""/>
          <p:cNvCxnSpPr>
            <a:stCxn xmlns:a="http://schemas.openxmlformats.org/drawingml/2006/main" id="12" idx="3"/>
            <a:endCxn xmlns:a="http://schemas.openxmlformats.org/drawingml/2006/main" id="13" idx="1"/>
          </p:cNvCxnSpPr>
          <p:nvPr/>
        </p:nvCxnSpPr>
        <p:spPr>
          <a:xfrm xmlns:a="http://schemas.openxmlformats.org/drawingml/2006/main">
            <a:off x="2924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37" name=""/>
          <p:cNvCxnSpPr>
            <a:stCxn xmlns:a="http://schemas.openxmlformats.org/drawingml/2006/main" id="13" idx="3"/>
            <a:endCxn xmlns:a="http://schemas.openxmlformats.org/drawingml/2006/main" id="14" idx="1"/>
          </p:cNvCxnSpPr>
          <p:nvPr/>
        </p:nvCxnSpPr>
        <p:spPr>
          <a:xfrm xmlns:a="http://schemas.openxmlformats.org/drawingml/2006/main">
            <a:off x="57816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cxnSp>
        <p:nvCxnSpPr>
          <p:cNvPr id="38" name=""/>
          <p:cNvCxnSpPr>
            <a:stCxn xmlns:a="http://schemas.openxmlformats.org/drawingml/2006/main" id="14" idx="3"/>
            <a:endCxn xmlns:a="http://schemas.openxmlformats.org/drawingml/2006/main" id="15" idx="1"/>
          </p:cNvCxnSpPr>
          <p:nvPr/>
        </p:nvCxnSpPr>
        <p:spPr>
          <a:xfrm xmlns:a="http://schemas.openxmlformats.org/drawingml/2006/main">
            <a:off x="8639175" y="5053013"/>
            <a:ext cx="619125" cy="0"/>
          </a:xfrm>
          <a:prstGeom xmlns:a="http://schemas.openxmlformats.org/drawingml/2006/main" prst="straightConnector1">
            <a:avLst/>
          </a:prstGeom>
          <a:ln xmlns:a="http://schemas.openxmlformats.org/drawingml/2006/main" w="19050">
            <a:solidFill>
              <a:srgbClr val="236F6A"/>
            </a:solidFill>
            <a:tailEnd type="triangle" w="med" len="med"/>
          </a:ln>
        </p:spPr>
      </p:cxnSp>
      <p:sp>
        <p:nvSpPr>
          <p:cNvPr id="19" name="">
            <a:extLst xmlns:a="http://schemas.openxmlformats.org/drawingml/2006/main">
              <a:ext uri="{FF2B5EF4-FFF2-40B4-BE49-F238E27FC236}">
                <a16:creationId xmlns:a16="http://schemas.microsoft.com/office/drawing/2014/main" id="{07A63AEE-CD88-403B-9832-1A63759013B7}"/>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Один тест: полное обращение пользователя. Повторяем его с разными вариантами агента</a:t>
            </a:r>
          </a:p>
        </p:txBody>
      </p:sp>
      <p:sp>
        <p:nvSpPr>
          <p:cNvPr id="20" name="">
            <a:extLst xmlns:a="http://schemas.openxmlformats.org/drawingml/2006/main">
              <a:ext uri="{FF2B5EF4-FFF2-40B4-BE49-F238E27FC236}">
                <a16:creationId xmlns:a16="http://schemas.microsoft.com/office/drawing/2014/main" id="{3E7D68AD-5C1D-4302-BE57-FC0E2594A64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03</a:t>
            </a:r>
          </a:p>
        </p:txBody>
      </p:sp>
    </p:spTree>
    <p:extLst>
      <p:ext uri="{BB962C8B-B14F-4D97-AF65-F5344CB8AC3E}">
        <p14:creationId xmlns:p14="http://schemas.microsoft.com/office/powerpoint/2010/main" val="1354548371"/>
      </p:ext>
    </p:extLst>
  </p:cSld>
</p:sld>
</file>

<file path=ppt/slides/slide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6B49EA2-45B1-414A-AE33-E2C8EC2DEBB6}"/>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Типизированная модель для отдельного решения</a:t>
            </a:r>
          </a:p>
        </p:txBody>
      </p:sp>
      <p:sp>
        <p:nvSpPr>
          <p:cNvPr id="2" name="">
            <a:extLst xmlns:a="http://schemas.openxmlformats.org/drawingml/2006/main">
              <a:ext uri="{FF2B5EF4-FFF2-40B4-BE49-F238E27FC236}">
                <a16:creationId xmlns:a16="http://schemas.microsoft.com/office/drawing/2014/main" id="{72236960-D46C-42F9-B074-A2CB71602FB6}"/>
              </a:ext>
            </a:extLst>
          </p:cNvPr>
          <p:cNvSpPr>
            <a:spLocks xmlns:a="http://schemas.openxmlformats.org/drawingml/2006/main" noGrp="1"/>
          </p:cNvSpPr>
          <p:nvPr/>
        </p:nvSpPr>
        <p:spPr>
          <a:xfrm xmlns:a="http://schemas.openxmlformats.org/drawingml/2006/main">
            <a:off x="685800" y="1657350"/>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Модель оценивает текст ситуации и выбирает один из заранее заданных ответов</a:t>
            </a:r>
          </a:p>
        </p:txBody>
      </p:sp>
      <p:graphicFrame>
        <p:nvGraphicFramePr>
          <p:cNvPr id="8" name=""/>
          <p:cNvGraphicFramePr/>
          <p:nvPr/>
        </p:nvGraphicFramePr>
        <p:xfrm>
          <a:off xmlns:a="http://schemas.openxmlformats.org/drawingml/2006/main" x="685800" y="2466975"/>
          <a:ext xmlns:a="http://schemas.openxmlformats.org/drawingml/2006/main" cx="10820400" cy="2762250"/>
        </p:xfrm>
        <a:graphic xmlns:a="http://schemas.openxmlformats.org/drawingml/2006/main">
          <a:graphicData uri="http://schemas.openxmlformats.org/drawingml/2006/table">
            <a:tbl>
              <a:tblPr/>
              <a:tblGrid>
                <a:gridCol w="5381625"/>
                <a:gridCol w="5438775"/>
              </a:tblGrid>
              <a:tr h="552450">
                <a:tc>
                  <a:txBody>
                    <a:bodyPr>
                      <a:noAutofit/>
                    </a:bodyPr>
                    <a:lstStyle/>
                    <a:p>
                      <a:r>
                        <a:rPr sz="1800" b="1">
                          <a:solidFill>
                            <a:srgbClr val="FFFFFF"/>
                          </a:solidFill>
                          <a:latin typeface="Helvetica Neue"/>
                          <a:ea typeface="Helvetica Neue"/>
                          <a:cs typeface="Helvetica Neue"/>
                        </a:rPr>
                        <a:t>Вход модели</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Выход модели</a:t>
                      </a:r>
                    </a:p>
                  </a:txBody>
                  <a:tcPr marL="133350" marR="133350" marT="95250" marB="95250" anchor="ctr">
                    <a:solidFill>
                      <a:srgbClr val="182B3B"/>
                    </a:solidFill>
                  </a:tcPr>
                </a:tc>
              </a:tr>
              <a:tr h="1104900">
                <a:tc>
                  <a:txBody>
                    <a:bodyPr>
                      <a:noAutofit/>
                    </a:bodyPr>
                    <a:lstStyle/>
                    <a:p>
                      <a:r>
                        <a:rPr sz="1725" b="1">
                          <a:solidFill>
                            <a:srgbClr val="182B3B"/>
                          </a:solidFill>
                          <a:latin typeface="Helvetica Neue"/>
                          <a:ea typeface="Helvetica Neue"/>
                          <a:cs typeface="Helvetica Neue"/>
                        </a:rPr>
                        <a:t>История обращения и найденные сведения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Выбранное действие из заданного списка</a:t>
                      </a:r>
                    </a:p>
                  </a:txBody>
                  <a:tcPr marL="133350" marR="133350" marT="95250" marB="95250" anchor="ctr">
                    <a:solidFill>
                      <a:srgbClr val="F4F1EA"/>
                    </a:solidFill>
                  </a:tcPr>
                </a:tc>
              </a:tr>
              <a:tr h="1104900">
                <a:tc>
                  <a:txBody>
                    <a:bodyPr>
                      <a:noAutofit/>
                    </a:bodyPr>
                    <a:lstStyle/>
                    <a:p>
                      <a:r>
                        <a:rPr sz="1725" b="1">
                          <a:solidFill>
                            <a:srgbClr val="182B3B"/>
                          </a:solidFill>
                          <a:latin typeface="Helvetica Neue"/>
                          <a:ea typeface="Helvetica Neue"/>
                          <a:cs typeface="Helvetica Neue"/>
                        </a:rPr>
                        <a:t>Допустимые действия:</a:t>
                      </a:r>
                    </a:p>
                    <a:p>
                      <a:r>
                        <a:rPr sz="1725" b="1">
                          <a:solidFill>
                            <a:srgbClr val="182B3B"/>
                          </a:solidFill>
                          <a:latin typeface="Helvetica Neue"/>
                          <a:ea typeface="Helvetica Neue"/>
                          <a:cs typeface="Helvetica Neue"/>
                        </a:rPr>
                        <a:t>уточнить, искать документ, передать оператору</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Вероятности вариантов,</a:t>
                      </a:r>
                    </a:p>
                    <a:p>
                      <a:r>
                        <a:rPr sz="1725" b="0">
                          <a:solidFill>
                            <a:srgbClr val="182B3B"/>
                          </a:solidFill>
                          <a:latin typeface="Helvetica Neue"/>
                          <a:ea typeface="Helvetica Neue"/>
                          <a:cs typeface="Helvetica Neue"/>
                        </a:rPr>
                        <a:t>чтобы оценить уверенность выбора</a:t>
                      </a:r>
                    </a:p>
                  </a:txBody>
                  <a:tcPr marL="133350" marR="133350" marT="95250" marB="95250" anchor="ctr">
                    <a:solidFill>
                      <a:srgbClr val="F4F1EA"/>
                    </a:solidFill>
                  </a:tcPr>
                </a:tc>
              </a:tr>
            </a:tbl>
          </a:graphicData>
        </a:graphic>
      </p:graphicFrame>
      <p:sp>
        <p:nvSpPr>
          <p:cNvPr id="4" name="">
            <a:extLst xmlns:a="http://schemas.openxmlformats.org/drawingml/2006/main">
              <a:ext uri="{FF2B5EF4-FFF2-40B4-BE49-F238E27FC236}">
                <a16:creationId xmlns:a16="http://schemas.microsoft.com/office/drawing/2014/main" id="{86187F9E-FFFB-40F0-9EA0-ADA8CD0AA206}"/>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Проверяем, можно ли удешевить этот выбор при сохранении качества полного обращения</a:t>
            </a:r>
          </a:p>
        </p:txBody>
      </p:sp>
      <p:sp>
        <p:nvSpPr>
          <p:cNvPr id="5" name="">
            <a:extLst xmlns:a="http://schemas.openxmlformats.org/drawingml/2006/main">
              <a:ext uri="{FF2B5EF4-FFF2-40B4-BE49-F238E27FC236}">
                <a16:creationId xmlns:a16="http://schemas.microsoft.com/office/drawing/2014/main" id="{6741D3A4-8286-4CCA-B7F7-DE086728CED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04</a:t>
            </a:r>
          </a:p>
        </p:txBody>
      </p:sp>
    </p:spTree>
    <p:extLst>
      <p:ext uri="{BB962C8B-B14F-4D97-AF65-F5344CB8AC3E}">
        <p14:creationId xmlns:p14="http://schemas.microsoft.com/office/powerpoint/2010/main" val="1801730680"/>
      </p:ext>
    </p:extLst>
  </p:cSld>
</p:sld>
</file>

<file path=ppt/slides/slide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92A797A8-EE46-42DB-A78D-E026BE4B00FB}"/>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Контролируемая замена одного узла</a:t>
            </a:r>
          </a:p>
        </p:txBody>
      </p:sp>
      <p:sp>
        <p:nvSpPr>
          <p:cNvPr id="2" name="">
            <a:extLst xmlns:a="http://schemas.openxmlformats.org/drawingml/2006/main">
              <a:ext uri="{FF2B5EF4-FFF2-40B4-BE49-F238E27FC236}">
                <a16:creationId xmlns:a16="http://schemas.microsoft.com/office/drawing/2014/main" id="{5231EC42-F5BF-41C7-B452-77BD12B73266}"/>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Постоянные условия</a:t>
            </a:r>
          </a:p>
        </p:txBody>
      </p:sp>
      <p:sp>
        <p:nvSpPr>
          <p:cNvPr id="3" name="">
            <a:extLst xmlns:a="http://schemas.openxmlformats.org/drawingml/2006/main">
              <a:ext uri="{FF2B5EF4-FFF2-40B4-BE49-F238E27FC236}">
                <a16:creationId xmlns:a16="http://schemas.microsoft.com/office/drawing/2014/main" id="{4A1DE5D9-11A4-47B2-80CB-641B98585443}"/>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Те же задачи, среда, инструменты и языковая модель диалога</a:t>
            </a:r>
          </a:p>
        </p:txBody>
      </p:sp>
      <p:sp>
        <p:nvSpPr>
          <p:cNvPr id="4" name="">
            <a:extLst xmlns:a="http://schemas.openxmlformats.org/drawingml/2006/main">
              <a:ext uri="{FF2B5EF4-FFF2-40B4-BE49-F238E27FC236}">
                <a16:creationId xmlns:a16="http://schemas.microsoft.com/office/drawing/2014/main" id="{D7CE588E-4EE7-486C-8FC1-DDEE4686D4BE}"/>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Изменяемый фактор</a:t>
            </a:r>
          </a:p>
        </p:txBody>
      </p:sp>
      <p:sp>
        <p:nvSpPr>
          <p:cNvPr id="5" name="">
            <a:extLst xmlns:a="http://schemas.openxmlformats.org/drawingml/2006/main">
              <a:ext uri="{FF2B5EF4-FFF2-40B4-BE49-F238E27FC236}">
                <a16:creationId xmlns:a16="http://schemas.microsoft.com/office/drawing/2014/main" id="{3FB6C087-CFEC-4F1D-9E1B-198BA793C90E}"/>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Метод одного решения: языковая модель, простой метод или типизированная модель</a:t>
            </a:r>
          </a:p>
        </p:txBody>
      </p:sp>
      <p:sp>
        <p:nvSpPr>
          <p:cNvPr id="6" name="">
            <a:extLst xmlns:a="http://schemas.openxmlformats.org/drawingml/2006/main">
              <a:ext uri="{FF2B5EF4-FFF2-40B4-BE49-F238E27FC236}">
                <a16:creationId xmlns:a16="http://schemas.microsoft.com/office/drawing/2014/main" id="{6C577C18-C43F-421D-80D0-8D4F1898A796}"/>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Первый узел</a:t>
            </a:r>
          </a:p>
        </p:txBody>
      </p:sp>
      <p:sp>
        <p:nvSpPr>
          <p:cNvPr id="7" name="">
            <a:extLst xmlns:a="http://schemas.openxmlformats.org/drawingml/2006/main">
              <a:ext uri="{FF2B5EF4-FFF2-40B4-BE49-F238E27FC236}">
                <a16:creationId xmlns:a16="http://schemas.microsoft.com/office/drawing/2014/main" id="{5CB224D8-8FF3-467D-B33B-F575E4756BF7}"/>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Выбор следующего действия либо отбор документов для ответа</a:t>
            </a:r>
          </a:p>
        </p:txBody>
      </p:sp>
      <p:sp>
        <p:nvSpPr>
          <p:cNvPr id="8" name="">
            <a:extLst xmlns:a="http://schemas.openxmlformats.org/drawingml/2006/main">
              <a:ext uri="{FF2B5EF4-FFF2-40B4-BE49-F238E27FC236}">
                <a16:creationId xmlns:a16="http://schemas.microsoft.com/office/drawing/2014/main" id="{0F8F6FE9-8675-4B4D-97FD-15AEE9F9CFDC}"/>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Проверка эффекта</a:t>
            </a:r>
          </a:p>
        </p:txBody>
      </p:sp>
      <p:sp>
        <p:nvSpPr>
          <p:cNvPr id="9" name="">
            <a:extLst xmlns:a="http://schemas.openxmlformats.org/drawingml/2006/main">
              <a:ext uri="{FF2B5EF4-FFF2-40B4-BE49-F238E27FC236}">
                <a16:creationId xmlns:a16="http://schemas.microsoft.com/office/drawing/2014/main" id="{D3EF4039-56A7-4DE5-9C41-59323E6A3877}"/>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Ошибки выбранного узла и полный результат агента на одинаковых задачах</a:t>
            </a:r>
          </a:p>
        </p:txBody>
      </p:sp>
      <p:sp>
        <p:nvSpPr>
          <p:cNvPr id="10" name="">
            <a:extLst xmlns:a="http://schemas.openxmlformats.org/drawingml/2006/main">
              <a:ext uri="{FF2B5EF4-FFF2-40B4-BE49-F238E27FC236}">
                <a16:creationId xmlns:a16="http://schemas.microsoft.com/office/drawing/2014/main" id="{A434B085-84D2-47C4-83EF-9068657A6DF2}"/>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Первый узел выберем по пробным запускам: где решение влияет на ошибки и затраты</a:t>
            </a:r>
          </a:p>
        </p:txBody>
      </p:sp>
      <p:sp>
        <p:nvSpPr>
          <p:cNvPr id="11" name="">
            <a:extLst xmlns:a="http://schemas.openxmlformats.org/drawingml/2006/main">
              <a:ext uri="{FF2B5EF4-FFF2-40B4-BE49-F238E27FC236}">
                <a16:creationId xmlns:a16="http://schemas.microsoft.com/office/drawing/2014/main" id="{77C3EF56-8106-4EAC-BFB9-9BA7DF68F68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05</a:t>
            </a:r>
          </a:p>
        </p:txBody>
      </p:sp>
    </p:spTree>
    <p:extLst>
      <p:ext uri="{BB962C8B-B14F-4D97-AF65-F5344CB8AC3E}">
        <p14:creationId xmlns:p14="http://schemas.microsoft.com/office/powerpoint/2010/main" val="134446951"/>
      </p:ext>
    </p:extLst>
  </p:cSld>
</p:sld>
</file>

<file path=ppt/slides/slide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AB981850-19E6-4E2C-8026-42E855B19467}"/>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Математическая задача выбора метода</a:t>
            </a:r>
          </a:p>
        </p:txBody>
      </p:sp>
      <p:sp>
        <p:nvSpPr>
          <p:cNvPr id="2" name="">
            <a:extLst xmlns:a="http://schemas.openxmlformats.org/drawingml/2006/main">
              <a:ext uri="{FF2B5EF4-FFF2-40B4-BE49-F238E27FC236}">
                <a16:creationId xmlns:a16="http://schemas.microsoft.com/office/drawing/2014/main" id="{C83A1AB7-5462-48D7-9FEC-FA8DE779A1DC}"/>
              </a:ext>
            </a:extLst>
          </p:cNvPr>
          <p:cNvSpPr>
            <a:spLocks xmlns:a="http://schemas.openxmlformats.org/drawingml/2006/main" noGrp="1"/>
          </p:cNvSpPr>
          <p:nvPr/>
        </p:nvSpPr>
        <p:spPr>
          <a:xfrm xmlns:a="http://schemas.openxmlformats.org/drawingml/2006/main">
            <a:off x="685800" y="16478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0">
                <a:solidFill>
                  <a:srgbClr val="236F6A"/>
                </a:solidFill>
                <a:latin typeface="Helvetica Neue"/>
                <a:ea typeface="Helvetica Neue"/>
                <a:cs typeface="Helvetica Neue"/>
              </a:defRPr>
            </a:pPr>
            <a:r>
              <a:rPr sz="2250" b="0">
                <a:solidFill>
                  <a:srgbClr val="236F6A"/>
                </a:solidFill>
                <a:latin typeface="Helvetica Neue"/>
                <a:ea typeface="Helvetica Neue"/>
                <a:cs typeface="Helvetica Neue"/>
              </a:rPr>
              <a:t>Минимизировать среднюю стоимость при допустимом ухудшении качества</a:t>
            </a:r>
          </a:p>
        </p:txBody>
      </p:sp>
      <p:sp>
        <p:nvSpPr>
          <p:cNvPr id="3" name="">
            <a:extLst xmlns:a="http://schemas.openxmlformats.org/drawingml/2006/main">
              <a:ext uri="{FF2B5EF4-FFF2-40B4-BE49-F238E27FC236}">
                <a16:creationId xmlns:a16="http://schemas.microsoft.com/office/drawing/2014/main" id="{F18A67B3-230D-41CD-A3FC-8239240F8624}"/>
              </a:ext>
            </a:extLst>
          </p:cNvPr>
          <p:cNvSpPr>
            <a:spLocks xmlns:a="http://schemas.openxmlformats.org/drawingml/2006/main" noGrp="1"/>
          </p:cNvSpPr>
          <p:nvPr/>
        </p:nvSpPr>
        <p:spPr>
          <a:xfrm xmlns:a="http://schemas.openxmlformats.org/drawingml/2006/main">
            <a:off x="1304925" y="2371725"/>
            <a:ext cx="11049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75" b="0">
                <a:solidFill>
                  <a:srgbClr val="182B3B"/>
                </a:solidFill>
                <a:latin typeface="Helvetica Neue"/>
                <a:ea typeface="Helvetica Neue"/>
                <a:cs typeface="Helvetica Neue"/>
              </a:defRPr>
            </a:pPr>
            <a:r>
              <a:rPr sz="3675" b="0">
                <a:solidFill>
                  <a:srgbClr val="182B3B"/>
                </a:solidFill>
                <a:latin typeface="Helvetica Neue"/>
                <a:ea typeface="Helvetica Neue"/>
                <a:cs typeface="Helvetica Neue"/>
              </a:rPr>
              <a:t>min</a:t>
            </a:r>
          </a:p>
        </p:txBody>
      </p:sp>
      <p:sp>
        <p:nvSpPr>
          <p:cNvPr id="4" name="">
            <a:extLst xmlns:a="http://schemas.openxmlformats.org/drawingml/2006/main">
              <a:ext uri="{FF2B5EF4-FFF2-40B4-BE49-F238E27FC236}">
                <a16:creationId xmlns:a16="http://schemas.microsoft.com/office/drawing/2014/main" id="{47D0E126-62FE-4F86-AF83-45112A05CFA6}"/>
              </a:ext>
            </a:extLst>
          </p:cNvPr>
          <p:cNvSpPr>
            <a:spLocks xmlns:a="http://schemas.openxmlformats.org/drawingml/2006/main" noGrp="1"/>
          </p:cNvSpPr>
          <p:nvPr/>
        </p:nvSpPr>
        <p:spPr>
          <a:xfrm xmlns:a="http://schemas.openxmlformats.org/drawingml/2006/main">
            <a:off x="1228725" y="2952750"/>
            <a:ext cx="13049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0">
                <a:solidFill>
                  <a:srgbClr val="182B3B"/>
                </a:solidFill>
                <a:latin typeface="Helvetica Neue"/>
                <a:ea typeface="Helvetica Neue"/>
                <a:cs typeface="Helvetica Neue"/>
              </a:defRPr>
            </a:pPr>
            <a:r>
              <a:rPr sz="1800" b="0">
                <a:solidFill>
                  <a:srgbClr val="182B3B"/>
                </a:solidFill>
                <a:latin typeface="Helvetica Neue"/>
                <a:ea typeface="Helvetica Neue"/>
                <a:cs typeface="Helvetica Neue"/>
              </a:rPr>
              <a:t>π ∈ Π</a:t>
            </a:r>
          </a:p>
        </p:txBody>
      </p:sp>
      <p:sp>
        <p:nvSpPr>
          <p:cNvPr id="5" name="">
            <a:extLst xmlns:a="http://schemas.openxmlformats.org/drawingml/2006/main">
              <a:ext uri="{FF2B5EF4-FFF2-40B4-BE49-F238E27FC236}">
                <a16:creationId xmlns:a16="http://schemas.microsoft.com/office/drawing/2014/main" id="{8DB310F9-63D9-40AF-A8CE-8152C1605C95}"/>
              </a:ext>
            </a:extLst>
          </p:cNvPr>
          <p:cNvSpPr>
            <a:spLocks xmlns:a="http://schemas.openxmlformats.org/drawingml/2006/main" noGrp="1"/>
          </p:cNvSpPr>
          <p:nvPr/>
        </p:nvSpPr>
        <p:spPr>
          <a:xfrm xmlns:a="http://schemas.openxmlformats.org/drawingml/2006/main">
            <a:off x="2762250" y="2371725"/>
            <a:ext cx="74295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675" b="0">
                <a:solidFill>
                  <a:srgbClr val="182B3B"/>
                </a:solidFill>
                <a:latin typeface="Helvetica Neue"/>
                <a:ea typeface="Helvetica Neue"/>
                <a:cs typeface="Helvetica Neue"/>
              </a:defRPr>
            </a:pPr>
            <a:r>
              <a:rPr sz="3675" b="0">
                <a:solidFill>
                  <a:srgbClr val="182B3B"/>
                </a:solidFill>
                <a:latin typeface="Helvetica Neue"/>
                <a:ea typeface="Helvetica Neue"/>
                <a:cs typeface="Helvetica Neue"/>
              </a:rPr>
              <a:t>E[C(π, x)]</a:t>
            </a:r>
          </a:p>
        </p:txBody>
      </p:sp>
      <p:sp>
        <p:nvSpPr>
          <p:cNvPr id="6" name="">
            <a:extLst xmlns:a="http://schemas.openxmlformats.org/drawingml/2006/main">
              <a:ext uri="{FF2B5EF4-FFF2-40B4-BE49-F238E27FC236}">
                <a16:creationId xmlns:a16="http://schemas.microsoft.com/office/drawing/2014/main" id="{1A76A9EF-747A-45EC-8F8F-0DE453D29066}"/>
              </a:ext>
            </a:extLst>
          </p:cNvPr>
          <p:cNvSpPr>
            <a:spLocks xmlns:a="http://schemas.openxmlformats.org/drawingml/2006/main" noGrp="1"/>
          </p:cNvSpPr>
          <p:nvPr/>
        </p:nvSpPr>
        <p:spPr>
          <a:xfrm xmlns:a="http://schemas.openxmlformats.org/drawingml/2006/main">
            <a:off x="1304925" y="3400425"/>
            <a:ext cx="9525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при</a:t>
            </a:r>
          </a:p>
        </p:txBody>
      </p:sp>
      <p:sp>
        <p:nvSpPr>
          <p:cNvPr id="7" name="">
            <a:extLst xmlns:a="http://schemas.openxmlformats.org/drawingml/2006/main">
              <a:ext uri="{FF2B5EF4-FFF2-40B4-BE49-F238E27FC236}">
                <a16:creationId xmlns:a16="http://schemas.microsoft.com/office/drawing/2014/main" id="{2983A39E-5AA0-419D-9876-C30DB657C1A2}"/>
              </a:ext>
            </a:extLst>
          </p:cNvPr>
          <p:cNvSpPr>
            <a:spLocks xmlns:a="http://schemas.openxmlformats.org/drawingml/2006/main" noGrp="1"/>
          </p:cNvSpPr>
          <p:nvPr/>
        </p:nvSpPr>
        <p:spPr>
          <a:xfrm xmlns:a="http://schemas.openxmlformats.org/drawingml/2006/main">
            <a:off x="2762250" y="3333750"/>
            <a:ext cx="85725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182B3B"/>
                </a:solidFill>
                <a:latin typeface="Helvetica Neue"/>
                <a:ea typeface="Helvetica Neue"/>
                <a:cs typeface="Helvetica Neue"/>
              </a:defRPr>
            </a:pPr>
            <a:r>
              <a:rPr sz="2850" b="0">
                <a:solidFill>
                  <a:srgbClr val="182B3B"/>
                </a:solidFill>
                <a:latin typeface="Helvetica Neue"/>
                <a:ea typeface="Helvetica Neue"/>
                <a:cs typeface="Helvetica Neue"/>
              </a:rPr>
              <a:t>E[L(π, x)] − E[L(π₀, x)] ≤ ε</a:t>
            </a:r>
          </a:p>
        </p:txBody>
      </p:sp>
      <p:sp>
        <p:nvSpPr>
          <p:cNvPr id="8" name="">
            <a:extLst xmlns:a="http://schemas.openxmlformats.org/drawingml/2006/main">
              <a:ext uri="{FF2B5EF4-FFF2-40B4-BE49-F238E27FC236}">
                <a16:creationId xmlns:a16="http://schemas.microsoft.com/office/drawing/2014/main" id="{E4EF6F6E-2203-451F-8386-465EA8CCC2FA}"/>
              </a:ext>
            </a:extLst>
          </p:cNvPr>
          <p:cNvSpPr>
            <a:spLocks xmlns:a="http://schemas.openxmlformats.org/drawingml/2006/main" noGrp="1"/>
          </p:cNvSpPr>
          <p:nvPr/>
        </p:nvSpPr>
        <p:spPr>
          <a:xfrm xmlns:a="http://schemas.openxmlformats.org/drawingml/2006/main">
            <a:off x="685800" y="414337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x</a:t>
            </a:r>
          </a:p>
        </p:txBody>
      </p:sp>
      <p:sp>
        <p:nvSpPr>
          <p:cNvPr id="9" name="">
            <a:extLst xmlns:a="http://schemas.openxmlformats.org/drawingml/2006/main">
              <a:ext uri="{FF2B5EF4-FFF2-40B4-BE49-F238E27FC236}">
                <a16:creationId xmlns:a16="http://schemas.microsoft.com/office/drawing/2014/main" id="{FBE43F1E-FCD0-455D-A4AA-389FE0E93581}"/>
              </a:ext>
            </a:extLst>
          </p:cNvPr>
          <p:cNvSpPr>
            <a:spLocks xmlns:a="http://schemas.openxmlformats.org/drawingml/2006/main" noGrp="1"/>
          </p:cNvSpPr>
          <p:nvPr/>
        </p:nvSpPr>
        <p:spPr>
          <a:xfrm xmlns:a="http://schemas.openxmlformats.org/drawingml/2006/main">
            <a:off x="3381375" y="414337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сервисное обращение</a:t>
            </a:r>
          </a:p>
        </p:txBody>
      </p:sp>
      <p:sp>
        <p:nvSpPr>
          <p:cNvPr id="10" name="">
            <a:extLst xmlns:a="http://schemas.openxmlformats.org/drawingml/2006/main">
              <a:ext uri="{FF2B5EF4-FFF2-40B4-BE49-F238E27FC236}">
                <a16:creationId xmlns:a16="http://schemas.microsoft.com/office/drawing/2014/main" id="{D584DE11-26A2-45B1-9CCD-6B1EDCA1AE25}"/>
              </a:ext>
            </a:extLst>
          </p:cNvPr>
          <p:cNvSpPr>
            <a:spLocks xmlns:a="http://schemas.openxmlformats.org/drawingml/2006/main" noGrp="1"/>
          </p:cNvSpPr>
          <p:nvPr/>
        </p:nvSpPr>
        <p:spPr>
          <a:xfrm xmlns:a="http://schemas.openxmlformats.org/drawingml/2006/main">
            <a:off x="685800" y="449580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π ∈ Π</a:t>
            </a:r>
          </a:p>
        </p:txBody>
      </p:sp>
      <p:sp>
        <p:nvSpPr>
          <p:cNvPr id="11" name="">
            <a:extLst xmlns:a="http://schemas.openxmlformats.org/drawingml/2006/main">
              <a:ext uri="{FF2B5EF4-FFF2-40B4-BE49-F238E27FC236}">
                <a16:creationId xmlns:a16="http://schemas.microsoft.com/office/drawing/2014/main" id="{50A9B619-2D97-4AF6-BD29-15C7F07356F4}"/>
              </a:ext>
            </a:extLst>
          </p:cNvPr>
          <p:cNvSpPr>
            <a:spLocks xmlns:a="http://schemas.openxmlformats.org/drawingml/2006/main" noGrp="1"/>
          </p:cNvSpPr>
          <p:nvPr/>
        </p:nvSpPr>
        <p:spPr>
          <a:xfrm xmlns:a="http://schemas.openxmlformats.org/drawingml/2006/main">
            <a:off x="3381375" y="449580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правило выбора из рассматриваемого набора</a:t>
            </a:r>
          </a:p>
        </p:txBody>
      </p:sp>
      <p:sp>
        <p:nvSpPr>
          <p:cNvPr id="12" name="">
            <a:extLst xmlns:a="http://schemas.openxmlformats.org/drawingml/2006/main">
              <a:ext uri="{FF2B5EF4-FFF2-40B4-BE49-F238E27FC236}">
                <a16:creationId xmlns:a16="http://schemas.microsoft.com/office/drawing/2014/main" id="{4AD2ABBF-42D3-410B-8CE6-C5B343702CAE}"/>
              </a:ext>
            </a:extLst>
          </p:cNvPr>
          <p:cNvSpPr>
            <a:spLocks xmlns:a="http://schemas.openxmlformats.org/drawingml/2006/main" noGrp="1"/>
          </p:cNvSpPr>
          <p:nvPr/>
        </p:nvSpPr>
        <p:spPr>
          <a:xfrm xmlns:a="http://schemas.openxmlformats.org/drawingml/2006/main">
            <a:off x="685800" y="4848225"/>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C(π, x), L(π, x)</a:t>
            </a:r>
          </a:p>
        </p:txBody>
      </p:sp>
      <p:sp>
        <p:nvSpPr>
          <p:cNvPr id="13" name="">
            <a:extLst xmlns:a="http://schemas.openxmlformats.org/drawingml/2006/main">
              <a:ext uri="{FF2B5EF4-FFF2-40B4-BE49-F238E27FC236}">
                <a16:creationId xmlns:a16="http://schemas.microsoft.com/office/drawing/2014/main" id="{1B1780C0-7102-43BC-9318-99CFFC97BB7F}"/>
              </a:ext>
            </a:extLst>
          </p:cNvPr>
          <p:cNvSpPr>
            <a:spLocks xmlns:a="http://schemas.openxmlformats.org/drawingml/2006/main" noGrp="1"/>
          </p:cNvSpPr>
          <p:nvPr/>
        </p:nvSpPr>
        <p:spPr>
          <a:xfrm xmlns:a="http://schemas.openxmlformats.org/drawingml/2006/main">
            <a:off x="3381375" y="4848225"/>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стоимость и потеря качества на обращении</a:t>
            </a:r>
          </a:p>
        </p:txBody>
      </p:sp>
      <p:sp>
        <p:nvSpPr>
          <p:cNvPr id="14" name="">
            <a:extLst xmlns:a="http://schemas.openxmlformats.org/drawingml/2006/main">
              <a:ext uri="{FF2B5EF4-FFF2-40B4-BE49-F238E27FC236}">
                <a16:creationId xmlns:a16="http://schemas.microsoft.com/office/drawing/2014/main" id="{BE3A7F1F-3AAD-4C9B-B2BB-46B117425962}"/>
              </a:ext>
            </a:extLst>
          </p:cNvPr>
          <p:cNvSpPr>
            <a:spLocks xmlns:a="http://schemas.openxmlformats.org/drawingml/2006/main" noGrp="1"/>
          </p:cNvSpPr>
          <p:nvPr/>
        </p:nvSpPr>
        <p:spPr>
          <a:xfrm xmlns:a="http://schemas.openxmlformats.org/drawingml/2006/main">
            <a:off x="685800" y="5200650"/>
            <a:ext cx="25241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00" b="1">
                <a:solidFill>
                  <a:srgbClr val="236F6A"/>
                </a:solidFill>
                <a:latin typeface="Helvetica Neue"/>
                <a:ea typeface="Helvetica Neue"/>
                <a:cs typeface="Helvetica Neue"/>
              </a:defRPr>
            </a:pPr>
            <a:r>
              <a:rPr sz="1800" b="1">
                <a:solidFill>
                  <a:srgbClr val="236F6A"/>
                </a:solidFill>
                <a:latin typeface="Helvetica Neue"/>
                <a:ea typeface="Helvetica Neue"/>
                <a:cs typeface="Helvetica Neue"/>
              </a:rPr>
              <a:t>π₀, ε</a:t>
            </a:r>
          </a:p>
        </p:txBody>
      </p:sp>
      <p:sp>
        <p:nvSpPr>
          <p:cNvPr id="15" name="">
            <a:extLst xmlns:a="http://schemas.openxmlformats.org/drawingml/2006/main">
              <a:ext uri="{FF2B5EF4-FFF2-40B4-BE49-F238E27FC236}">
                <a16:creationId xmlns:a16="http://schemas.microsoft.com/office/drawing/2014/main" id="{CB1D4CAE-EF02-4E28-A528-3A5AE4F7E20F}"/>
              </a:ext>
            </a:extLst>
          </p:cNvPr>
          <p:cNvSpPr>
            <a:spLocks xmlns:a="http://schemas.openxmlformats.org/drawingml/2006/main" noGrp="1"/>
          </p:cNvSpPr>
          <p:nvPr/>
        </p:nvSpPr>
        <p:spPr>
          <a:xfrm xmlns:a="http://schemas.openxmlformats.org/drawingml/2006/main">
            <a:off x="3381375" y="5200650"/>
            <a:ext cx="81248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950" b="0">
                <a:solidFill>
                  <a:srgbClr val="182B3B"/>
                </a:solidFill>
                <a:latin typeface="Helvetica Neue"/>
                <a:ea typeface="Helvetica Neue"/>
                <a:cs typeface="Helvetica Neue"/>
              </a:defRPr>
            </a:pPr>
            <a:r>
              <a:rPr sz="1950" b="0">
                <a:solidFill>
                  <a:srgbClr val="182B3B"/>
                </a:solidFill>
                <a:latin typeface="Helvetica Neue"/>
                <a:ea typeface="Helvetica Neue"/>
                <a:cs typeface="Helvetica Neue"/>
              </a:rPr>
              <a:t>исходное правило и допустимое ухудшение</a:t>
            </a:r>
          </a:p>
        </p:txBody>
      </p:sp>
      <p:sp>
        <p:nvSpPr>
          <p:cNvPr id="16" name="">
            <a:extLst xmlns:a="http://schemas.openxmlformats.org/drawingml/2006/main">
              <a:ext uri="{FF2B5EF4-FFF2-40B4-BE49-F238E27FC236}">
                <a16:creationId xmlns:a16="http://schemas.microsoft.com/office/drawing/2014/main" id="{B64717FC-934F-4424-9ED3-F913E6C99C49}"/>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Нужно определить функцию потерь, допустимое ухудшение и класс сравниваемых правил</a:t>
            </a:r>
          </a:p>
        </p:txBody>
      </p:sp>
      <p:sp>
        <p:nvSpPr>
          <p:cNvPr id="17" name="">
            <a:extLst xmlns:a="http://schemas.openxmlformats.org/drawingml/2006/main">
              <a:ext uri="{FF2B5EF4-FFF2-40B4-BE49-F238E27FC236}">
                <a16:creationId xmlns:a16="http://schemas.microsoft.com/office/drawing/2014/main" id="{779489E3-4F0C-4E0C-8707-E4DA935E929F}"/>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06</a:t>
            </a:r>
          </a:p>
        </p:txBody>
      </p:sp>
    </p:spTree>
    <p:extLst>
      <p:ext uri="{BB962C8B-B14F-4D97-AF65-F5344CB8AC3E}">
        <p14:creationId xmlns:p14="http://schemas.microsoft.com/office/powerpoint/2010/main" val="798379161"/>
      </p:ext>
    </p:extLst>
  </p:cSld>
</p:sld>
</file>

<file path=ppt/slides/slide7.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9838A1-46DA-4580-8F34-433873EC118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 использовать вероятности модели</a:t>
            </a:r>
          </a:p>
        </p:txBody>
      </p:sp>
      <p:sp>
        <p:nvSpPr>
          <p:cNvPr id="2" name="">
            <a:extLst xmlns:a="http://schemas.openxmlformats.org/drawingml/2006/main">
              <a:ext uri="{FF2B5EF4-FFF2-40B4-BE49-F238E27FC236}">
                <a16:creationId xmlns:a16="http://schemas.microsoft.com/office/drawing/2014/main" id="{D50D18F7-51FF-4CE0-AE92-E7F1C7410F7F}"/>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Оценка вариантов</a:t>
            </a:r>
          </a:p>
        </p:txBody>
      </p:sp>
      <p:sp>
        <p:nvSpPr>
          <p:cNvPr id="3" name="">
            <a:extLst xmlns:a="http://schemas.openxmlformats.org/drawingml/2006/main">
              <a:ext uri="{FF2B5EF4-FFF2-40B4-BE49-F238E27FC236}">
                <a16:creationId xmlns:a16="http://schemas.microsoft.com/office/drawing/2014/main" id="{3D7AD8C2-B763-4F78-9DE7-B6DFABC50FAC}"/>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Типизированная модель выбирает действие и возвращает вероятности</a:t>
            </a:r>
          </a:p>
        </p:txBody>
      </p:sp>
      <p:sp>
        <p:nvSpPr>
          <p:cNvPr id="4" name="">
            <a:extLst xmlns:a="http://schemas.openxmlformats.org/drawingml/2006/main">
              <a:ext uri="{FF2B5EF4-FFF2-40B4-BE49-F238E27FC236}">
                <a16:creationId xmlns:a16="http://schemas.microsoft.com/office/drawing/2014/main" id="{3F8F109C-5F95-40BC-9B62-7E53C9A45B32}"/>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Уверенный выбор</a:t>
            </a:r>
          </a:p>
        </p:txBody>
      </p:sp>
      <p:sp>
        <p:nvSpPr>
          <p:cNvPr id="5" name="">
            <a:extLst xmlns:a="http://schemas.openxmlformats.org/drawingml/2006/main">
              <a:ext uri="{FF2B5EF4-FFF2-40B4-BE49-F238E27FC236}">
                <a16:creationId xmlns:a16="http://schemas.microsoft.com/office/drawing/2014/main" id="{64B5BC10-89BF-42C2-BF85-B8B2AD5630A7}"/>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Программа использует решение модели, если оценка проходит порог</a:t>
            </a:r>
          </a:p>
        </p:txBody>
      </p:sp>
      <p:sp>
        <p:nvSpPr>
          <p:cNvPr id="6" name="">
            <a:extLst xmlns:a="http://schemas.openxmlformats.org/drawingml/2006/main">
              <a:ext uri="{FF2B5EF4-FFF2-40B4-BE49-F238E27FC236}">
                <a16:creationId xmlns:a16="http://schemas.microsoft.com/office/drawing/2014/main" id="{BE47FB92-37F1-4064-BEF7-C3286628C9F4}"/>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Неуверенный выбор</a:t>
            </a:r>
          </a:p>
        </p:txBody>
      </p:sp>
      <p:sp>
        <p:nvSpPr>
          <p:cNvPr id="7" name="">
            <a:extLst xmlns:a="http://schemas.openxmlformats.org/drawingml/2006/main">
              <a:ext uri="{FF2B5EF4-FFF2-40B4-BE49-F238E27FC236}">
                <a16:creationId xmlns:a16="http://schemas.microsoft.com/office/drawing/2014/main" id="{58BA5EA3-62AE-4DB4-94C1-1250EE2ED738}"/>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Тот же вопрос решает исходная языковая модель</a:t>
            </a:r>
          </a:p>
        </p:txBody>
      </p:sp>
      <p:sp>
        <p:nvSpPr>
          <p:cNvPr id="8" name="">
            <a:extLst xmlns:a="http://schemas.openxmlformats.org/drawingml/2006/main">
              <a:ext uri="{FF2B5EF4-FFF2-40B4-BE49-F238E27FC236}">
                <a16:creationId xmlns:a16="http://schemas.microsoft.com/office/drawing/2014/main" id="{E21F7B70-CA80-459B-ABB1-72604974D7D8}"/>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Исследуемый параметр</a:t>
            </a:r>
          </a:p>
        </p:txBody>
      </p:sp>
      <p:sp>
        <p:nvSpPr>
          <p:cNvPr id="9" name="">
            <a:extLst xmlns:a="http://schemas.openxmlformats.org/drawingml/2006/main">
              <a:ext uri="{FF2B5EF4-FFF2-40B4-BE49-F238E27FC236}">
                <a16:creationId xmlns:a16="http://schemas.microsoft.com/office/drawing/2014/main" id="{FBB66AB0-C383-4F5B-A235-F042EC219CB9}"/>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Как порог меняет число ошибок, долю дешёвых решений и затраты</a:t>
            </a:r>
          </a:p>
        </p:txBody>
      </p:sp>
      <p:sp>
        <p:nvSpPr>
          <p:cNvPr id="10" name="">
            <a:extLst xmlns:a="http://schemas.openxmlformats.org/drawingml/2006/main">
              <a:ext uri="{FF2B5EF4-FFF2-40B4-BE49-F238E27FC236}">
                <a16:creationId xmlns:a16="http://schemas.microsoft.com/office/drawing/2014/main" id="{2F3689C4-493D-4EA0-ADE6-AEFEFC27F0A9}"/>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Калибровка: соответствует ли заявленная вероятность фактической частоте правильных ответов?</a:t>
            </a:r>
          </a:p>
        </p:txBody>
      </p:sp>
      <p:sp>
        <p:nvSpPr>
          <p:cNvPr id="11" name="">
            <a:extLst xmlns:a="http://schemas.openxmlformats.org/drawingml/2006/main">
              <a:ext uri="{FF2B5EF4-FFF2-40B4-BE49-F238E27FC236}">
                <a16:creationId xmlns:a16="http://schemas.microsoft.com/office/drawing/2014/main" id="{BA8FD5D7-FEB2-4AFA-AF60-7574867030F3}"/>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07</a:t>
            </a:r>
          </a:p>
        </p:txBody>
      </p:sp>
    </p:spTree>
    <p:extLst>
      <p:ext uri="{BB962C8B-B14F-4D97-AF65-F5344CB8AC3E}">
        <p14:creationId xmlns:p14="http://schemas.microsoft.com/office/powerpoint/2010/main" val="821830190"/>
      </p:ext>
    </p:extLst>
  </p:cSld>
</p:sld>
</file>

<file path=ppt/slides/slide8.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1AE7B8E-BE1C-4116-AB56-F674EF6F1491}"/>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Готовая среда для тестирования</a:t>
            </a:r>
          </a:p>
        </p:txBody>
      </p:sp>
      <p:sp>
        <p:nvSpPr>
          <p:cNvPr id="2" name="">
            <a:extLst xmlns:a="http://schemas.openxmlformats.org/drawingml/2006/main">
              <a:ext uri="{FF2B5EF4-FFF2-40B4-BE49-F238E27FC236}">
                <a16:creationId xmlns:a16="http://schemas.microsoft.com/office/drawing/2014/main" id="{E1583C04-4AE9-4316-BF2D-3E0CD6D214D2}"/>
              </a:ext>
            </a:extLst>
          </p:cNvPr>
          <p:cNvSpPr>
            <a:spLocks xmlns:a="http://schemas.openxmlformats.org/drawingml/2006/main" noGrp="1"/>
          </p:cNvSpPr>
          <p:nvPr/>
        </p:nvSpPr>
        <p:spPr>
          <a:xfrm xmlns:a="http://schemas.openxmlformats.org/drawingml/2006/main">
            <a:off x="685800" y="1809750"/>
            <a:ext cx="4857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τ-knowledge: банковский сервис</a:t>
            </a:r>
          </a:p>
        </p:txBody>
      </p:sp>
      <p:sp>
        <p:nvSpPr>
          <p:cNvPr id="3" name="">
            <a:extLst xmlns:a="http://schemas.openxmlformats.org/drawingml/2006/main">
              <a:ext uri="{FF2B5EF4-FFF2-40B4-BE49-F238E27FC236}">
                <a16:creationId xmlns:a16="http://schemas.microsoft.com/office/drawing/2014/main" id="{4CE0DA82-CE52-48E4-BC09-7D5B164BF316}"/>
              </a:ext>
            </a:extLst>
          </p:cNvPr>
          <p:cNvSpPr>
            <a:spLocks xmlns:a="http://schemas.openxmlformats.org/drawingml/2006/main" noGrp="1"/>
          </p:cNvSpPr>
          <p:nvPr/>
        </p:nvSpPr>
        <p:spPr>
          <a:xfrm xmlns:a="http://schemas.openxmlformats.org/drawingml/2006/main">
            <a:off x="6381750" y="1809750"/>
            <a:ext cx="51244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250" b="1">
                <a:solidFill>
                  <a:srgbClr val="236F6A"/>
                </a:solidFill>
                <a:latin typeface="Helvetica Neue"/>
                <a:ea typeface="Helvetica Neue"/>
                <a:cs typeface="Helvetica Neue"/>
              </a:defRPr>
            </a:pPr>
            <a:r>
              <a:rPr sz="2250" b="1">
                <a:solidFill>
                  <a:srgbClr val="236F6A"/>
                </a:solidFill>
                <a:latin typeface="Helvetica Neue"/>
                <a:ea typeface="Helvetica Neue"/>
                <a:cs typeface="Helvetica Neue"/>
              </a:rPr>
              <a:t>Что мы получаем</a:t>
            </a:r>
          </a:p>
        </p:txBody>
      </p:sp>
      <p:sp>
        <p:nvSpPr>
          <p:cNvPr id="4" name="">
            <a:extLst xmlns:a="http://schemas.openxmlformats.org/drawingml/2006/main">
              <a:ext uri="{FF2B5EF4-FFF2-40B4-BE49-F238E27FC236}">
                <a16:creationId xmlns:a16="http://schemas.microsoft.com/office/drawing/2014/main" id="{2DFD964A-DEC8-4C7C-B97A-DD2DC4915C1B}"/>
              </a:ext>
            </a:extLst>
          </p:cNvPr>
          <p:cNvSpPr>
            <a:spLocks xmlns:a="http://schemas.openxmlformats.org/drawingml/2006/main" noGrp="1"/>
          </p:cNvSpPr>
          <p:nvPr/>
        </p:nvSpPr>
        <p:spPr>
          <a:xfrm xmlns:a="http://schemas.openxmlformats.org/drawingml/2006/main">
            <a:off x="685800" y="247650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Задания для диалога с пользователем</a:t>
            </a:r>
          </a:p>
        </p:txBody>
      </p:sp>
      <p:sp>
        <p:nvSpPr>
          <p:cNvPr id="5" name="">
            <a:extLst xmlns:a="http://schemas.openxmlformats.org/drawingml/2006/main">
              <a:ext uri="{FF2B5EF4-FFF2-40B4-BE49-F238E27FC236}">
                <a16:creationId xmlns:a16="http://schemas.microsoft.com/office/drawing/2014/main" id="{F06CF601-1363-49F5-8B82-74BBB92E4886}"/>
              </a:ext>
            </a:extLst>
          </p:cNvPr>
          <p:cNvSpPr>
            <a:spLocks xmlns:a="http://schemas.openxmlformats.org/drawingml/2006/main" noGrp="1"/>
          </p:cNvSpPr>
          <p:nvPr/>
        </p:nvSpPr>
        <p:spPr>
          <a:xfrm xmlns:a="http://schemas.openxmlformats.org/drawingml/2006/main">
            <a:off x="685800" y="3419475"/>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База знаний с правилами обслуживания</a:t>
            </a:r>
          </a:p>
        </p:txBody>
      </p:sp>
      <p:sp>
        <p:nvSpPr>
          <p:cNvPr id="6" name="">
            <a:extLst xmlns:a="http://schemas.openxmlformats.org/drawingml/2006/main">
              <a:ext uri="{FF2B5EF4-FFF2-40B4-BE49-F238E27FC236}">
                <a16:creationId xmlns:a16="http://schemas.microsoft.com/office/drawing/2014/main" id="{FD20EC2A-05AC-466E-B53A-5BE7047C271C}"/>
              </a:ext>
            </a:extLst>
          </p:cNvPr>
          <p:cNvSpPr>
            <a:spLocks xmlns:a="http://schemas.openxmlformats.org/drawingml/2006/main" noGrp="1"/>
          </p:cNvSpPr>
          <p:nvPr/>
        </p:nvSpPr>
        <p:spPr>
          <a:xfrm xmlns:a="http://schemas.openxmlformats.org/drawingml/2006/main">
            <a:off x="685800" y="4362450"/>
            <a:ext cx="48196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Инструменты и проверка выполненных операций</a:t>
            </a:r>
          </a:p>
        </p:txBody>
      </p:sp>
      <p:sp>
        <p:nvSpPr>
          <p:cNvPr id="7" name="">
            <a:extLst xmlns:a="http://schemas.openxmlformats.org/drawingml/2006/main">
              <a:ext uri="{FF2B5EF4-FFF2-40B4-BE49-F238E27FC236}">
                <a16:creationId xmlns:a16="http://schemas.microsoft.com/office/drawing/2014/main" id="{7C544363-4BF0-4DC9-ACF3-1D751B0EF4AC}"/>
              </a:ext>
            </a:extLst>
          </p:cNvPr>
          <p:cNvSpPr>
            <a:spLocks xmlns:a="http://schemas.openxmlformats.org/drawingml/2006/main" noGrp="1"/>
          </p:cNvSpPr>
          <p:nvPr/>
        </p:nvSpPr>
        <p:spPr>
          <a:xfrm xmlns:a="http://schemas.openxmlformats.org/drawingml/2006/main">
            <a:off x="6381750" y="247650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Одинаковые условия для разных агентов</a:t>
            </a:r>
          </a:p>
        </p:txBody>
      </p:sp>
      <p:sp>
        <p:nvSpPr>
          <p:cNvPr id="8" name="">
            <a:extLst xmlns:a="http://schemas.openxmlformats.org/drawingml/2006/main">
              <a:ext uri="{FF2B5EF4-FFF2-40B4-BE49-F238E27FC236}">
                <a16:creationId xmlns:a16="http://schemas.microsoft.com/office/drawing/2014/main" id="{74C8249A-74A1-4BF9-8A55-0E5A66BFC6C6}"/>
              </a:ext>
            </a:extLst>
          </p:cNvPr>
          <p:cNvSpPr>
            <a:spLocks xmlns:a="http://schemas.openxmlformats.org/drawingml/2006/main" noGrp="1"/>
          </p:cNvSpPr>
          <p:nvPr/>
        </p:nvSpPr>
        <p:spPr>
          <a:xfrm xmlns:a="http://schemas.openxmlformats.org/drawingml/2006/main">
            <a:off x="6381750" y="3419475"/>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Проверку действий и итогового состояния</a:t>
            </a:r>
          </a:p>
        </p:txBody>
      </p:sp>
      <p:sp>
        <p:nvSpPr>
          <p:cNvPr id="9" name="">
            <a:extLst xmlns:a="http://schemas.openxmlformats.org/drawingml/2006/main">
              <a:ext uri="{FF2B5EF4-FFF2-40B4-BE49-F238E27FC236}">
                <a16:creationId xmlns:a16="http://schemas.microsoft.com/office/drawing/2014/main" id="{FE532578-D11D-412B-AD96-221D927EB7E4}"/>
              </a:ext>
            </a:extLst>
          </p:cNvPr>
          <p:cNvSpPr>
            <a:spLocks xmlns:a="http://schemas.openxmlformats.org/drawingml/2006/main" noGrp="1"/>
          </p:cNvSpPr>
          <p:nvPr/>
        </p:nvSpPr>
        <p:spPr>
          <a:xfrm xmlns:a="http://schemas.openxmlformats.org/drawingml/2006/main">
            <a:off x="6381750" y="4362450"/>
            <a:ext cx="50958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Возможность повторить каждое обращение</a:t>
            </a:r>
          </a:p>
        </p:txBody>
      </p:sp>
      <p:sp>
        <p:nvSpPr>
          <p:cNvPr id="10" name="">
            <a:extLst xmlns:a="http://schemas.openxmlformats.org/drawingml/2006/main">
              <a:ext uri="{FF2B5EF4-FFF2-40B4-BE49-F238E27FC236}">
                <a16:creationId xmlns:a16="http://schemas.microsoft.com/office/drawing/2014/main" id="{F7D5AAB2-8ABF-41FD-AF3C-DC9321EE1444}"/>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Основной кандидат: банковские задачи. Для отладки рассматриваем более простой магазин</a:t>
            </a:r>
          </a:p>
        </p:txBody>
      </p:sp>
      <p:sp>
        <p:nvSpPr>
          <p:cNvPr id="11" name="">
            <a:extLst xmlns:a="http://schemas.openxmlformats.org/drawingml/2006/main">
              <a:ext uri="{FF2B5EF4-FFF2-40B4-BE49-F238E27FC236}">
                <a16:creationId xmlns:a16="http://schemas.microsoft.com/office/drawing/2014/main" id="{5B1F0B50-1F7B-4AB8-9463-87BA46CC5DBB}"/>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08</a:t>
            </a:r>
          </a:p>
        </p:txBody>
      </p:sp>
    </p:spTree>
    <p:extLst>
      <p:ext uri="{BB962C8B-B14F-4D97-AF65-F5344CB8AC3E}">
        <p14:creationId xmlns:p14="http://schemas.microsoft.com/office/powerpoint/2010/main" val="1862139106"/>
      </p:ext>
    </p:extLst>
  </p:cSld>
</p:sld>
</file>

<file path=ppt/slides/slide9.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8A1C753-47BB-4736-871F-9B9BECEFB000}"/>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Какие способы решения сравним</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3048000"/>
                <a:gridCol w="7772400"/>
              </a:tblGrid>
              <a:tr h="552450">
                <a:tc>
                  <a:txBody>
                    <a:bodyPr>
                      <a:noAutofit/>
                    </a:bodyPr>
                    <a:lstStyle/>
                    <a:p>
                      <a:r>
                        <a:rPr sz="1800" b="1">
                          <a:solidFill>
                            <a:srgbClr val="FFFFFF"/>
                          </a:solidFill>
                          <a:latin typeface="Helvetica Neue"/>
                          <a:ea typeface="Helvetica Neue"/>
                          <a:cs typeface="Helvetica Neue"/>
                        </a:rPr>
                        <a:t>Способ</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это означает</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Языковая модель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Исходный агент. Та же модель ведёт диалог</a:t>
                      </a:r>
                    </a:p>
                    <a:p>
                      <a:r>
                        <a:rPr sz="1725" b="0">
                          <a:solidFill>
                            <a:srgbClr val="182B3B"/>
                          </a:solidFill>
                          <a:latin typeface="Helvetica Neue"/>
                          <a:ea typeface="Helvetica Neue"/>
                          <a:cs typeface="Helvetica Neue"/>
                        </a:rPr>
                        <a:t>и принимает исследуемое решение</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Простой метод</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Правила или обычный классификатор для выбора действия</a:t>
                      </a:r>
                    </a:p>
                    <a:p>
                      <a:r>
                        <a:rPr sz="1725" b="0">
                          <a:solidFill>
                            <a:srgbClr val="182B3B"/>
                          </a:solidFill>
                          <a:latin typeface="Helvetica Neue"/>
                          <a:ea typeface="Helvetica Neue"/>
                          <a:cs typeface="Helvetica Neue"/>
                        </a:rPr>
                        <a:t>Специализированная модель для отбора документов</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KEV и Laya</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Готовые модели для типизированных решений с вероятностями</a:t>
                      </a:r>
                    </a:p>
                    <a:p>
                      <a:r>
                        <a:rPr sz="1725" b="0">
                          <a:solidFill>
                            <a:srgbClr val="182B3B"/>
                          </a:solidFill>
                          <a:latin typeface="Helvetica Neue"/>
                          <a:ea typeface="Helvetica Neue"/>
                          <a:cs typeface="Helvetica Neue"/>
                        </a:rPr>
                        <a:t>Открытые модели других разработчиков для нашего эксперимента</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D06E5288-007C-4BED-9EFF-48764DD1DAF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KEV и Laya: кандидаты для эксперимента. Их преимущество пока не установлено</a:t>
            </a:r>
          </a:p>
        </p:txBody>
      </p:sp>
      <p:sp>
        <p:nvSpPr>
          <p:cNvPr id="4" name="">
            <a:extLst xmlns:a="http://schemas.openxmlformats.org/drawingml/2006/main">
              <a:ext uri="{FF2B5EF4-FFF2-40B4-BE49-F238E27FC236}">
                <a16:creationId xmlns:a16="http://schemas.microsoft.com/office/drawing/2014/main" id="{AA858632-1860-415E-BD4B-749D9AAFB4A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09</a:t>
            </a:r>
          </a:p>
        </p:txBody>
      </p:sp>
    </p:spTree>
    <p:extLst>
      <p:ext uri="{BB962C8B-B14F-4D97-AF65-F5344CB8AC3E}">
        <p14:creationId xmlns:p14="http://schemas.microsoft.com/office/powerpoint/2010/main" val="1380590615"/>
      </p:ext>
    </p:extLst>
  </p:cSld>
</p:sld>
</file>

<file path=ppt/slides/slide10.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DD34EE9-BE7D-4DB2-A0F2-26C316D5A28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Качество и полная цена решения</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286000"/>
                <a:gridCol w="5715000"/>
                <a:gridCol w="2819400"/>
              </a:tblGrid>
              <a:tr h="552450">
                <a:tc>
                  <a:txBody>
                    <a:bodyPr>
                      <a:noAutofit/>
                    </a:bodyPr>
                    <a:lstStyle/>
                    <a:p>
                      <a:r>
                        <a:rPr sz="1800" b="1">
                          <a:solidFill>
                            <a:srgbClr val="FFFFFF"/>
                          </a:solidFill>
                          <a:latin typeface="Helvetica Neue"/>
                          <a:ea typeface="Helvetica Neue"/>
                          <a:cs typeface="Helvetica Neue"/>
                        </a:rPr>
                        <a:t>Уровень</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учитываем</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Что показываем</a:t>
                      </a:r>
                    </a:p>
                  </a:txBody>
                  <a:tcPr marL="133350" marR="133350" marT="95250" marB="95250" anchor="ctr">
                    <a:solidFill>
                      <a:srgbClr val="182B3B"/>
                    </a:solidFill>
                  </a:tcPr>
                </a:tc>
              </a:tr>
              <a:tr h="790575">
                <a:tc>
                  <a:txBody>
                    <a:bodyPr>
                      <a:noAutofit/>
                    </a:bodyPr>
                    <a:lstStyle/>
                    <a:p>
                      <a:r>
                        <a:rPr sz="1725" b="1">
                          <a:solidFill>
                            <a:srgbClr val="182B3B"/>
                          </a:solidFill>
                          <a:latin typeface="Helvetica Neue"/>
                          <a:ea typeface="Helvetica Neue"/>
                          <a:cs typeface="Helvetica Neue"/>
                        </a:rPr>
                        <a:t>Агент</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Успех задачи и типы ошибок</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Доля успехов</a:t>
                      </a:r>
                    </a:p>
                    <a:p>
                      <a:r>
                        <a:rPr sz="1725" b="0">
                          <a:solidFill>
                            <a:srgbClr val="182B3B"/>
                          </a:solidFill>
                          <a:latin typeface="Helvetica Neue"/>
                          <a:ea typeface="Helvetica Neue"/>
                          <a:cs typeface="Helvetica Neue"/>
                        </a:rPr>
                        <a:t>и интервалы</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Узел</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Ошибка выбора, калибровка, передача в LLM</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Метрики по задаче</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Стоимость</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Все вызовы, повторы, ошибки и fallback</a:t>
                      </a:r>
                    </a:p>
                    <a:p>
                      <a:r>
                        <a:rPr sz="1725" b="0">
                          <a:solidFill>
                            <a:srgbClr val="182B3B"/>
                          </a:solidFill>
                          <a:latin typeface="Helvetica Neue"/>
                          <a:ea typeface="Helvetica Neue"/>
                          <a:cs typeface="Helvetica Neue"/>
                        </a:rPr>
                        <a:t>Разметка и обучение учитываются отдельно</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На задачу</a:t>
                      </a:r>
                    </a:p>
                    <a:p>
                      <a:r>
                        <a:rPr sz="1725" b="0">
                          <a:solidFill>
                            <a:srgbClr val="182B3B"/>
                          </a:solidFill>
                          <a:latin typeface="Helvetica Neue"/>
                          <a:ea typeface="Helvetica Neue"/>
                          <a:cs typeface="Helvetica Neue"/>
                        </a:rPr>
                        <a:t>и на успех</a:t>
                      </a:r>
                    </a:p>
                  </a:txBody>
                  <a:tcPr marL="133350" marR="133350" marT="95250" marB="95250" anchor="ctr">
                    <a:solidFill>
                      <a:srgbClr val="F4F1EA"/>
                    </a:solidFill>
                  </a:tcPr>
                </a:tc>
              </a:tr>
              <a:tr h="790575">
                <a:tc>
                  <a:txBody>
                    <a:bodyPr>
                      <a:noAutofit/>
                    </a:bodyPr>
                    <a:lstStyle/>
                    <a:p>
                      <a:r>
                        <a:rPr sz="1725" b="1">
                          <a:solidFill>
                            <a:srgbClr val="182B3B"/>
                          </a:solidFill>
                          <a:latin typeface="Helvetica Neue"/>
                          <a:ea typeface="Helvetica Neue"/>
                          <a:cs typeface="Helvetica Neue"/>
                        </a:rPr>
                        <a:t>Задержка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Агент с инструментами отдельно от симулятора</a:t>
                      </a:r>
                    </a:p>
                    <a:p>
                      <a:r>
                        <a:rPr sz="1725" b="0">
                          <a:solidFill>
                            <a:srgbClr val="182B3B"/>
                          </a:solidFill>
                          <a:latin typeface="Helvetica Neue"/>
                          <a:ea typeface="Helvetica Neue"/>
                          <a:cs typeface="Helvetica Neue"/>
                        </a:rPr>
                        <a:t>Загрузка модели отдельно от прогретого режима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p50 и p95</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E816CEBA-963D-49B9-9623-D6CDDF6F0BBC}"/>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Стоимость успеха = все затраты серии / число успешных задач</a:t>
            </a:r>
          </a:p>
        </p:txBody>
      </p:sp>
      <p:sp>
        <p:nvSpPr>
          <p:cNvPr id="4" name="">
            <a:extLst xmlns:a="http://schemas.openxmlformats.org/drawingml/2006/main">
              <a:ext uri="{FF2B5EF4-FFF2-40B4-BE49-F238E27FC236}">
                <a16:creationId xmlns:a16="http://schemas.microsoft.com/office/drawing/2014/main" id="{7121033E-42B8-42C2-84D7-D0C61CDD1639}"/>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10</a:t>
            </a:r>
          </a:p>
        </p:txBody>
      </p:sp>
    </p:spTree>
    <p:extLst>
      <p:ext uri="{BB962C8B-B14F-4D97-AF65-F5344CB8AC3E}">
        <p14:creationId xmlns:p14="http://schemas.microsoft.com/office/powerpoint/2010/main" val="804030246"/>
      </p:ext>
    </p:extLst>
  </p:cSld>
</p:sld>
</file>

<file path=ppt/slides/slide11.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29BFA829-8D2D-4B65-A554-982B89D593C5}"/>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Этапы исследования и их результаты</a:t>
            </a:r>
          </a:p>
        </p:txBody>
      </p:sp>
      <p:sp>
        <p:nvSpPr>
          <p:cNvPr id="2" name="">
            <a:extLst xmlns:a="http://schemas.openxmlformats.org/drawingml/2006/main">
              <a:ext uri="{FF2B5EF4-FFF2-40B4-BE49-F238E27FC236}">
                <a16:creationId xmlns:a16="http://schemas.microsoft.com/office/drawing/2014/main" id="{166FCB6C-05FB-4F32-A9B6-07A7D9E2FC5D}"/>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1. Собрать агента</a:t>
            </a:r>
          </a:p>
        </p:txBody>
      </p:sp>
      <p:sp>
        <p:nvSpPr>
          <p:cNvPr id="3" name="">
            <a:extLst xmlns:a="http://schemas.openxmlformats.org/drawingml/2006/main">
              <a:ext uri="{FF2B5EF4-FFF2-40B4-BE49-F238E27FC236}">
                <a16:creationId xmlns:a16="http://schemas.microsoft.com/office/drawing/2014/main" id="{801B3EF4-239B-4963-899C-50AF4968F807}"/>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Запустить полный диалог в готовой среде и получить исходные показатели</a:t>
            </a:r>
          </a:p>
        </p:txBody>
      </p:sp>
      <p:sp>
        <p:nvSpPr>
          <p:cNvPr id="4" name="">
            <a:extLst xmlns:a="http://schemas.openxmlformats.org/drawingml/2006/main">
              <a:ext uri="{FF2B5EF4-FFF2-40B4-BE49-F238E27FC236}">
                <a16:creationId xmlns:a16="http://schemas.microsoft.com/office/drawing/2014/main" id="{737F3700-570C-453D-8EEC-270B67F799D9}"/>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2. Выбрать узел</a:t>
            </a:r>
          </a:p>
        </p:txBody>
      </p:sp>
      <p:sp>
        <p:nvSpPr>
          <p:cNvPr id="5" name="">
            <a:extLst xmlns:a="http://schemas.openxmlformats.org/drawingml/2006/main">
              <a:ext uri="{FF2B5EF4-FFF2-40B4-BE49-F238E27FC236}">
                <a16:creationId xmlns:a16="http://schemas.microsoft.com/office/drawing/2014/main" id="{770ED5A5-599C-49B3-968B-DFFF54821FB0}"/>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Разобрать ошибки и вызовы. Выделить один узел, который будем менять</a:t>
            </a:r>
          </a:p>
        </p:txBody>
      </p:sp>
      <p:sp>
        <p:nvSpPr>
          <p:cNvPr id="6" name="">
            <a:extLst xmlns:a="http://schemas.openxmlformats.org/drawingml/2006/main">
              <a:ext uri="{FF2B5EF4-FFF2-40B4-BE49-F238E27FC236}">
                <a16:creationId xmlns:a16="http://schemas.microsoft.com/office/drawing/2014/main" id="{0C4035F5-CB98-4E0E-AF23-F799239636D5}"/>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3. Сравнить методы</a:t>
            </a:r>
          </a:p>
        </p:txBody>
      </p:sp>
      <p:sp>
        <p:nvSpPr>
          <p:cNvPr id="7" name="">
            <a:extLst xmlns:a="http://schemas.openxmlformats.org/drawingml/2006/main">
              <a:ext uri="{FF2B5EF4-FFF2-40B4-BE49-F238E27FC236}">
                <a16:creationId xmlns:a16="http://schemas.microsoft.com/office/drawing/2014/main" id="{BF4FF9C1-5035-41D5-AE90-07A660AB539E}"/>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Заменить этот узел и повторить те же задачи. Проверить качество и затраты</a:t>
            </a:r>
          </a:p>
        </p:txBody>
      </p:sp>
      <p:sp>
        <p:nvSpPr>
          <p:cNvPr id="8" name="">
            <a:extLst xmlns:a="http://schemas.openxmlformats.org/drawingml/2006/main">
              <a:ext uri="{FF2B5EF4-FFF2-40B4-BE49-F238E27FC236}">
                <a16:creationId xmlns:a16="http://schemas.microsoft.com/office/drawing/2014/main" id="{A1F76790-3F49-4349-86EB-AA010D8DF71F}"/>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4. Сформулировать вывод</a:t>
            </a:r>
          </a:p>
        </p:txBody>
      </p:sp>
      <p:sp>
        <p:nvSpPr>
          <p:cNvPr id="9" name="">
            <a:extLst xmlns:a="http://schemas.openxmlformats.org/drawingml/2006/main">
              <a:ext uri="{FF2B5EF4-FFF2-40B4-BE49-F238E27FC236}">
                <a16:creationId xmlns:a16="http://schemas.microsoft.com/office/drawing/2014/main" id="{455CBF17-58D3-46C1-B6FE-26EA9CB5663A}"/>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Определить, когда замена полезна. Оформить постановку, код и анализ для ВКР</a:t>
            </a:r>
          </a:p>
        </p:txBody>
      </p:sp>
      <p:sp>
        <p:nvSpPr>
          <p:cNvPr id="10" name="">
            <a:extLst xmlns:a="http://schemas.openxmlformats.org/drawingml/2006/main">
              <a:ext uri="{FF2B5EF4-FFF2-40B4-BE49-F238E27FC236}">
                <a16:creationId xmlns:a16="http://schemas.microsoft.com/office/drawing/2014/main" id="{4EB4C4D4-A0D1-4B06-ACA2-FEE0CE34DEC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Сейчас готова постановка и обзор средств. Следующий результат: работающий исходный агент</a:t>
            </a:r>
          </a:p>
        </p:txBody>
      </p:sp>
      <p:sp>
        <p:nvSpPr>
          <p:cNvPr id="11" name="">
            <a:extLst xmlns:a="http://schemas.openxmlformats.org/drawingml/2006/main">
              <a:ext uri="{FF2B5EF4-FFF2-40B4-BE49-F238E27FC236}">
                <a16:creationId xmlns:a16="http://schemas.microsoft.com/office/drawing/2014/main" id="{A7E6173A-F1B2-47BA-9BEB-631092745E0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11</a:t>
            </a:r>
          </a:p>
        </p:txBody>
      </p:sp>
    </p:spTree>
    <p:extLst>
      <p:ext uri="{BB962C8B-B14F-4D97-AF65-F5344CB8AC3E}">
        <p14:creationId xmlns:p14="http://schemas.microsoft.com/office/powerpoint/2010/main" val="3252475"/>
      </p:ext>
    </p:extLst>
  </p:cSld>
</p:sld>
</file>

<file path=ppt/slides/slide12.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0FCF9AC7-2767-4A80-B480-B329E7D12412}"/>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Что предлагаем согласовать</a:t>
            </a:r>
          </a:p>
        </p:txBody>
      </p:sp>
      <p:sp>
        <p:nvSpPr>
          <p:cNvPr id="2" name="">
            <a:extLst xmlns:a="http://schemas.openxmlformats.org/drawingml/2006/main">
              <a:ext uri="{FF2B5EF4-FFF2-40B4-BE49-F238E27FC236}">
                <a16:creationId xmlns:a16="http://schemas.microsoft.com/office/drawing/2014/main" id="{2461F42F-A996-4DA4-88DC-293A62220B6A}"/>
              </a:ext>
            </a:extLst>
          </p:cNvPr>
          <p:cNvSpPr>
            <a:spLocks xmlns:a="http://schemas.openxmlformats.org/drawingml/2006/main" noGrp="1"/>
          </p:cNvSpPr>
          <p:nvPr/>
        </p:nvSpPr>
        <p:spPr>
          <a:xfrm xmlns:a="http://schemas.openxmlformats.org/drawingml/2006/main">
            <a:off x="685800" y="18383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CD7A3B4E-0FFF-4D3E-B3A3-C966F499B4FC}"/>
              </a:ext>
            </a:extLst>
          </p:cNvPr>
          <p:cNvSpPr>
            <a:spLocks xmlns:a="http://schemas.openxmlformats.org/drawingml/2006/main" noGrp="1"/>
          </p:cNvSpPr>
          <p:nvPr/>
        </p:nvSpPr>
        <p:spPr>
          <a:xfrm xmlns:a="http://schemas.openxmlformats.org/drawingml/2006/main">
            <a:off x="1743075" y="18383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Тему: выбор метода отдельного решения в сервисном агенте</a:t>
            </a:r>
          </a:p>
        </p:txBody>
      </p:sp>
      <p:sp>
        <p:nvSpPr>
          <p:cNvPr id="4" name="">
            <a:extLst xmlns:a="http://schemas.openxmlformats.org/drawingml/2006/main">
              <a:ext uri="{FF2B5EF4-FFF2-40B4-BE49-F238E27FC236}">
                <a16:creationId xmlns:a16="http://schemas.microsoft.com/office/drawing/2014/main" id="{B3587656-E97A-4A4F-8286-C5506F0A10D9}"/>
              </a:ext>
            </a:extLst>
          </p:cNvPr>
          <p:cNvSpPr>
            <a:spLocks xmlns:a="http://schemas.openxmlformats.org/drawingml/2006/main" noGrp="1"/>
          </p:cNvSpPr>
          <p:nvPr/>
        </p:nvSpPr>
        <p:spPr>
          <a:xfrm xmlns:a="http://schemas.openxmlformats.org/drawingml/2006/main">
            <a:off x="685800" y="273367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1924A83D-45B1-464C-9E9E-A6BE20E10F6E}"/>
              </a:ext>
            </a:extLst>
          </p:cNvPr>
          <p:cNvSpPr>
            <a:spLocks xmlns:a="http://schemas.openxmlformats.org/drawingml/2006/main" noGrp="1"/>
          </p:cNvSpPr>
          <p:nvPr/>
        </p:nvSpPr>
        <p:spPr>
          <a:xfrm xmlns:a="http://schemas.openxmlformats.org/drawingml/2006/main">
            <a:off x="1743075" y="273367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Математическую постановку и допустимое ухудшение качества</a:t>
            </a:r>
          </a:p>
        </p:txBody>
      </p:sp>
      <p:sp>
        <p:nvSpPr>
          <p:cNvPr id="6" name="">
            <a:extLst xmlns:a="http://schemas.openxmlformats.org/drawingml/2006/main">
              <a:ext uri="{FF2B5EF4-FFF2-40B4-BE49-F238E27FC236}">
                <a16:creationId xmlns:a16="http://schemas.microsoft.com/office/drawing/2014/main" id="{DF4A304D-C3D5-4C06-9A52-F46130CED810}"/>
              </a:ext>
            </a:extLst>
          </p:cNvPr>
          <p:cNvSpPr>
            <a:spLocks xmlns:a="http://schemas.openxmlformats.org/drawingml/2006/main" noGrp="1"/>
          </p:cNvSpPr>
          <p:nvPr/>
        </p:nvSpPr>
        <p:spPr>
          <a:xfrm xmlns:a="http://schemas.openxmlformats.org/drawingml/2006/main">
            <a:off x="685800" y="3629025"/>
            <a:ext cx="762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850" b="0">
                <a:solidFill>
                  <a:srgbClr val="236F6A"/>
                </a:solidFill>
                <a:latin typeface="Helvetica Neue"/>
                <a:ea typeface="Helvetica Neue"/>
                <a:cs typeface="Helvetica Neue"/>
              </a:defRPr>
            </a:pPr>
            <a:r>
              <a:rPr sz="2850" b="0">
                <a:solidFill>
                  <a:srgbClr val="236F6A"/>
                </a:solidFill>
                <a:latin typeface="Helvetica Neue"/>
                <a:ea typeface="Helvetica Neue"/>
                <a:cs typeface="Helvetica Neue"/>
              </a:rPr>
              <a:t>03</a:t>
            </a:r>
          </a:p>
        </p:txBody>
      </p:sp>
      <p:sp>
        <p:nvSpPr>
          <p:cNvPr id="7" name="">
            <a:extLst xmlns:a="http://schemas.openxmlformats.org/drawingml/2006/main">
              <a:ext uri="{FF2B5EF4-FFF2-40B4-BE49-F238E27FC236}">
                <a16:creationId xmlns:a16="http://schemas.microsoft.com/office/drawing/2014/main" id="{4581FE80-6E44-4C70-85C5-D57657A9D281}"/>
              </a:ext>
            </a:extLst>
          </p:cNvPr>
          <p:cNvSpPr>
            <a:spLocks xmlns:a="http://schemas.openxmlformats.org/drawingml/2006/main" noGrp="1"/>
          </p:cNvSpPr>
          <p:nvPr/>
        </p:nvSpPr>
        <p:spPr>
          <a:xfrm xmlns:a="http://schemas.openxmlformats.org/drawingml/2006/main">
            <a:off x="1743075" y="3629025"/>
            <a:ext cx="93345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325" b="0">
                <a:solidFill>
                  <a:srgbClr val="182B3B"/>
                </a:solidFill>
                <a:latin typeface="Helvetica Neue"/>
                <a:ea typeface="Helvetica Neue"/>
                <a:cs typeface="Helvetica Neue"/>
              </a:defRPr>
            </a:pPr>
            <a:r>
              <a:rPr sz="2325" b="0">
                <a:solidFill>
                  <a:srgbClr val="182B3B"/>
                </a:solidFill>
                <a:latin typeface="Helvetica Neue"/>
                <a:ea typeface="Helvetica Neue"/>
                <a:cs typeface="Helvetica Neue"/>
              </a:rPr>
              <a:t>Первый эксперимент и результат, который предъявим после него</a:t>
            </a:r>
          </a:p>
        </p:txBody>
      </p:sp>
      <p:sp>
        <p:nvSpPr>
          <p:cNvPr id="8" name="">
            <a:extLst xmlns:a="http://schemas.openxmlformats.org/drawingml/2006/main">
              <a:ext uri="{FF2B5EF4-FFF2-40B4-BE49-F238E27FC236}">
                <a16:creationId xmlns:a16="http://schemas.microsoft.com/office/drawing/2014/main" id="{F2237712-BA70-4DB8-BD49-3BBD3A3D4E1D}"/>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Цель ВКР: установить условия применимости методов на воспроизводимом сравнении</a:t>
            </a:r>
          </a:p>
        </p:txBody>
      </p:sp>
      <p:sp>
        <p:nvSpPr>
          <p:cNvPr id="9" name="">
            <a:extLst xmlns:a="http://schemas.openxmlformats.org/drawingml/2006/main">
              <a:ext uri="{FF2B5EF4-FFF2-40B4-BE49-F238E27FC236}">
                <a16:creationId xmlns:a16="http://schemas.microsoft.com/office/drawing/2014/main" id="{A2DDEE7D-0C61-42D6-8676-CABCE8A61E8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12</a:t>
            </a:r>
          </a:p>
        </p:txBody>
      </p:sp>
    </p:spTree>
    <p:extLst>
      <p:ext uri="{BB962C8B-B14F-4D97-AF65-F5344CB8AC3E}">
        <p14:creationId xmlns:p14="http://schemas.microsoft.com/office/powerpoint/2010/main" val="530199648"/>
      </p:ext>
    </p:extLst>
  </p:cSld>
</p:sld>
</file>

<file path=ppt/slides/slide13.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3DA6BCA-83B2-43E5-9B26-0B07738863FD}"/>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Вопросы: три самостоятельные ВКР</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667000"/>
                <a:gridCol w="5143500"/>
                <a:gridCol w="3009900"/>
              </a:tblGrid>
              <a:tr h="552450">
                <a:tc>
                  <a:txBody>
                    <a:bodyPr>
                      <a:noAutofit/>
                    </a:bodyPr>
                    <a:lstStyle/>
                    <a:p>
                      <a:r>
                        <a:rPr sz="1800" b="1">
                          <a:solidFill>
                            <a:srgbClr val="FFFFFF"/>
                          </a:solidFill>
                          <a:latin typeface="Helvetica Neue"/>
                          <a:ea typeface="Helvetica Neue"/>
                          <a:cs typeface="Helvetica Neue"/>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Самостоятельный вопрос</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Статус</a:t>
                      </a:r>
                    </a:p>
                  </a:txBody>
                  <a:tcPr marL="133350" marR="133350" marT="95250" marB="95250" anchor="ctr">
                    <a:solidFill>
                      <a:srgbClr val="182B3B"/>
                    </a:solidFill>
                  </a:tcPr>
                </a:tc>
              </a:tr>
              <a:tr h="1054100">
                <a:tc>
                  <a:txBody>
                    <a:bodyPr>
                      <a:noAutofit/>
                    </a:bodyPr>
                    <a:lstStyle/>
                    <a:p>
                      <a:r>
                        <a:rPr sz="1725" b="1">
                          <a:solidFill>
                            <a:srgbClr val="182B3B"/>
                          </a:solidFill>
                          <a:latin typeface="Helvetica Neue"/>
                          <a:ea typeface="Helvetica Neue"/>
                          <a:cs typeface="Helvetica Neue"/>
                        </a:rPr>
                        <a:t>Выбор метода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Когда решение принимает компактная модель,</a:t>
                      </a:r>
                    </a:p>
                    <a:p>
                      <a:r>
                        <a:rPr sz="1725" b="0">
                          <a:solidFill>
                            <a:srgbClr val="182B3B"/>
                          </a:solidFill>
                          <a:latin typeface="Helvetica Neue"/>
                          <a:ea typeface="Helvetica Neue"/>
                          <a:cs typeface="Helvetica Neue"/>
                        </a:rPr>
                        <a:t>а когда его передавать языковой модели?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Отбор документов</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Какие фрагменты передавать модели</a:t>
                      </a:r>
                    </a:p>
                    <a:p>
                      <a:r>
                        <a:rPr sz="1725" b="0">
                          <a:solidFill>
                            <a:srgbClr val="182B3B"/>
                          </a:solidFill>
                          <a:latin typeface="Helvetica Neue"/>
                          <a:ea typeface="Helvetica Neue"/>
                          <a:cs typeface="Helvetica Neue"/>
                        </a:rPr>
                        <a:t>при ограниченном объёме контекста?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txBody>
                  <a:tcPr marL="133350" marR="133350" marT="95250" marB="95250" anchor="ctr">
                    <a:solidFill>
                      <a:srgbClr val="F4F1EA"/>
                    </a:solidFill>
                  </a:tcPr>
                </a:tc>
              </a:tr>
              <a:tr h="1054100">
                <a:tc>
                  <a:txBody>
                    <a:bodyPr>
                      <a:noAutofit/>
                    </a:bodyPr>
                    <a:lstStyle/>
                    <a:p>
                      <a:r>
                        <a:rPr sz="1725" b="1">
                          <a:solidFill>
                            <a:srgbClr val="182B3B"/>
                          </a:solidFill>
                          <a:latin typeface="Helvetica Neue"/>
                          <a:ea typeface="Helvetica Neue"/>
                          <a:cs typeface="Helvetica Neue"/>
                        </a:rPr>
                        <a:t>Адаптация модели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 объём разметки влияет на качество</a:t>
                      </a:r>
                    </a:p>
                    <a:p>
                      <a:r>
                        <a:rPr sz="1725" b="0">
                          <a:solidFill>
                            <a:srgbClr val="182B3B"/>
                          </a:solidFill>
                          <a:latin typeface="Helvetica Neue"/>
                          <a:ea typeface="Helvetica Neue"/>
                          <a:cs typeface="Helvetica Neue"/>
                        </a:rPr>
                        <a:t>и перенос на новые задачи?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Кандидат,</a:t>
                      </a:r>
                    </a:p>
                    <a:p>
                      <a:r>
                        <a:rPr sz="1725" b="0">
                          <a:solidFill>
                            <a:srgbClr val="182B3B"/>
                          </a:solidFill>
                          <a:latin typeface="Helvetica Neue"/>
                          <a:ea typeface="Helvetica Neue"/>
                          <a:cs typeface="Helvetica Neue"/>
                        </a:rPr>
                        <a:t>проверить пилотом</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25BD3606-5128-4F43-B05F-AA0486089B26}"/>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Общая платформа допустима при отдельных гипотезах, экспериментах и личном вкладе</a:t>
            </a:r>
          </a:p>
        </p:txBody>
      </p:sp>
      <p:sp>
        <p:nvSpPr>
          <p:cNvPr id="4" name="">
            <a:extLst xmlns:a="http://schemas.openxmlformats.org/drawingml/2006/main">
              <a:ext uri="{FF2B5EF4-FFF2-40B4-BE49-F238E27FC236}">
                <a16:creationId xmlns:a16="http://schemas.microsoft.com/office/drawing/2014/main" id="{6A6C3D7D-B472-44B0-B116-3C29BFFED5D6}"/>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В1</a:t>
            </a:r>
          </a:p>
        </p:txBody>
      </p:sp>
    </p:spTree>
    <p:extLst>
      <p:ext uri="{BB962C8B-B14F-4D97-AF65-F5344CB8AC3E}">
        <p14:creationId xmlns:p14="http://schemas.microsoft.com/office/powerpoint/2010/main" val="1796323048"/>
      </p:ext>
    </p:extLst>
  </p:cSld>
</p:sld>
</file>

<file path=ppt/slides/slide14.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2788EC0-03DF-41EC-8AE4-BB859B64B82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Источники для дальнейшего обсуждения</a:t>
            </a:r>
          </a:p>
        </p:txBody>
      </p:sp>
      <p:sp>
        <p:nvSpPr>
          <p:cNvPr id="2" name="">
            <a:extLst xmlns:a="http://schemas.openxmlformats.org/drawingml/2006/main">
              <a:ext uri="{FF2B5EF4-FFF2-40B4-BE49-F238E27FC236}">
                <a16:creationId xmlns:a16="http://schemas.microsoft.com/office/drawing/2014/main" id="{F620FA5F-8914-4DB6-8CE3-140A8BA6A7F2}"/>
              </a:ext>
            </a:extLst>
          </p:cNvPr>
          <p:cNvSpPr>
            <a:spLocks xmlns:a="http://schemas.openxmlformats.org/drawingml/2006/main" noGrp="1"/>
          </p:cNvSpPr>
          <p:nvPr/>
        </p:nvSpPr>
        <p:spPr>
          <a:xfrm xmlns:a="http://schemas.openxmlformats.org/drawingml/2006/main">
            <a:off x="685800" y="17716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5ef9ebbca29f4885"/>
              </a:rPr>
              <a:t>τ-bench</a:t>
            </a:r>
          </a:p>
        </p:txBody>
      </p:sp>
      <p:sp>
        <p:nvSpPr>
          <p:cNvPr id="3" name="">
            <a:extLst xmlns:a="http://schemas.openxmlformats.org/drawingml/2006/main">
              <a:ext uri="{FF2B5EF4-FFF2-40B4-BE49-F238E27FC236}">
                <a16:creationId xmlns:a16="http://schemas.microsoft.com/office/drawing/2014/main" id="{BD35A9DF-128A-4ED6-A7AB-26F45D4BD979}"/>
              </a:ext>
            </a:extLst>
          </p:cNvPr>
          <p:cNvSpPr>
            <a:spLocks xmlns:a="http://schemas.openxmlformats.org/drawingml/2006/main" noGrp="1"/>
          </p:cNvSpPr>
          <p:nvPr/>
        </p:nvSpPr>
        <p:spPr>
          <a:xfrm xmlns:a="http://schemas.openxmlformats.org/drawingml/2006/main">
            <a:off x="3971925" y="17716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Yao и соавт., ICLR 2025. Среда для сервисных агентов</a:t>
            </a:r>
          </a:p>
        </p:txBody>
      </p:sp>
      <p:sp>
        <p:nvSpPr>
          <p:cNvPr id="4" name="">
            <a:extLst xmlns:a="http://schemas.openxmlformats.org/drawingml/2006/main">
              <a:ext uri="{FF2B5EF4-FFF2-40B4-BE49-F238E27FC236}">
                <a16:creationId xmlns:a16="http://schemas.microsoft.com/office/drawing/2014/main" id="{9015A976-BDD8-4A86-9974-978AD99E0899}"/>
              </a:ext>
            </a:extLst>
          </p:cNvPr>
          <p:cNvSpPr>
            <a:spLocks xmlns:a="http://schemas.openxmlformats.org/drawingml/2006/main" noGrp="1"/>
          </p:cNvSpPr>
          <p:nvPr/>
        </p:nvSpPr>
        <p:spPr>
          <a:xfrm xmlns:a="http://schemas.openxmlformats.org/drawingml/2006/main">
            <a:off x="685800" y="27051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46462714685d498f"/>
              </a:rPr>
              <a:t>τ-knowledge</a:t>
            </a:r>
          </a:p>
        </p:txBody>
      </p:sp>
      <p:sp>
        <p:nvSpPr>
          <p:cNvPr id="5" name="">
            <a:extLst xmlns:a="http://schemas.openxmlformats.org/drawingml/2006/main">
              <a:ext uri="{FF2B5EF4-FFF2-40B4-BE49-F238E27FC236}">
                <a16:creationId xmlns:a16="http://schemas.microsoft.com/office/drawing/2014/main" id="{C4E86167-6269-48D0-8400-84BA52C1C1F2}"/>
              </a:ext>
            </a:extLst>
          </p:cNvPr>
          <p:cNvSpPr>
            <a:spLocks xmlns:a="http://schemas.openxmlformats.org/drawingml/2006/main" noGrp="1"/>
          </p:cNvSpPr>
          <p:nvPr/>
        </p:nvSpPr>
        <p:spPr>
          <a:xfrm xmlns:a="http://schemas.openxmlformats.org/drawingml/2006/main">
            <a:off x="3971925" y="27051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Shi и соавт., arXiv:2603.04370v1, 2026. Поиск и операции</a:t>
            </a:r>
          </a:p>
        </p:txBody>
      </p:sp>
      <p:sp>
        <p:nvSpPr>
          <p:cNvPr id="6" name="">
            <a:extLst xmlns:a="http://schemas.openxmlformats.org/drawingml/2006/main">
              <a:ext uri="{FF2B5EF4-FFF2-40B4-BE49-F238E27FC236}">
                <a16:creationId xmlns:a16="http://schemas.microsoft.com/office/drawing/2014/main" id="{CF290AD5-E284-4CD7-8132-EDA693A727BC}"/>
              </a:ext>
            </a:extLst>
          </p:cNvPr>
          <p:cNvSpPr>
            <a:spLocks xmlns:a="http://schemas.openxmlformats.org/drawingml/2006/main" noGrp="1"/>
          </p:cNvSpPr>
          <p:nvPr/>
        </p:nvSpPr>
        <p:spPr>
          <a:xfrm xmlns:a="http://schemas.openxmlformats.org/drawingml/2006/main">
            <a:off x="685800" y="363855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ed7f41d3e5d04e2b"/>
              </a:rPr>
              <a:t>System One</a:t>
            </a:r>
          </a:p>
        </p:txBody>
      </p:sp>
      <p:sp>
        <p:nvSpPr>
          <p:cNvPr id="7" name="">
            <a:extLst xmlns:a="http://schemas.openxmlformats.org/drawingml/2006/main">
              <a:ext uri="{FF2B5EF4-FFF2-40B4-BE49-F238E27FC236}">
                <a16:creationId xmlns:a16="http://schemas.microsoft.com/office/drawing/2014/main" id="{2BAE4118-56EB-4E9C-BE26-0EB43C75DA1C}"/>
              </a:ext>
            </a:extLst>
          </p:cNvPr>
          <p:cNvSpPr>
            <a:spLocks xmlns:a="http://schemas.openxmlformats.org/drawingml/2006/main" noGrp="1"/>
          </p:cNvSpPr>
          <p:nvPr/>
        </p:nvSpPr>
        <p:spPr>
          <a:xfrm xmlns:a="http://schemas.openxmlformats.org/drawingml/2006/main">
            <a:off x="3971925" y="363855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TypeSafe. Интерфейс типизированных решений</a:t>
            </a:r>
          </a:p>
        </p:txBody>
      </p:sp>
      <p:sp>
        <p:nvSpPr>
          <p:cNvPr id="8" name="">
            <a:extLst xmlns:a="http://schemas.openxmlformats.org/drawingml/2006/main">
              <a:ext uri="{FF2B5EF4-FFF2-40B4-BE49-F238E27FC236}">
                <a16:creationId xmlns:a16="http://schemas.microsoft.com/office/drawing/2014/main" id="{D8770304-F4AD-4FDB-92C7-53780E6461F0}"/>
              </a:ext>
            </a:extLst>
          </p:cNvPr>
          <p:cNvSpPr>
            <a:spLocks xmlns:a="http://schemas.openxmlformats.org/drawingml/2006/main" noGrp="1"/>
          </p:cNvSpPr>
          <p:nvPr/>
        </p:nvSpPr>
        <p:spPr>
          <a:xfrm xmlns:a="http://schemas.openxmlformats.org/drawingml/2006/main">
            <a:off x="685800" y="4572000"/>
            <a:ext cx="31432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1">
                <a:solidFill>
                  <a:srgbClr val="236F6A"/>
                </a:solidFill>
                <a:latin typeface="Helvetica Neue"/>
                <a:ea typeface="Helvetica Neue"/>
                <a:cs typeface="Helvetica Neue"/>
              </a:defRPr>
            </a:pPr>
            <a:r>
              <a:rPr sz="2100" b="1">
                <a:solidFill>
                  <a:srgbClr val="236F6A"/>
                </a:solidFill>
                <a:latin typeface="Helvetica Neue"/>
                <a:ea typeface="Helvetica Neue"/>
                <a:cs typeface="Helvetica Neue"/>
                <a:hlinkClick xmlns:r="http://schemas.openxmlformats.org/officeDocument/2006/relationships" r:id="Rc406119f6c474bcc"/>
              </a:rPr>
              <a:t>Оценка таких моделей</a:t>
            </a:r>
          </a:p>
        </p:txBody>
      </p:sp>
      <p:sp>
        <p:nvSpPr>
          <p:cNvPr id="9" name="">
            <a:extLst xmlns:a="http://schemas.openxmlformats.org/drawingml/2006/main">
              <a:ext uri="{FF2B5EF4-FFF2-40B4-BE49-F238E27FC236}">
                <a16:creationId xmlns:a16="http://schemas.microsoft.com/office/drawing/2014/main" id="{0C1DA20E-BBD3-4CA9-AE05-850C21AC955B}"/>
              </a:ext>
            </a:extLst>
          </p:cNvPr>
          <p:cNvSpPr>
            <a:spLocks xmlns:a="http://schemas.openxmlformats.org/drawingml/2006/main" noGrp="1"/>
          </p:cNvSpPr>
          <p:nvPr/>
        </p:nvSpPr>
        <p:spPr>
          <a:xfrm xmlns:a="http://schemas.openxmlformats.org/drawingml/2006/main">
            <a:off x="3971925" y="4572000"/>
            <a:ext cx="7524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875" b="0">
                <a:solidFill>
                  <a:srgbClr val="182B3B"/>
                </a:solidFill>
                <a:latin typeface="Helvetica Neue"/>
                <a:ea typeface="Helvetica Neue"/>
                <a:cs typeface="Helvetica Neue"/>
              </a:defRPr>
            </a:pPr>
            <a:r>
              <a:rPr sz="1875" b="0">
                <a:solidFill>
                  <a:srgbClr val="182B3B"/>
                </a:solidFill>
                <a:latin typeface="Helvetica Neue"/>
                <a:ea typeface="Helvetica Neue"/>
                <a:cs typeface="Helvetica Neue"/>
              </a:rPr>
              <a:t>Liu, arXiv:2609.33401v1, 2026. Калибровка и автоматизация</a:t>
            </a:r>
          </a:p>
        </p:txBody>
      </p:sp>
      <p:sp>
        <p:nvSpPr>
          <p:cNvPr id="10" name="">
            <a:extLst xmlns:a="http://schemas.openxmlformats.org/drawingml/2006/main">
              <a:ext uri="{FF2B5EF4-FFF2-40B4-BE49-F238E27FC236}">
                <a16:creationId xmlns:a16="http://schemas.microsoft.com/office/drawing/2014/main" id="{B899CC23-93B5-496E-9E00-9211E2B121F4}"/>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Технические кандидаты и ограничения собраны в документации проекта</a:t>
            </a:r>
          </a:p>
        </p:txBody>
      </p:sp>
      <p:sp>
        <p:nvSpPr>
          <p:cNvPr id="11" name="">
            <a:extLst xmlns:a="http://schemas.openxmlformats.org/drawingml/2006/main">
              <a:ext uri="{FF2B5EF4-FFF2-40B4-BE49-F238E27FC236}">
                <a16:creationId xmlns:a16="http://schemas.microsoft.com/office/drawing/2014/main" id="{5DCB7D6D-C922-4A19-B993-5DEC158C77A1}"/>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В2</a:t>
            </a:r>
          </a:p>
        </p:txBody>
      </p:sp>
    </p:spTree>
    <p:extLst>
      <p:ext uri="{BB962C8B-B14F-4D97-AF65-F5344CB8AC3E}">
        <p14:creationId xmlns:p14="http://schemas.microsoft.com/office/powerpoint/2010/main" val="1419358783"/>
      </p:ext>
    </p:extLst>
  </p:cSld>
</p:sld>
</file>

<file path=ppt/slides/slide15.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485DE064-0B61-4374-BA39-AC1A28CCB252}"/>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Три самостоятельных исследования</a:t>
            </a:r>
          </a:p>
        </p:txBody>
      </p:sp>
      <p:graphicFrame>
        <p:nvGraphicFramePr>
          <p:cNvPr id="6" name=""/>
          <p:cNvGraphicFramePr/>
          <p:nvPr/>
        </p:nvGraphicFramePr>
        <p:xfrm>
          <a:off xmlns:a="http://schemas.openxmlformats.org/drawingml/2006/main" x="685800" y="1724025"/>
          <a:ext xmlns:a="http://schemas.openxmlformats.org/drawingml/2006/main" cx="10820400" cy="3714750"/>
        </p:xfrm>
        <a:graphic xmlns:a="http://schemas.openxmlformats.org/drawingml/2006/main">
          <a:graphicData uri="http://schemas.openxmlformats.org/drawingml/2006/table">
            <a:tbl>
              <a:tblPr/>
              <a:tblGrid>
                <a:gridCol w="2428875"/>
                <a:gridCol w="4000500"/>
                <a:gridCol w="4391025"/>
              </a:tblGrid>
              <a:tr h="552450">
                <a:tc>
                  <a:txBody>
                    <a:bodyPr>
                      <a:noAutofit/>
                    </a:bodyPr>
                    <a:lstStyle/>
                    <a:p>
                      <a:r>
                        <a:rPr sz="1800" b="1">
                          <a:solidFill>
                            <a:srgbClr val="FFFFFF"/>
                          </a:solidFill>
                          <a:latin typeface="Helvetica Neue"/>
                          <a:ea typeface="Helvetica Neue"/>
                          <a:cs typeface="Helvetica Neue"/>
                        </a:rPr>
                        <a:t>Направление</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Исследовательский вопрос</a:t>
                      </a:r>
                    </a:p>
                  </a:txBody>
                  <a:tcPr marL="133350" marR="133350" marT="95250" marB="95250" anchor="ctr">
                    <a:solidFill>
                      <a:srgbClr val="182B3B"/>
                    </a:solidFill>
                  </a:tcPr>
                </a:tc>
                <a:tc>
                  <a:txBody>
                    <a:bodyPr>
                      <a:noAutofit/>
                    </a:bodyPr>
                    <a:lstStyle/>
                    <a:p>
                      <a:r>
                        <a:rPr sz="1800" b="1">
                          <a:solidFill>
                            <a:srgbClr val="FFFFFF"/>
                          </a:solidFill>
                          <a:latin typeface="Helvetica Neue"/>
                          <a:ea typeface="Helvetica Neue"/>
                          <a:cs typeface="Helvetica Neue"/>
                        </a:rPr>
                        <a:t>Метод и личный результат</a:t>
                      </a:r>
                    </a:p>
                  </a:txBody>
                  <a:tcPr marL="133350" marR="133350" marT="95250" marB="95250" anchor="ctr">
                    <a:solidFill>
                      <a:srgbClr val="182B3B"/>
                    </a:solidFill>
                  </a:tcPr>
                </a:tc>
              </a:tr>
              <a:tr h="1054132">
                <a:tc>
                  <a:txBody>
                    <a:bodyPr>
                      <a:noAutofit/>
                    </a:bodyPr>
                    <a:lstStyle/>
                    <a:p>
                      <a:r>
                        <a:rPr sz="1725" b="1">
                          <a:solidFill>
                            <a:srgbClr val="182B3B"/>
                          </a:solidFill>
                          <a:latin typeface="Helvetica Neue"/>
                          <a:ea typeface="Helvetica Neue"/>
                          <a:cs typeface="Helvetica Neue"/>
                        </a:rPr>
                        <a:t>1. Маршрутизация</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Когда доверять компактной модели,</a:t>
                      </a:r>
                    </a:p>
                    <a:p>
                      <a:r>
                        <a:rPr sz="1725" b="0">
                          <a:solidFill>
                            <a:srgbClr val="182B3B"/>
                          </a:solidFill>
                          <a:latin typeface="Helvetica Neue"/>
                          <a:ea typeface="Helvetica Neue"/>
                          <a:cs typeface="Helvetica Neue"/>
                        </a:rPr>
                        <a:t>а когда передавать решение LLM?</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Калибровка и пороги</a:t>
                      </a:r>
                    </a:p>
                    <a:p>
                      <a:r>
                        <a:rPr sz="1725" b="0">
                          <a:solidFill>
                            <a:srgbClr val="182B3B"/>
                          </a:solidFill>
                          <a:latin typeface="Helvetica Neue"/>
                          <a:ea typeface="Helvetica Neue"/>
                          <a:cs typeface="Helvetica Neue"/>
                        </a:rPr>
                        <a:t>Выбор метода с ограничением</a:t>
                      </a:r>
                    </a:p>
                    <a:p>
                      <a:r>
                        <a:rPr sz="1725" b="0">
                          <a:solidFill>
                            <a:srgbClr val="182B3B"/>
                          </a:solidFill>
                          <a:latin typeface="Helvetica Neue"/>
                          <a:ea typeface="Helvetica Neue"/>
                          <a:cs typeface="Helvetica Neue"/>
                        </a:rPr>
                        <a:t>на потерю качества</a:t>
                      </a:r>
                    </a:p>
                  </a:txBody>
                  <a:tcPr marL="133350" marR="133350" marT="95250" marB="95250" anchor="ctr">
                    <a:solidFill>
                      <a:srgbClr val="F4F1EA"/>
                    </a:solidFill>
                  </a:tcPr>
                </a:tc>
              </a:tr>
              <a:tr h="1054132">
                <a:tc>
                  <a:txBody>
                    <a:bodyPr>
                      <a:noAutofit/>
                    </a:bodyPr>
                    <a:lstStyle/>
                    <a:p>
                      <a:r>
                        <a:rPr sz="1725" b="1">
                          <a:solidFill>
                            <a:srgbClr val="182B3B"/>
                          </a:solidFill>
                          <a:latin typeface="Helvetica Neue"/>
                          <a:ea typeface="Helvetica Neue"/>
                          <a:cs typeface="Helvetica Neue"/>
                        </a:rPr>
                        <a:t>2. Отбор контекста</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Какие документы передавать агенту</a:t>
                      </a:r>
                    </a:p>
                    <a:p>
                      <a:r>
                        <a:rPr sz="1725" b="0">
                          <a:solidFill>
                            <a:srgbClr val="182B3B"/>
                          </a:solidFill>
                          <a:latin typeface="Helvetica Neue"/>
                          <a:ea typeface="Helvetica Neue"/>
                          <a:cs typeface="Helvetica Neue"/>
                        </a:rPr>
                        <a:t>при ограничении бюджета токенов?</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Выбор подмножества документов</a:t>
                      </a:r>
                    </a:p>
                    <a:p>
                      <a:r>
                        <a:rPr sz="1725" b="0">
                          <a:solidFill>
                            <a:srgbClr val="182B3B"/>
                          </a:solidFill>
                          <a:latin typeface="Helvetica Neue"/>
                          <a:ea typeface="Helvetica Neue"/>
                          <a:cs typeface="Helvetica Neue"/>
                        </a:rPr>
                        <a:t>Метод отбора и зависимость</a:t>
                      </a:r>
                    </a:p>
                    <a:p>
                      <a:r>
                        <a:rPr sz="1725" b="0">
                          <a:solidFill>
                            <a:srgbClr val="182B3B"/>
                          </a:solidFill>
                          <a:latin typeface="Helvetica Neue"/>
                          <a:ea typeface="Helvetica Neue"/>
                          <a:cs typeface="Helvetica Neue"/>
                        </a:rPr>
                        <a:t>качества от бюджета</a:t>
                      </a:r>
                    </a:p>
                  </a:txBody>
                  <a:tcPr marL="133350" marR="133350" marT="95250" marB="95250" anchor="ctr">
                    <a:solidFill>
                      <a:srgbClr val="F4F1EA"/>
                    </a:solidFill>
                  </a:tcPr>
                </a:tc>
              </a:tr>
              <a:tr h="1054132">
                <a:tc>
                  <a:txBody>
                    <a:bodyPr>
                      <a:noAutofit/>
                    </a:bodyPr>
                    <a:lstStyle/>
                    <a:p>
                      <a:r>
                        <a:rPr sz="1725" b="1">
                          <a:solidFill>
                            <a:srgbClr val="182B3B"/>
                          </a:solidFill>
                          <a:latin typeface="Helvetica Neue"/>
                          <a:ea typeface="Helvetica Neue"/>
                          <a:cs typeface="Helvetica Neue"/>
                        </a:rPr>
                        <a:t>3. Адаптация модели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Как объём разметки влияет</a:t>
                      </a:r>
                    </a:p>
                    <a:p>
                      <a:r>
                        <a:rPr sz="1725" b="0">
                          <a:solidFill>
                            <a:srgbClr val="182B3B"/>
                          </a:solidFill>
                          <a:latin typeface="Helvetica Neue"/>
                          <a:ea typeface="Helvetica Neue"/>
                          <a:cs typeface="Helvetica Neue"/>
                        </a:rPr>
                        <a:t>на качество и перенос модели?</a:t>
                      </a:r>
                    </a:p>
                  </a:txBody>
                  <a:tcPr marL="133350" marR="133350" marT="95250" marB="95250" anchor="ctr">
                    <a:solidFill>
                      <a:srgbClr val="F4F1EA"/>
                    </a:solidFill>
                  </a:tcPr>
                </a:tc>
                <a:tc>
                  <a:txBody>
                    <a:bodyPr>
                      <a:noAutofit/>
                    </a:bodyPr>
                    <a:lstStyle/>
                    <a:p>
                      <a:r>
                        <a:rPr sz="1725" b="0">
                          <a:solidFill>
                            <a:srgbClr val="182B3B"/>
                          </a:solidFill>
                          <a:latin typeface="Helvetica Neue"/>
                          <a:ea typeface="Helvetica Neue"/>
                          <a:cs typeface="Helvetica Neue"/>
                        </a:rPr>
                        <a:t>Дообучение и кривые обучения</a:t>
                      </a:r>
                    </a:p>
                    <a:p>
                      <a:r>
                        <a:rPr sz="1725" b="0">
                          <a:solidFill>
                            <a:srgbClr val="182B3B"/>
                          </a:solidFill>
                          <a:latin typeface="Helvetica Neue"/>
                          <a:ea typeface="Helvetica Neue"/>
                          <a:cs typeface="Helvetica Neue"/>
                        </a:rPr>
                        <a:t>Условия переноса</a:t>
                      </a:r>
                    </a:p>
                    <a:p>
                      <a:r>
                        <a:rPr sz="1725" b="0">
                          <a:solidFill>
                            <a:srgbClr val="182B3B"/>
                          </a:solidFill>
                          <a:latin typeface="Helvetica Neue"/>
                          <a:ea typeface="Helvetica Neue"/>
                          <a:cs typeface="Helvetica Neue"/>
                        </a:rPr>
                        <a:t>и окупаемость адаптации</a:t>
                      </a:r>
                    </a:p>
                  </a:txBody>
                  <a:tcPr marL="133350" marR="133350" marT="95250" marB="95250" anchor="ctr">
                    <a:solidFill>
                      <a:srgbClr val="F4F1EA"/>
                    </a:solidFill>
                  </a:tcPr>
                </a:tc>
              </a:tr>
            </a:tbl>
          </a:graphicData>
        </a:graphic>
      </p:graphicFrame>
      <p:sp>
        <p:nvSpPr>
          <p:cNvPr id="3" name="">
            <a:extLst xmlns:a="http://schemas.openxmlformats.org/drawingml/2006/main">
              <a:ext uri="{FF2B5EF4-FFF2-40B4-BE49-F238E27FC236}">
                <a16:creationId xmlns:a16="http://schemas.microsoft.com/office/drawing/2014/main" id="{C1002DE2-FB55-404E-AB1F-6FC56AC9655E}"/>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Предложение для обсуждения: назначения авторам и пригодность стендов проверяем пилотом</a:t>
            </a:r>
          </a:p>
        </p:txBody>
      </p:sp>
      <p:sp>
        <p:nvSpPr>
          <p:cNvPr id="4" name="">
            <a:extLst xmlns:a="http://schemas.openxmlformats.org/drawingml/2006/main">
              <a:ext uri="{FF2B5EF4-FFF2-40B4-BE49-F238E27FC236}">
                <a16:creationId xmlns:a16="http://schemas.microsoft.com/office/drawing/2014/main" id="{920AD02F-6D9A-4459-9314-1C6ACAE12528}"/>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13</a:t>
            </a:r>
          </a:p>
        </p:txBody>
      </p:sp>
    </p:spTree>
    <p:extLst>
      <p:ext uri="{BB962C8B-B14F-4D97-AF65-F5344CB8AC3E}">
        <p14:creationId xmlns:p14="http://schemas.microsoft.com/office/powerpoint/2010/main" val="502345775"/>
      </p:ext>
    </p:extLst>
  </p:cSld>
</p:sld>
</file>

<file path=ppt/slides/slide16.xml><?xml version="1.0" encoding="utf-8"?>
<p:sld xmlns:p="http://schemas.openxmlformats.org/presentationml/2006/main">
  <p:cSld>
    <p:bg>
      <p:bgPr>
        <a:solidFill xmlns:a="http://schemas.openxmlformats.org/drawingml/2006/main">
          <a:srgbClr val="F4F1EA"/>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F4C3CB7-C6B8-42D1-BEA4-2204CC1643EF}"/>
              </a:ext>
            </a:extLst>
          </p:cNvPr>
          <p:cNvSpPr>
            <a:spLocks xmlns:a="http://schemas.openxmlformats.org/drawingml/2006/main" noGrp="1"/>
          </p:cNvSpPr>
          <p:nvPr/>
        </p:nvSpPr>
        <p:spPr>
          <a:xfrm xmlns:a="http://schemas.openxmlformats.org/drawingml/2006/main">
            <a:off x="685800" y="552450"/>
            <a:ext cx="108204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3300" b="1">
                <a:solidFill>
                  <a:srgbClr val="182B3B"/>
                </a:solidFill>
                <a:latin typeface="Helvetica Neue"/>
                <a:ea typeface="Helvetica Neue"/>
                <a:cs typeface="Helvetica Neue"/>
              </a:defRPr>
            </a:pPr>
            <a:r>
              <a:rPr sz="3300" b="1">
                <a:solidFill>
                  <a:srgbClr val="182B3B"/>
                </a:solidFill>
                <a:latin typeface="Helvetica Neue"/>
                <a:ea typeface="Helvetica Neue"/>
                <a:cs typeface="Helvetica Neue"/>
              </a:rPr>
              <a:t>Общий стенд и границы личного вклада</a:t>
            </a:r>
          </a:p>
        </p:txBody>
      </p:sp>
      <p:sp>
        <p:nvSpPr>
          <p:cNvPr id="2" name="">
            <a:extLst xmlns:a="http://schemas.openxmlformats.org/drawingml/2006/main">
              <a:ext uri="{FF2B5EF4-FFF2-40B4-BE49-F238E27FC236}">
                <a16:creationId xmlns:a16="http://schemas.microsoft.com/office/drawing/2014/main" id="{DDD5D8E3-A126-40CB-85CD-EEA9F972D74A}"/>
              </a:ext>
            </a:extLst>
          </p:cNvPr>
          <p:cNvSpPr>
            <a:spLocks xmlns:a="http://schemas.openxmlformats.org/drawingml/2006/main" noGrp="1"/>
          </p:cNvSpPr>
          <p:nvPr/>
        </p:nvSpPr>
        <p:spPr>
          <a:xfrm xmlns:a="http://schemas.openxmlformats.org/drawingml/2006/main">
            <a:off x="685800" y="180975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Общая платформа</a:t>
            </a:r>
          </a:p>
        </p:txBody>
      </p:sp>
      <p:sp>
        <p:nvSpPr>
          <p:cNvPr id="3" name="">
            <a:extLst xmlns:a="http://schemas.openxmlformats.org/drawingml/2006/main">
              <a:ext uri="{FF2B5EF4-FFF2-40B4-BE49-F238E27FC236}">
                <a16:creationId xmlns:a16="http://schemas.microsoft.com/office/drawing/2014/main" id="{BAEDE9BE-33F8-4134-AFE0-4B0F224E9985}"/>
              </a:ext>
            </a:extLst>
          </p:cNvPr>
          <p:cNvSpPr>
            <a:spLocks xmlns:a="http://schemas.openxmlformats.org/drawingml/2006/main" noGrp="1"/>
          </p:cNvSpPr>
          <p:nvPr/>
        </p:nvSpPr>
        <p:spPr>
          <a:xfrm xmlns:a="http://schemas.openxmlformats.org/drawingml/2006/main">
            <a:off x="3848100" y="180975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Агент, данные и логирование. Единая проверка успеха и учёт полной стоимости</a:t>
            </a:r>
          </a:p>
        </p:txBody>
      </p:sp>
      <p:sp>
        <p:nvSpPr>
          <p:cNvPr id="4" name="">
            <a:extLst xmlns:a="http://schemas.openxmlformats.org/drawingml/2006/main">
              <a:ext uri="{FF2B5EF4-FFF2-40B4-BE49-F238E27FC236}">
                <a16:creationId xmlns:a16="http://schemas.microsoft.com/office/drawing/2014/main" id="{55C37F26-4876-49BC-9DC1-92092A8D9AD9}"/>
              </a:ext>
            </a:extLst>
          </p:cNvPr>
          <p:cNvSpPr>
            <a:spLocks xmlns:a="http://schemas.openxmlformats.org/drawingml/2006/main" noGrp="1"/>
          </p:cNvSpPr>
          <p:nvPr/>
        </p:nvSpPr>
        <p:spPr>
          <a:xfrm xmlns:a="http://schemas.openxmlformats.org/drawingml/2006/main">
            <a:off x="685800" y="273367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Автор 1: политика</a:t>
            </a:r>
          </a:p>
        </p:txBody>
      </p:sp>
      <p:sp>
        <p:nvSpPr>
          <p:cNvPr id="5" name="">
            <a:extLst xmlns:a="http://schemas.openxmlformats.org/drawingml/2006/main">
              <a:ext uri="{FF2B5EF4-FFF2-40B4-BE49-F238E27FC236}">
                <a16:creationId xmlns:a16="http://schemas.microsoft.com/office/drawing/2014/main" id="{47D008B4-FE62-40CB-9F3B-8C7FA33E3C2C}"/>
              </a:ext>
            </a:extLst>
          </p:cNvPr>
          <p:cNvSpPr>
            <a:spLocks xmlns:a="http://schemas.openxmlformats.org/drawingml/2006/main" noGrp="1"/>
          </p:cNvSpPr>
          <p:nvPr/>
        </p:nvSpPr>
        <p:spPr>
          <a:xfrm xmlns:a="http://schemas.openxmlformats.org/drawingml/2006/main">
            <a:off x="3848100" y="273367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Фиксирует модели. Исследует пороги, долю передачи в LLM и итоговый успех агента</a:t>
            </a:r>
          </a:p>
        </p:txBody>
      </p:sp>
      <p:sp>
        <p:nvSpPr>
          <p:cNvPr id="6" name="">
            <a:extLst xmlns:a="http://schemas.openxmlformats.org/drawingml/2006/main">
              <a:ext uri="{FF2B5EF4-FFF2-40B4-BE49-F238E27FC236}">
                <a16:creationId xmlns:a16="http://schemas.microsoft.com/office/drawing/2014/main" id="{87984DF7-3450-4BDD-A1FD-EF25620CF61C}"/>
              </a:ext>
            </a:extLst>
          </p:cNvPr>
          <p:cNvSpPr>
            <a:spLocks xmlns:a="http://schemas.openxmlformats.org/drawingml/2006/main" noGrp="1"/>
          </p:cNvSpPr>
          <p:nvPr/>
        </p:nvSpPr>
        <p:spPr>
          <a:xfrm xmlns:a="http://schemas.openxmlformats.org/drawingml/2006/main">
            <a:off x="685800" y="3657600"/>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Автор 2: контекст</a:t>
            </a:r>
          </a:p>
        </p:txBody>
      </p:sp>
      <p:sp>
        <p:nvSpPr>
          <p:cNvPr id="7" name="">
            <a:extLst xmlns:a="http://schemas.openxmlformats.org/drawingml/2006/main">
              <a:ext uri="{FF2B5EF4-FFF2-40B4-BE49-F238E27FC236}">
                <a16:creationId xmlns:a16="http://schemas.microsoft.com/office/drawing/2014/main" id="{7C9AAB97-2484-4952-90B9-049B20E2F6EB}"/>
              </a:ext>
            </a:extLst>
          </p:cNvPr>
          <p:cNvSpPr>
            <a:spLocks xmlns:a="http://schemas.openxmlformats.org/drawingml/2006/main" noGrp="1"/>
          </p:cNvSpPr>
          <p:nvPr/>
        </p:nvSpPr>
        <p:spPr>
          <a:xfrm xmlns:a="http://schemas.openxmlformats.org/drawingml/2006/main">
            <a:off x="3848100" y="3657600"/>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Фиксирует генератор и набор кандидатов. Исследует отбор при разных бюджетах</a:t>
            </a:r>
          </a:p>
        </p:txBody>
      </p:sp>
      <p:sp>
        <p:nvSpPr>
          <p:cNvPr id="8" name="">
            <a:extLst xmlns:a="http://schemas.openxmlformats.org/drawingml/2006/main">
              <a:ext uri="{FF2B5EF4-FFF2-40B4-BE49-F238E27FC236}">
                <a16:creationId xmlns:a16="http://schemas.microsoft.com/office/drawing/2014/main" id="{8675ADBA-49CA-4673-8466-21A4675AC55C}"/>
              </a:ext>
            </a:extLst>
          </p:cNvPr>
          <p:cNvSpPr>
            <a:spLocks xmlns:a="http://schemas.openxmlformats.org/drawingml/2006/main" noGrp="1"/>
          </p:cNvSpPr>
          <p:nvPr/>
        </p:nvSpPr>
        <p:spPr>
          <a:xfrm xmlns:a="http://schemas.openxmlformats.org/drawingml/2006/main">
            <a:off x="685800" y="4581525"/>
            <a:ext cx="295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025" b="1">
                <a:solidFill>
                  <a:srgbClr val="236F6A"/>
                </a:solidFill>
                <a:latin typeface="Helvetica Neue"/>
                <a:ea typeface="Helvetica Neue"/>
                <a:cs typeface="Helvetica Neue"/>
              </a:defRPr>
            </a:pPr>
            <a:r>
              <a:rPr sz="2025" b="1">
                <a:solidFill>
                  <a:srgbClr val="236F6A"/>
                </a:solidFill>
                <a:latin typeface="Helvetica Neue"/>
                <a:ea typeface="Helvetica Neue"/>
                <a:cs typeface="Helvetica Neue"/>
              </a:rPr>
              <a:t>Автор 3: модель</a:t>
            </a:r>
          </a:p>
        </p:txBody>
      </p:sp>
      <p:sp>
        <p:nvSpPr>
          <p:cNvPr id="9" name="">
            <a:extLst xmlns:a="http://schemas.openxmlformats.org/drawingml/2006/main">
              <a:ext uri="{FF2B5EF4-FFF2-40B4-BE49-F238E27FC236}">
                <a16:creationId xmlns:a16="http://schemas.microsoft.com/office/drawing/2014/main" id="{4CA5DD12-5B60-4AAB-8315-ECF30DAD86CD}"/>
              </a:ext>
            </a:extLst>
          </p:cNvPr>
          <p:cNvSpPr>
            <a:spLocks xmlns:a="http://schemas.openxmlformats.org/drawingml/2006/main" noGrp="1"/>
          </p:cNvSpPr>
          <p:nvPr/>
        </p:nvSpPr>
        <p:spPr>
          <a:xfrm xmlns:a="http://schemas.openxmlformats.org/drawingml/2006/main">
            <a:off x="3848100" y="4581525"/>
            <a:ext cx="76581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2100" b="0">
                <a:solidFill>
                  <a:srgbClr val="182B3B"/>
                </a:solidFill>
                <a:latin typeface="Helvetica Neue"/>
                <a:ea typeface="Helvetica Neue"/>
                <a:cs typeface="Helvetica Neue"/>
              </a:defRPr>
            </a:pPr>
            <a:r>
              <a:rPr sz="2100" b="0">
                <a:solidFill>
                  <a:srgbClr val="182B3B"/>
                </a:solidFill>
                <a:latin typeface="Helvetica Neue"/>
                <a:ea typeface="Helvetica Neue"/>
                <a:cs typeface="Helvetica Neue"/>
              </a:rPr>
              <a:t>Фиксирует политику. Исследует эффект адаптации, объёма разметки и переноса</a:t>
            </a:r>
          </a:p>
        </p:txBody>
      </p:sp>
      <p:sp>
        <p:nvSpPr>
          <p:cNvPr id="10" name="">
            <a:extLst xmlns:a="http://schemas.openxmlformats.org/drawingml/2006/main">
              <a:ext uri="{FF2B5EF4-FFF2-40B4-BE49-F238E27FC236}">
                <a16:creationId xmlns:a16="http://schemas.microsoft.com/office/drawing/2014/main" id="{826CB5B5-6148-43E8-8B5D-E14D1EF90BA0}"/>
              </a:ext>
            </a:extLst>
          </p:cNvPr>
          <p:cNvSpPr>
            <a:spLocks xmlns:a="http://schemas.openxmlformats.org/drawingml/2006/main" noGrp="1"/>
          </p:cNvSpPr>
          <p:nvPr/>
        </p:nvSpPr>
        <p:spPr>
          <a:xfrm xmlns:a="http://schemas.openxmlformats.org/drawingml/2006/main">
            <a:off x="685800" y="5657850"/>
            <a:ext cx="106680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725" b="0">
                <a:solidFill>
                  <a:srgbClr val="236F6A"/>
                </a:solidFill>
                <a:latin typeface="Helvetica Neue"/>
                <a:ea typeface="Helvetica Neue"/>
                <a:cs typeface="Helvetica Neue"/>
              </a:defRPr>
            </a:pPr>
            <a:r>
              <a:rPr sz="1725" b="0">
                <a:solidFill>
                  <a:srgbClr val="236F6A"/>
                </a:solidFill>
                <a:latin typeface="Helvetica Neue"/>
                <a:ea typeface="Helvetica Neue"/>
                <a:cs typeface="Helvetica Neue"/>
              </a:rPr>
              <a:t>У каждого: собственная гипотеза, серия экспериментов и вывод. Совместные компоненты указываем</a:t>
            </a:r>
          </a:p>
        </p:txBody>
      </p:sp>
      <p:sp>
        <p:nvSpPr>
          <p:cNvPr id="11" name="">
            <a:extLst xmlns:a="http://schemas.openxmlformats.org/drawingml/2006/main">
              <a:ext uri="{FF2B5EF4-FFF2-40B4-BE49-F238E27FC236}">
                <a16:creationId xmlns:a16="http://schemas.microsoft.com/office/drawing/2014/main" id="{686237AA-E683-4950-97E6-86CD603918DD}"/>
              </a:ext>
            </a:extLst>
          </p:cNvPr>
          <p:cNvSpPr>
            <a:spLocks xmlns:a="http://schemas.openxmlformats.org/drawingml/2006/main" noGrp="1"/>
          </p:cNvSpPr>
          <p:nvPr/>
        </p:nvSpPr>
        <p:spPr>
          <a:xfrm xmlns:a="http://schemas.openxmlformats.org/drawingml/2006/main">
            <a:off x="10953750" y="6391275"/>
            <a:ext cx="571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oAutofit/>
          </a:bodyPr>
          <a:lstStyle xmlns:a="http://schemas.openxmlformats.org/drawingml/2006/main"/>
          <a:p xmlns:a="http://schemas.openxmlformats.org/drawingml/2006/main">
            <a:pPr>
              <a:defRPr sz="1275" b="0">
                <a:solidFill>
                  <a:srgbClr val="5D686E"/>
                </a:solidFill>
                <a:latin typeface="Helvetica Neue"/>
                <a:ea typeface="Helvetica Neue"/>
                <a:cs typeface="Helvetica Neue"/>
              </a:defRPr>
            </a:pPr>
            <a:r>
              <a:rPr sz="1275" b="0">
                <a:solidFill>
                  <a:srgbClr val="5D686E"/>
                </a:solidFill>
                <a:latin typeface="Helvetica Neue"/>
                <a:ea typeface="Helvetica Neue"/>
                <a:cs typeface="Helvetica Neue"/>
              </a:rPr>
              <a:t>14</a:t>
            </a:r>
          </a:p>
        </p:txBody>
      </p:sp>
    </p:spTree>
    <p:extLst>
      <p:ext uri="{BB962C8B-B14F-4D97-AF65-F5344CB8AC3E}">
        <p14:creationId xmlns:p14="http://schemas.microsoft.com/office/powerpoint/2010/main" val="34905758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16</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2026-10-02T05:10:55.3860000Z</dcterms:created>
  <dcterms:modified xsi:type="dcterms:W3CDTF">2026-10-02T05:10:55.3860000Z</dcterms:modified>
</coreProperties>
</file>